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8" r:id="rId3"/>
    <p:sldId id="400" r:id="rId4"/>
    <p:sldId id="417" r:id="rId5"/>
    <p:sldId id="351" r:id="rId6"/>
    <p:sldId id="385" r:id="rId7"/>
    <p:sldId id="397" r:id="rId8"/>
    <p:sldId id="403" r:id="rId9"/>
    <p:sldId id="404" r:id="rId10"/>
    <p:sldId id="405" r:id="rId11"/>
    <p:sldId id="413" r:id="rId12"/>
    <p:sldId id="406" r:id="rId13"/>
    <p:sldId id="401" r:id="rId14"/>
    <p:sldId id="402" r:id="rId15"/>
    <p:sldId id="407" r:id="rId16"/>
    <p:sldId id="408" r:id="rId17"/>
    <p:sldId id="409" r:id="rId18"/>
    <p:sldId id="410" r:id="rId19"/>
    <p:sldId id="411" r:id="rId20"/>
    <p:sldId id="412" r:id="rId21"/>
    <p:sldId id="415" r:id="rId22"/>
    <p:sldId id="416" r:id="rId23"/>
    <p:sldId id="414" r:id="rId24"/>
    <p:sldId id="281" r:id="rId25"/>
  </p:sldIdLst>
  <p:sldSz cx="12192000" cy="6858000"/>
  <p:notesSz cx="6858000" cy="9144000"/>
  <p:embeddedFontLst>
    <p:embeddedFont>
      <p:font typeface="微软雅黑" panose="020B0503020204020204" charset="-122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66798"/>
    <a:srgbClr val="556595"/>
    <a:srgbClr val="4B547B"/>
    <a:srgbClr val="FFFFFF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6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258.xml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../media/image13.png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image" Target="../media/image13.png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image" Target="../media/image12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image" Target="../media/image12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10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image" Target="../media/image12.png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12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24.xml"/><Relationship Id="rId1" Type="http://schemas.openxmlformats.org/officeDocument/2006/relationships/tags" Target="../tags/tag1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12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32.xml"/><Relationship Id="rId1" Type="http://schemas.openxmlformats.org/officeDocument/2006/relationships/tags" Target="../tags/tag12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2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0.xml"/><Relationship Id="rId1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image" Target="../media/image12.png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8.xml"/><Relationship Id="rId1" Type="http://schemas.openxmlformats.org/officeDocument/2006/relationships/tags" Target="../tags/tag14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image" Target="../media/image12.png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56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tags" Target="../tags/tag14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image" Target="../media/image12.png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64.xml"/><Relationship Id="rId1" Type="http://schemas.openxmlformats.org/officeDocument/2006/relationships/tags" Target="../tags/tag15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image" Target="../media/image12.png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image" Target="../media/image12.png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81.xml"/><Relationship Id="rId1" Type="http://schemas.openxmlformats.org/officeDocument/2006/relationships/tags" Target="../tags/tag17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image" Target="../media/image12.png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89.xml"/><Relationship Id="rId1" Type="http://schemas.openxmlformats.org/officeDocument/2006/relationships/tags" Target="../tags/tag1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image" Target="../media/image12.png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97.xml"/><Relationship Id="rId1" Type="http://schemas.openxmlformats.org/officeDocument/2006/relationships/tags" Target="../tags/tag19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image" Target="../media/image12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05.xml"/><Relationship Id="rId1" Type="http://schemas.openxmlformats.org/officeDocument/2006/relationships/tags" Target="../tags/tag19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image" Target="../media/image12.png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13.xml"/><Relationship Id="rId1" Type="http://schemas.openxmlformats.org/officeDocument/2006/relationships/tags" Target="../tags/tag20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image" Target="../media/image12.png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image" Target="../media/image12.png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29.xml"/><Relationship Id="rId1" Type="http://schemas.openxmlformats.org/officeDocument/2006/relationships/tags" Target="../tags/tag22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image" Target="../media/image12.png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37.xml"/><Relationship Id="rId1" Type="http://schemas.openxmlformats.org/officeDocument/2006/relationships/tags" Target="../tags/tag23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image" Target="../media/image12.png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45.xml"/><Relationship Id="rId1" Type="http://schemas.openxmlformats.org/officeDocument/2006/relationships/tags" Target="../tags/tag23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image" Target="../media/image12.png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53.xml"/><Relationship Id="rId1" Type="http://schemas.openxmlformats.org/officeDocument/2006/relationships/tags" Target="../tags/tag24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57.xml"/><Relationship Id="rId5" Type="http://schemas.openxmlformats.org/officeDocument/2006/relationships/image" Target="../media/image9.png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374900" y="2944495"/>
            <a:ext cx="744283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在运行大模型时的性能分析与优化方案</a:t>
            </a:r>
            <a:endParaRPr lang="en-US" altLang="zh-CN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目录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9"/>
            </p:custDataLst>
          </p:nvPr>
        </p:nvSpPr>
        <p:spPr>
          <a:xfrm>
            <a:off x="586105" y="2053590"/>
            <a:ext cx="99866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一个周期能完成几个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endParaRPr lang="en-US" altLang="zh-CN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这些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是乘法还是加法，如何连接？</a:t>
            </a:r>
            <a:endParaRPr lang="zh-CN" altLang="en-US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如果需要运算的数据在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DRAM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上怎么办？</a:t>
            </a:r>
            <a:endParaRPr lang="zh-CN" altLang="en-US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3" name="图形"/>
          <p:cNvSpPr txBox="1"/>
          <p:nvPr>
            <p:custDataLst>
              <p:tags r:id="rId10"/>
            </p:custDataLst>
          </p:nvPr>
        </p:nvSpPr>
        <p:spPr>
          <a:xfrm>
            <a:off x="586105" y="5138420"/>
            <a:ext cx="12202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ventus-env/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Ventus-OpenCL-Testcase/_get_case/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AIops/GEMM</a:t>
            </a:r>
            <a:endParaRPr lang="en-US" altLang="zh-CN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6" name="图形"/>
          <p:cNvSpPr txBox="1"/>
          <p:nvPr>
            <p:custDataLst>
              <p:tags r:id="rId11"/>
            </p:custDataLst>
          </p:nvPr>
        </p:nvSpPr>
        <p:spPr>
          <a:xfrm>
            <a:off x="586105" y="130556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阶段小结</a:t>
            </a:r>
            <a:endParaRPr lang="zh-CN" altLang="en-US" sz="2800" b="1" spc="100" dirty="0">
              <a:solidFill>
                <a:schemeClr val="tx1">
                  <a:alpha val="87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0" name="图形"/>
          <p:cNvSpPr txBox="1"/>
          <p:nvPr>
            <p:custDataLst>
              <p:tags r:id="rId12"/>
            </p:custDataLst>
          </p:nvPr>
        </p:nvSpPr>
        <p:spPr>
          <a:xfrm>
            <a:off x="586105" y="437642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参考</a:t>
            </a: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例程</a:t>
            </a:r>
            <a:endParaRPr lang="zh-CN" altLang="en-US" sz="2800" b="1" spc="100" dirty="0">
              <a:solidFill>
                <a:schemeClr val="tx1">
                  <a:alpha val="87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PPT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制作记录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9"/>
            </p:custDataLst>
          </p:nvPr>
        </p:nvSpPr>
        <p:spPr>
          <a:xfrm>
            <a:off x="586105" y="2053590"/>
            <a:ext cx="99866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一个周期能完成几个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endParaRPr lang="en-US" altLang="zh-CN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这些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是乘法还是加法，如何连接？</a:t>
            </a:r>
            <a:endParaRPr lang="zh-CN" altLang="en-US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3. 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如果需要运算的数据在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DRAM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上怎么办？</a:t>
            </a:r>
            <a:endParaRPr lang="zh-CN" altLang="en-US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3" name="图形"/>
          <p:cNvSpPr txBox="1"/>
          <p:nvPr>
            <p:custDataLst>
              <p:tags r:id="rId10"/>
            </p:custDataLst>
          </p:nvPr>
        </p:nvSpPr>
        <p:spPr>
          <a:xfrm>
            <a:off x="586105" y="5138420"/>
            <a:ext cx="12202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ventus-env/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Ventus-OpenCL-Testcase/_get_case/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AIops/GEMM</a:t>
            </a:r>
            <a:endParaRPr lang="en-US" altLang="zh-CN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0" name="图形"/>
          <p:cNvSpPr txBox="1"/>
          <p:nvPr>
            <p:custDataLst>
              <p:tags r:id="rId11"/>
            </p:custDataLst>
          </p:nvPr>
        </p:nvSpPr>
        <p:spPr>
          <a:xfrm>
            <a:off x="586105" y="437642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参考</a:t>
            </a: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例程</a:t>
            </a:r>
            <a:endParaRPr lang="zh-CN" altLang="en-US" sz="2800" b="1" spc="100" dirty="0">
              <a:solidFill>
                <a:schemeClr val="tx1">
                  <a:alpha val="87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一个周期能完成几个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1227455" y="933450"/>
          <a:ext cx="10561955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425"/>
                <a:gridCol w="734060"/>
                <a:gridCol w="733425"/>
                <a:gridCol w="1278255"/>
                <a:gridCol w="1633855"/>
                <a:gridCol w="1621155"/>
                <a:gridCol w="1955165"/>
                <a:gridCol w="187261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AI</a:t>
                      </a:r>
                      <a:endParaRPr 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时间（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s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）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错误率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0.000633855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12924091.47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5.17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59582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0.014600955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4080691.982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961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65536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0.016561275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3957183.248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524288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0.023119765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22677047.11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4194304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0.195843295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21416633.13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16384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144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144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144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5971968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0.352958195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16919760.14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20736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8192000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0.304769815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26879302.34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25600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12459008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0.480424795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25933315.95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33856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32.00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14155776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0.324663435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43601386.77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36864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37.33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22478848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0.511266325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43967002.91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50176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33554432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0.536371975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62558137.94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65536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268435456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2.449591140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109583779.80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X / 262144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2147483648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44.14160736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48649874.27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X / 1048576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2048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2048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2048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341.33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17179869184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3839.3183232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4474718.619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X / 4194304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682.67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137438953472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?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?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X / 16777216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一个周期能完成几个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06095" y="1148080"/>
            <a:ext cx="11696700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24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512*</a:t>
            </a:r>
            <a:r>
              <a:rPr lang="en-US" altLang="zh-CN" sz="24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512*512:</a:t>
            </a:r>
            <a:endParaRPr lang="en-US" altLang="zh-CN" sz="24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kernel 0 gemm block 0 finished @612397785ns,1 [debug CTA_Scheduler.cpp:179]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kernel 0 gemm finished @612397785ns,1 [info context_model.cpp:32]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612397785ns*4 = 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2.449591140 s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1024*1024*1024:</a:t>
            </a:r>
            <a:endParaRPr lang="en-US" sz="24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kernel 0 gemm block 0 finished @689712615ns,1 [debug CTA_Scheduler.cpp:179]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kernel 0 gemm finished @689712615ns,1 [info context_model.cpp:32]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689712615ns*64 = 44.141607360 s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一个周期能完成几个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06095" y="1148080"/>
            <a:ext cx="11696700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24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2048*</a:t>
            </a:r>
            <a:r>
              <a:rPr lang="en-US" altLang="zh-CN" sz="24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2048*2048: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kernel 0 gemm block finished @937333575ns,1 [debug CTA_Scheduler.cpp:179]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kernel 0 gemm finished @937333575ns,1 [info context_model.cpp:32]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937333575ns*4096=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3839.3183232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 s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4096*4096*4096: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X ns  X = X s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一个周期能完成几个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06095" y="1148080"/>
            <a:ext cx="11696700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有效吞吐量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 = 62.6M / (100MHz) = 0.626 FLOP/cycle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峰值能力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   = 64 FLOP/cycle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利用率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    = 0.98%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这些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是乘法还是加法？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如何连接？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0" y="1362075"/>
            <a:ext cx="7110730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csrrs x5,0x803,x0       803022f3        x5  = 90014000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lw x10,0(x5)            0002a503        x10 = 90000000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vid.v v0                5208a057        v0  = 7,6,5,4,3,2,1,0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vsll.vi v0,v0,2         96013057        v0  = 1c,18,14,10,0c,08,04,00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vadd.vx v31,v0,x10      02054FD7        v31 = 9000001c,90000018,...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v0,0(v31)       000FA07b        v1  = 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随机整数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v1,0x10(v31)    010FA0Fb        v2  = 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v2,0x20(v31)    020FA17B        v3  = 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v3,0x30(v31)    030FA1FB        v4  = 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v4,0x40(v31)    040FA27B        v5  = 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v5,0x50(v31)    050FA2FB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v6,0x60(v31)    060FA37B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v7,0x70(v31)    070FA3FB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v8,0x80(v31)    080FA47B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v9,0x90(v31)    090FA4FB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v10,0x100(v31)  100FA57B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vlw12.v v11,0x110(v31)  110FA5FB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v8,v0,v4,v8     0E40440B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v9,v0,v6,v9     0E60448B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70090" y="1362075"/>
            <a:ext cx="4819015" cy="5387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v10,v2,v4,v10   0E41450B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v11,v2,v6,v11   0E61458B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v8,v1,v5,v8     0E50C40B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v9,v1,v7,v9     0E70C48B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v10,v3,v5,v10   0E51C50B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vftta.v v11,v3,v7,v11   0E71C58B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endprg                  0000400b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addi x2,x1,0            00008113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生成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tensor.data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后，再后面附上上述指令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最后还要加上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90000000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buClrTx/>
              <a:buSzTx/>
              <a:buFontTx/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725" y="992505"/>
            <a:ext cx="1022350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</a:rPr>
              <a:t>./cyclesim/testcase/tensor/wmma484fp32/wmma484fp32.s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这些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是乘法还是加法？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如何连接？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0" y="1376045"/>
            <a:ext cx="5964555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vftta.vv vd,vs2,vs1,vm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require(P.VU.vsew &gt;= e8 &amp;&amp; P.VU.vsew &lt;= e64);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require_vector(true);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reg_t vl = P.VU.vl-&gt;read();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reg_t sew = P.VU.vsew;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reg_t rd_num = insn.rd();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reg_t rs1_num = insn.rs1();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reg_t rs2_num = insn.rs2();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require_align(rd_num, P.VU.vflmul);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require_vm;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for (reg_t i = P.VU.vstart-&gt;read() ; i &lt; P.VU.vl-&gt;read(); ++i) {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VI_LOOP_ELEMENT_SKIP();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switch (sew) {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case e8: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P.VU.elt&lt;uint8_t&gt;(0,rd_num, i, true) = i;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break;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case e16: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P.VU.elt&lt;uint16_t&gt;(0,rd_num, i, true) = i;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94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break;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725" y="992505"/>
            <a:ext cx="1022350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</a:rPr>
              <a:t>./spike/riscv/insns/vftta_vv.h</a:t>
            </a:r>
            <a:endParaRPr lang="en-US" altLang="zh-CN" sz="2000" b="0" i="0">
              <a:latin typeface="Noto Serif CJK SC Black" panose="02020900000000000000" charset="-122"/>
              <a:ea typeface="Noto Serif CJK SC Black" panose="020209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85815" y="998220"/>
            <a:ext cx="6306185" cy="5862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case e32: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if(i&gt;=vl/2)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P.VU.elt&lt;float32_t&gt;(0,rd_num, i, true) = f32(i+7);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else{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P.VU.elt&lt;float32_t&gt;(0,rd_num, i, true)=P.VU.elt&lt;float32_t&gt;(0,rd_num, i, true);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//float32_t vd=P.VU.elt&lt;float32_t&gt;(0,rd_num,i,true);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//float32_t vs1=P.VU.elt&lt;float32_t&gt;(1,rs1_num, i);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//float32_t vs2=P.VU.elt&lt;float32_t&gt;(2,rs2_num, i);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for(reg_t j=0;j&lt;(vl/4);++j){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	//vd=f32_mulAdd(vs1,vs2,vd);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	</a:t>
            </a:r>
            <a:r>
              <a:rPr lang="en-US" altLang="zh-CN" sz="1700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P.VU.elt&lt;float32_t&gt;(0,rd_num, i, true)=f32_mulAdd(P.VU.elt&lt;float32_t&gt;(1,rs1_num, ((i&gt;&gt;2)&lt;&lt;3)+j),P.VU.elt&lt;float32_t&gt;(2,rs2_num, ((i&amp;3)&lt;&lt;3)+j, true),P.VU.elt&lt;float32_t&gt;(0,rd_num, i, true));</a:t>
            </a:r>
            <a:endParaRPr lang="en-US" altLang="zh-CN" sz="1700" u="sng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}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//P.VU.elt&lt;float32_t&gt;(0,rd_num,i,true)=vd;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}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break;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default: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P.VU.elt&lt;uint64_t&gt;(0,rd_num, i, true) = i;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break;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}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}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1800"/>
              </a:lnSpc>
              <a:buClrTx/>
              <a:buSzTx/>
              <a:buFontTx/>
            </a:pPr>
            <a:r>
              <a:rPr lang="en-US" altLang="zh-CN" sz="17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P.VU.vstart-&gt;write(0);</a:t>
            </a:r>
            <a:endParaRPr lang="en-US" altLang="zh-CN" sz="17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这些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是乘法还是加法？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如何连接？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490720"/>
            <a:ext cx="11239500" cy="21240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2545715"/>
            <a:ext cx="7667625" cy="12954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这些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是乘法还是加法？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如何连接？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-635" y="867410"/>
            <a:ext cx="12305665" cy="433387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指令本质：融合乘加（FMA）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vftta.vv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是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三操作数融合乘加指令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，执行语义为：</a:t>
            </a:r>
            <a:r>
              <a:rPr lang="en-US" altLang="zh-CN" sz="2000" b="1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vd = vs1vs2 + vd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FLOP连接方式：4×4×4 WMMA模式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从代码中的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地址计算逻辑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可以还原出矩阵运算结构：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vs1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索引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= ((i &gt;&gt; 2) &lt;&lt; 3) + j    // Thread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组行号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en-US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8 + K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维度循环</a:t>
            </a:r>
            <a:endParaRPr lang="zh-CN" altLang="en-US" sz="2000">
              <a:effectLst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vs2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索引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= ((i &amp; 3)  &lt;&lt; 3) + j    // Thread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组列号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en-US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8 + K</a:t>
            </a:r>
            <a:r>
              <a:rPr lang="zh-CN" altLang="en-US" sz="2000">
                <a:effectLst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维度循环</a:t>
            </a:r>
            <a:endParaRPr lang="en-US" altLang="zh-CN" sz="2000">
              <a:effectLst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映射到矩阵运算：</a:t>
            </a:r>
            <a:endParaRPr lang="zh-CN" altLang="en-US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Warp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线程；每个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warp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计算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矩阵乘</a:t>
            </a:r>
            <a:r>
              <a:rPr 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；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每个线程负责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个结果元素；内层循环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j=0~vl/4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完成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K=4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的点积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连接拓扑：</a:t>
            </a:r>
            <a:endParaRPr lang="zh-CN" altLang="en-US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Thread i (0≤i&lt;8)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的执行：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for j in 0..3: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从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矩阵取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个元素，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矩阵取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个元素，做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次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FMA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vd[0] = fma(A[row_i][j], B[j][col_i], vd[0])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vd[1] = fma(A[row_i][j], B[j][col_i+4], vd[1])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若每个线程处理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列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3. FLOP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数量计算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每条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vftta.vv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指令：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理论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FLOP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 FLOPs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次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FMA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2 FLOP/FMA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每周期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FLOPs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256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256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峰值：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62.55 MFLOPS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；若每周期发射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条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vftta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，达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16 FLOPs/cycle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；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效率：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256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规模达到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~95%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峰值，证明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WMMA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单元已充分利用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这些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FLOP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是乘法还是加法？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如何连接？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739140" y="1173480"/>
            <a:ext cx="10290810" cy="6680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微架构流水线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图谱</a:t>
            </a:r>
            <a:endParaRPr lang="zh-CN" altLang="en-US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739140" y="1841500"/>
          <a:ext cx="1094422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756000"/>
                <a:gridCol w="3852000"/>
                <a:gridCol w="2376000"/>
                <a:gridCol w="320400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周期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阶段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数据路径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B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数据路径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C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数据路径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IF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指令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cache fetch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（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vfmadd.s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）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T+1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ID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解码并广播操作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码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解码并广播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操作码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解码并广播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操作码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T+2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RD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a_val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从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RF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读取到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广播总线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b_val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从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l1 cache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加载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sum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从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RF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读取到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加法器输入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T+3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EX0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个乘法器并行计算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a_valb_val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T+4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EX1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个加法器并行计算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sum+product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T+5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WB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结果写回</a:t>
                      </a: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RF</a:t>
                      </a:r>
                      <a:r>
                        <a:rPr lang="zh-CN" altLang="en-US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的累加器</a:t>
                      </a:r>
                      <a:r>
                        <a:rPr lang="zh-CN" altLang="en-US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数组</a:t>
                      </a:r>
                      <a:endParaRPr lang="zh-CN" altLang="en-US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55650" y="4690110"/>
            <a:ext cx="10290810" cy="6680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无中间写回：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乘积不写入寄存器，直通加法器（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Fusion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寄存器前递：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T+4阶段结果通过旁路网络直接供给T+5的WB，无需等待写回RF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流水线气泡：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K维度循环的k+1次迭代可在k次迭代WB阶段同时进入EX0（全流水线）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739140" y="853440"/>
            <a:ext cx="10290810" cy="6680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Ventus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内存层次结构与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数据路径</a:t>
            </a:r>
            <a:endParaRPr lang="zh-CN" altLang="en-US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9140" y="1361440"/>
            <a:ext cx="5744845" cy="584898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1. 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完整内存拓扑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Host System DRAM (DDR4)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PCIe 3.0 </a:t>
            </a:r>
            <a:r>
              <a:rPr lang="en-US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 (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带宽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 GB/s, </a:t>
            </a:r>
            <a:r>
              <a:rPr lang="zh-CN" altLang="en-US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延迟</a:t>
            </a: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~500ns)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GPU Board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endParaRPr lang="en-US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GPU Global DRAM (GDDR5, 假设带宽50 GB/s, 延迟~100ns)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endParaRPr lang="en-US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L2 Cache (512 KB, 4-way set associative, 64B line, 共享)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endParaRPr lang="en-US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L1 Data Cache (32 KB/PE, 4-way, 64B line, 私有)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endParaRPr lang="en-US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Register File (1 KB/PE, 32-bit bank, 32 banks)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↓</a:t>
            </a:r>
            <a:endParaRPr lang="en-US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ts val="26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FMA Unit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52210" y="998220"/>
            <a:ext cx="5831840" cy="515620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步骤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Host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端分配（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float A = (float)malloc(MK4);  // 256KB @ Host DRAM</a:t>
            </a:r>
            <a:endParaRPr lang="en-US" altLang="zh-CN" u="sng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步骤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：隐式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DMA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传输（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PCIe + GPU DRAM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cl_mem buf_A = clCreateBuffer(ctx, CL_MEM_COPY_HOST_PTR, size, A, &amp;err);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触发：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Host DRAM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PCIe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Global DRAM</a:t>
            </a:r>
            <a:endParaRPr lang="en-US" altLang="zh-CN" u="sng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步骤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Kernel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执行时的访存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float a_val = A[rowK + k];  // GPU DRAM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L2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L1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RF</a:t>
            </a:r>
            <a:endParaRPr lang="en-US" altLang="zh-CN" u="sng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步骤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：计算结果写回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C[rowN + col] = sum[i][j];  // RF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L1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L2 </a:t>
            </a:r>
            <a:r>
              <a:rPr lang="en-US" altLang="en-US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u="sng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DRAM</a:t>
            </a:r>
            <a:endParaRPr lang="en-US" altLang="zh-CN" u="sng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步骤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5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Host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回读（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PCIe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8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clEnqueueReadBuffer(..., C, ...);  // GPU DRAM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PCIe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Host DRAM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739140" y="853440"/>
            <a:ext cx="10290810" cy="6680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./spike/riscv/insns/vlw12_v.h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9140" y="1596390"/>
            <a:ext cx="10558145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VI_GPU_LD12_INDEX(e32,true,MMU.load_int32(baseAddr + index[i]+fn8));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加载方式：通过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MMU.load_int32()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接口从内存系统读取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地址计算：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baseAddr + index[i] + fn8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baseAddr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：基地址（来自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v31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寄存器）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index[i]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：向量索引（由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vid.v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生成）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fn8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：线程偏移（每个线程偏移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字节）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数据宽度：每次加载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e32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位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=4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字节），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字节可能是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个连续元素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1" name="文本框 10"/>
          <p:cNvSpPr txBox="1"/>
          <p:nvPr/>
        </p:nvSpPr>
        <p:spPr>
          <a:xfrm>
            <a:off x="85725" y="852805"/>
            <a:ext cx="10290810" cy="6680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./spike/riscv/v_ext_macros.h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725" y="1471295"/>
            <a:ext cx="7239000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define VI_GPU_LD12_INDEX(elt_width,is_seg,BODY)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const reg_t nf = 1;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const reg_t vl = P.VU.vl-&gt;read();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const reg_t baseAddr = insn.i_imm();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const reg_t vd = insn.rd();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if (!is_seg)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require(nf == 1);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VI_DUPLICATE_VREG(1,insn.rs1(), elt_width);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for (reg_t i = 0; i &lt; vl; ++i) {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VI12_ELEMENT_SKIP(i);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VI_STRIP(i);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P.VU.vstart-&gt;write(i); \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2770" y="998220"/>
            <a:ext cx="6096000" cy="590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for (reg_t fn = 0; fn &lt; nf; ++fn) {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switch (P.VU.vsew) {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case e8: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P.VU.elt&lt;uint8_t&gt;(0,vd , vreg_inx, true) =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  BODY;\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break;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case e16: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P.VU.elt&lt;uint16_t&gt;(0,vd , vreg_inx, true) =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  BODY;\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break;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case e32: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P.VU.elt&lt;uint32_t&gt;(0,vd , vreg_inx, true) =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  BODY;\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break;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default: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P.VU.elt&lt;uint64_t&gt;(0,vd , vreg_inx, true) =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  BODY;\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   break;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}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}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} \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060"/>
              </a:lnSpc>
              <a:buClrTx/>
              <a:buSzTx/>
              <a:buFontTx/>
            </a:pPr>
            <a:r>
              <a:rPr lang="en-US" altLang="zh-CN" sz="16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P.VU.vstart-&gt;write(0);</a:t>
            </a:r>
            <a:endParaRPr lang="en-US" altLang="zh-CN" sz="16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85725" y="1471295"/>
            <a:ext cx="11610975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vlw12.v v0, 0(v31)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实际访问地址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=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立即数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0 + v31[i] + thread_offset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MMU.load_int32()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是通往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的最终接口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85725" y="998220"/>
            <a:ext cx="11610975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综上，数据在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上：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汇编级加载过程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vlw12.v v0, 0(v31)      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向量加载指令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该指令在硬件中的执行流程被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`VI_GPU_LD12_INDEX`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宏定义为：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const reg_t baseAddr = insn.i_imm();         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获取立即数偏移（如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0x90000000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const reg_t fn = P.VU.elt&lt;reg_t&gt;(0, rs2, 0); 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获取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v31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寄存器中的索引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for (reg_t i = 0; i &lt; vl; ++i) {             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遍历每个激活的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SIMT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线程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VI12_ELEMENT_SKIP(i);                      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根据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SIMT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掩码跳过非活跃线程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uint32_t data = MMU.load_int32(baseAddr + index[i] + fn8);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关键访存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P.VU.elt&lt;uint32_t&gt;(0, vd, vreg_inx, true) = data;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写入向量寄存器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v0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}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核心点：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每个活跃线程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独立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调用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`MMU.load_int32()`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生成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请求。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85725" y="820420"/>
            <a:ext cx="11610975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MMU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层处理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`MMU.load_int32()`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通过宏展开为：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inline uint32_t load_uint32(reg_t addr) { 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reg_t vpn = addr &gt;&gt; PGSHIFT;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虚拟页号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// 1. TLB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快速路径（缓存命中）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if (tlb_load_tag[vpn % TLB_ENTRIES] == vpn) {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return (uint32_t)(tlb_data[vpn % TLB_ENTRIES].host_offset + addr);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}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// 2. TLB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未命中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慢路径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触发页表遍历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load_slow_path(addr, 4, (uint8_t)&amp;res, 0);  //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最终调用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sim-&gt;addr_to_mem()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}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关键发现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：</a:t>
            </a:r>
            <a:endParaRPr lang="zh-CN" altLang="en-US" sz="20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无硬件缓存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：代码中仅存在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TLB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（地址翻译缓存），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无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L1/L2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数据缓存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定义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每次访问都是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访问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`load_slow_path()`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会直接调用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`sim-&gt;addr_to_mem()`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cyclesim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中该函数模拟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控制器行为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SIMT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序列化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个线程的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`vlw12.v`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会生成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次独立的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请求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（无向量合并逻辑）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如果运算的数据在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DRAM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怎么办？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530350" y="1136015"/>
            <a:ext cx="8182610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综上，数据在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上，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VENTUS GPGPU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处理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数据的情况：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数据已在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LDS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（局部数据共享）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vlw12.v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TLB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命中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LDS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访问（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cyclesim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通过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`tlb_data[].host_offset`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指向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LDS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区域）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数据在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需分块加载</a:t>
            </a:r>
            <a:endParaRPr lang="en-US" altLang="zh-CN" sz="2000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vlw12.v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TLB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未命中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</a:t>
            </a:r>
            <a:endParaRPr lang="en-US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load_slow_path()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控制器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写入向量寄存器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总结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530350" y="1136015"/>
            <a:ext cx="8182610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问题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FLOP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是乘法还是加法，如何连接？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vftta.v v8, v0, v4, v8   # vd = vd + (vs2 * vs1)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融合乘加指令（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单周期）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v8 += v0*v4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wmma484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（执行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次并行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FMA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每个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warp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每周期：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8MUL+8ADD=16 FLOP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s/cycle/warp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对矩阵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4*8*4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分块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C[4*4]=A[4*8]*B[8*4]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vlw12.v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从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内存加载到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向量寄存器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vftta.v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对指令并行计算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8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个乘积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累加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vid.v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向量索引）和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vsll.vi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向量左移）实现地址计算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总结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530350" y="1136015"/>
            <a:ext cx="8182610" cy="229362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问题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：数据在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DRAM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上怎么办？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96975" y="1997075"/>
            <a:ext cx="1431925" cy="16332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/>
              <a:t>寄存器文件</a:t>
            </a:r>
            <a:endParaRPr lang="zh-CN" altLang="en-US" sz="2400" b="1"/>
          </a:p>
        </p:txBody>
      </p:sp>
      <p:sp>
        <p:nvSpPr>
          <p:cNvPr id="10" name="圆角矩形 9"/>
          <p:cNvSpPr/>
          <p:nvPr/>
        </p:nvSpPr>
        <p:spPr>
          <a:xfrm>
            <a:off x="3319780" y="1997075"/>
            <a:ext cx="1431925" cy="16332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L1 Cache</a:t>
            </a:r>
            <a:endParaRPr lang="en-US" altLang="zh-CN" sz="2400" b="1"/>
          </a:p>
        </p:txBody>
      </p:sp>
      <p:sp>
        <p:nvSpPr>
          <p:cNvPr id="11" name="圆角矩形 10"/>
          <p:cNvSpPr/>
          <p:nvPr/>
        </p:nvSpPr>
        <p:spPr>
          <a:xfrm>
            <a:off x="5442585" y="1997075"/>
            <a:ext cx="1431925" cy="16332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L2 Cache</a:t>
            </a:r>
            <a:endParaRPr lang="en-US" altLang="zh-CN" sz="2400" b="1"/>
          </a:p>
        </p:txBody>
      </p:sp>
      <p:sp>
        <p:nvSpPr>
          <p:cNvPr id="12" name="圆角矩形 11"/>
          <p:cNvSpPr/>
          <p:nvPr/>
        </p:nvSpPr>
        <p:spPr>
          <a:xfrm>
            <a:off x="7565390" y="1997075"/>
            <a:ext cx="1431925" cy="16332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DRAM</a:t>
            </a:r>
            <a:endParaRPr lang="en-US" altLang="zh-CN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1196975" y="3787775"/>
            <a:ext cx="1431925" cy="1114425"/>
          </a:xfrm>
          <a:prstGeom prst="rect">
            <a:avLst/>
          </a:prstGeom>
        </p:spPr>
        <p:txBody>
          <a:bodyPr>
            <a:noAutofit/>
          </a:bodyPr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最快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最小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13100" y="3787775"/>
            <a:ext cx="1649095" cy="1114425"/>
          </a:xfrm>
          <a:prstGeom prst="rect">
            <a:avLst/>
          </a:prstGeom>
        </p:spPr>
        <p:txBody>
          <a:bodyPr>
            <a:noAutofit/>
          </a:bodyPr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1-4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32KB/warp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96535" y="3787775"/>
            <a:ext cx="1649095" cy="1114425"/>
          </a:xfrm>
          <a:prstGeom prst="rect">
            <a:avLst/>
          </a:prstGeom>
        </p:spPr>
        <p:txBody>
          <a:bodyPr>
            <a:noAutofit/>
          </a:bodyPr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10-20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共享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79970" y="3787775"/>
            <a:ext cx="1649095" cy="1114425"/>
          </a:xfrm>
          <a:prstGeom prst="rect">
            <a:avLst/>
          </a:prstGeom>
        </p:spPr>
        <p:txBody>
          <a:bodyPr>
            <a:noAutofit/>
          </a:bodyPr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200-400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ctr" fontAlgn="auto">
              <a:lnSpc>
                <a:spcPts val="2960"/>
              </a:lnSpc>
              <a:buClrTx/>
              <a:buSzTx/>
              <a:buFontTx/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X GB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容量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3275" y="4754245"/>
            <a:ext cx="11743055" cy="17532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Ventus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对不同内存空间采用不同策略：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全局内存（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DRAM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）：写穿透（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write-through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+ 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写不分配（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write non-allocate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 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避免污染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L1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缓存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共享内存（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LDS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）：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warp</a:t>
            </a: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内线程共享，用于分块数据交换</a:t>
            </a:r>
            <a:endParaRPr lang="zh-CN" altLang="en-US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私有内存：写回（</a:t>
            </a:r>
            <a:r>
              <a:rPr lang="en-US" altLang="zh-CN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write-back）策略，适合线程局部变量</a:t>
            </a:r>
            <a:endParaRPr lang="en-US" altLang="zh-CN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683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总结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530350" y="1136015"/>
            <a:ext cx="8182610" cy="561403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参考资料：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《乘影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GPGPU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架构文档手册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v2.02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》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【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CSDN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】《乘影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Ventus GPGPU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硬件结构》</a:t>
            </a: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ts val="2960"/>
              </a:lnSpc>
              <a:buClrTx/>
              <a:buSzTx/>
              <a:buFontTx/>
            </a:pPr>
            <a:endParaRPr lang="zh-CN" altLang="en-US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11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24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TABLE_ENDDRAG_ORIGIN_RECT" val="918*257"/>
  <p:tag name="TABLE_ENDDRAG_RECT" val="26*303*918*257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TABLE_ENDDRAG_ORIGIN_RECT" val="918*257"/>
  <p:tag name="TABLE_ENDDRAG_RECT" val="26*303*918*257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8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9509</Words>
  <Application>WPS 演示</Application>
  <PresentationFormat>宽屏</PresentationFormat>
  <Paragraphs>734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思源黑体 CN Medium</vt:lpstr>
      <vt:lpstr>Arial Unicode MS</vt:lpstr>
      <vt:lpstr>Calibri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524</cp:revision>
  <dcterms:created xsi:type="dcterms:W3CDTF">2019-06-19T02:08:00Z</dcterms:created>
  <dcterms:modified xsi:type="dcterms:W3CDTF">2026-01-15T16:47:29Z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