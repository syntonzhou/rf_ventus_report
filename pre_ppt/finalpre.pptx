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8" r:id="rId3"/>
    <p:sldId id="300" r:id="rId5"/>
    <p:sldId id="299" r:id="rId6"/>
  </p:sldIdLst>
  <p:sldSz cx="12192000" cy="6858000"/>
  <p:notesSz cx="6798945" cy="9929495"/>
  <p:custDataLst>
    <p:tags r:id="rId10"/>
  </p:custDataLst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61" userDrawn="1">
          <p15:clr>
            <a:srgbClr val="A4A3A4"/>
          </p15:clr>
        </p15:guide>
        <p15:guide id="2" orient="horz" pos="21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404" y="76"/>
      </p:cViewPr>
      <p:guideLst>
        <p:guide pos="3861"/>
        <p:guide orient="horz" pos="21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2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096875"/>
          <c:y val="0.0259228725840432"/>
          <c:w val="0.896791666666667"/>
          <c:h val="0.85127782357790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优化前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864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4323593.988</c:v>
                </c:pt>
                <c:pt idx="1">
                  <c:v>26463367.36</c:v>
                </c:pt>
                <c:pt idx="2">
                  <c:v>94047414.04</c:v>
                </c:pt>
                <c:pt idx="3">
                  <c:v>187184210.9</c:v>
                </c:pt>
                <c:pt idx="4">
                  <c:v>251393773.8</c:v>
                </c:pt>
                <c:pt idx="5">
                  <c:v>269731635.2</c:v>
                </c:pt>
                <c:pt idx="6">
                  <c:v>298938374.4</c:v>
                </c:pt>
                <c:pt idx="7">
                  <c:v>309868362.2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优化后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864</c:v>
                </c:pt>
              </c:numCache>
            </c:numRef>
          </c:cat>
          <c:val>
            <c:numRef>
              <c:f>Sheet1!$C$2:$C$10</c:f>
              <c:numCache>
                <c:formatCode>0.00_ </c:formatCode>
                <c:ptCount val="9"/>
                <c:pt idx="0">
                  <c:v>1504997.06055262</c:v>
                </c:pt>
                <c:pt idx="1">
                  <c:v>6469956.40361408</c:v>
                </c:pt>
                <c:pt idx="2">
                  <c:v>33669673.8661351</c:v>
                </c:pt>
                <c:pt idx="3">
                  <c:v>171212853.504017</c:v>
                </c:pt>
                <c:pt idx="4">
                  <c:v>539343781.665184</c:v>
                </c:pt>
                <c:pt idx="5">
                  <c:v>788848588.347365</c:v>
                </c:pt>
                <c:pt idx="6">
                  <c:v>1086048930.4802</c:v>
                </c:pt>
                <c:pt idx="7">
                  <c:v>1271964912.24163</c:v>
                </c:pt>
                <c:pt idx="8">
                  <c:v>1350665377.86763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57820746"/>
        <c:axId val="132732155"/>
      </c:lineChart>
      <c:catAx>
        <c:axId val="25782074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2732155"/>
        <c:crosses val="autoZero"/>
        <c:auto val="1"/>
        <c:lblAlgn val="ctr"/>
        <c:lblOffset val="100"/>
        <c:noMultiLvlLbl val="0"/>
      </c:catAx>
      <c:valAx>
        <c:axId val="13273215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5782074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101317122593718"/>
          <c:y val="0.00964320154291225"/>
          <c:w val="0.543397500844309"/>
          <c:h val="0.40501446480231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f3ac412-5a35-4d7c-8767-467977400b7c}"/>
      </c:ext>
    </c:extLst>
  </c:chart>
  <c:spPr>
    <a:noFill/>
    <a:ln>
      <a:noFill/>
    </a:ln>
    <a:effectLst/>
  </c:spPr>
  <c:txPr>
    <a:bodyPr/>
    <a:lstStyle/>
    <a:p>
      <a:pPr>
        <a:defRPr lang="zh-CN" sz="1400" b="1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264023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6346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850917836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51342" y="0"/>
            <a:ext cx="2946346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2A48B96-639E-45A3-A0BA-2464DFDB1FAA}" type="datetimeFigureOut">
              <a:rPr lang="zh-CN" altLang="en-US"/>
            </a:fld>
            <a:endParaRPr lang="zh-CN"/>
          </a:p>
        </p:txBody>
      </p:sp>
      <p:sp>
        <p:nvSpPr>
          <p:cNvPr id="445825332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441915881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500179965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9431600"/>
            <a:ext cx="2946346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38013768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51342" y="9431600"/>
            <a:ext cx="2946346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837353-30EB-4A48-80EB-173D804AEFBD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205361-80D0-B99B-DC9F-98F88FBDD556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A8ADA2-3FB5-6183-46A4-80B7A7B89169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A8ADA2-3FB5-6183-46A4-80B7A7B89169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14976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20439250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单击以编辑母版副标题样式</a:t>
            </a:r>
            <a:endParaRPr lang="en-US"/>
          </a:p>
        </p:txBody>
      </p:sp>
      <p:sp>
        <p:nvSpPr>
          <p:cNvPr id="10512474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2177959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2676848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6617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1929543735" name="Content Placehold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11846251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0727535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4831617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30694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471563286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</p:txBody>
      </p:sp>
      <p:sp>
        <p:nvSpPr>
          <p:cNvPr id="18879977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458324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19313431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7876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1688741878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251504319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19756684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723044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16548472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78385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743237969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</p:txBody>
      </p:sp>
      <p:sp>
        <p:nvSpPr>
          <p:cNvPr id="8473293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806615089" name="Text Placeholder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</p:txBody>
      </p:sp>
      <p:sp>
        <p:nvSpPr>
          <p:cNvPr id="934236886" name="Content Placehold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84434728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6010118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160779955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5287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63562795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5509904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11048673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8414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49415595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179740811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  <p:pic>
        <p:nvPicPr>
          <p:cNvPr id="1189580730" name="图片 4" descr="ppt_画板 1 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20216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77018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656412676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712030228" name="Text Placeholder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</p:txBody>
      </p:sp>
      <p:sp>
        <p:nvSpPr>
          <p:cNvPr id="3465715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340704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44274677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71889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1484331787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zh-CN"/>
              <a:t>单击图标添加图片</a:t>
            </a:r>
            <a:endParaRPr lang="en-US"/>
          </a:p>
        </p:txBody>
      </p:sp>
      <p:sp>
        <p:nvSpPr>
          <p:cNvPr id="764231607" name="Text Placeholder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</p:txBody>
      </p:sp>
      <p:sp>
        <p:nvSpPr>
          <p:cNvPr id="9258807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197383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135199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C47A4-756D-490B-A52F-7D9E2C9FC05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738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1774744004" name="Vertical Text Placeholder 2"/>
          <p:cNvSpPr>
            <a:spLocks noGrp="1"/>
          </p:cNvSpPr>
          <p:nvPr>
            <p:ph type="body" orient="vert" idx="1" hasCustomPrompt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9991879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348201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2280113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9607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49293856" name="Vertical Text Placehold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1997524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407870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19132581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自定义版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3594758" name="图片 5" descr="logo-0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-268605" y="-464820"/>
            <a:ext cx="3293110" cy="2175510"/>
          </a:xfrm>
          <a:prstGeom prst="rect">
            <a:avLst/>
          </a:prstGeom>
        </p:spPr>
      </p:pic>
      <p:cxnSp>
        <p:nvCxnSpPr>
          <p:cNvPr id="1971859422" name="Straight Connector 9"/>
          <p:cNvCxnSpPr/>
          <p:nvPr userDrawn="1"/>
        </p:nvCxnSpPr>
        <p:spPr bwMode="auto">
          <a:xfrm>
            <a:off x="2772382" y="262647"/>
            <a:ext cx="0" cy="661481"/>
          </a:xfrm>
          <a:prstGeom prst="line">
            <a:avLst/>
          </a:prstGeom>
          <a:ln w="19050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929333" name="页脚占位符 5"/>
          <p:cNvSpPr>
            <a:spLocks noGrp="1"/>
          </p:cNvSpPr>
          <p:nvPr>
            <p:ph type="ftr" sz="quarter" idx="11"/>
          </p:nvPr>
        </p:nvSpPr>
        <p:spPr bwMode="auto">
          <a:xfrm>
            <a:off x="7861300" y="6337299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025447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00060525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493016839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  <p:sp>
        <p:nvSpPr>
          <p:cNvPr id="1830171070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>
              <a:lnSpc>
                <a:spcPct val="100000"/>
              </a:lnSpc>
              <a:buNone/>
              <a:defRPr lang="zh-CN" sz="6000" b="1" i="0" u="none" strike="noStrike" cap="none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cs typeface="+mj-cs"/>
              </a:defRPr>
            </a:lvl1pPr>
          </a:lstStyle>
          <a:p>
            <a:pPr lvl="0">
              <a:defRPr/>
            </a:pPr>
            <a:r>
              <a:t>单击此处编辑标题</a:t>
            </a:r>
          </a:p>
        </p:txBody>
      </p:sp>
      <p:sp>
        <p:nvSpPr>
          <p:cNvPr id="2005583001" name="文本占位符 6"/>
          <p:cNvSpPr>
            <a:spLocks noGrp="1"/>
          </p:cNvSpPr>
          <p:nvPr>
            <p:ph type="body" sz="quarter" idx="13"/>
          </p:nvPr>
        </p:nvSpPr>
        <p:spPr bwMode="auto"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087113" name="图片占位符 2"/>
          <p:cNvSpPr>
            <a:spLocks noGrp="1"/>
          </p:cNvSpPr>
          <p:nvPr>
            <p:ph type="pic" idx="1"/>
          </p:nvPr>
        </p:nvSpPr>
        <p:spPr bwMode="auto"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None/>
              <a:defRPr lang="zh-CN" sz="16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685800" marR="0" lvl="1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  <a:tabLst>
                <a:tab pos="1609090" algn="l"/>
              </a:tabLst>
              <a:defRPr lang="zh-CN" sz="1600" b="0" i="0" u="none" strike="noStrike" cap="none" spc="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lvl="2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  <a:defRPr lang="zh-CN" sz="1600" b="0" i="0" u="none" strike="noStrike" cap="none" spc="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lvl="3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  <a:defRPr lang="zh-CN" sz="1600" b="0" i="0" u="none" strike="noStrike" cap="none" spc="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lvl="4" indent="-228600" algn="l" defTabSz="91440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  <a:defRPr lang="zh-CN" sz="1600" b="0" i="0" u="none" strike="noStrike" cap="none" spc="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defRPr/>
            </a:pPr>
          </a:p>
        </p:txBody>
      </p:sp>
      <p:sp>
        <p:nvSpPr>
          <p:cNvPr id="1816457310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/>
              <a:buNone/>
              <a:defRPr lang="zh-CN" sz="1600" b="0" i="0"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457200" indent="0" defTabSz="914400">
              <a:buFont typeface="Arial" panose="020B0604020202020204"/>
              <a:buNone/>
              <a:tabLst>
                <a:tab pos="1609090" algn="l"/>
                <a:tab pos="1609090" algn="l"/>
                <a:tab pos="1609090" algn="l"/>
                <a:tab pos="1609090" algn="l"/>
              </a:tabLst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2pPr>
            <a:lvl3pPr>
              <a:buFont typeface="Arial" panose="020B0604020202020204"/>
              <a:buChar char="●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3pPr>
            <a:lvl4pPr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4pPr>
            <a:lvl5pPr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5pPr>
          </a:lstStyle>
          <a:p>
            <a:pPr lvl="0">
              <a:defRPr/>
            </a:pPr>
            <a:r>
              <a:t>单击此处编辑母版文本样式</a:t>
            </a:r>
          </a:p>
        </p:txBody>
      </p:sp>
      <p:sp>
        <p:nvSpPr>
          <p:cNvPr id="59747692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33680830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1456578090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C47A4-756D-490B-A52F-7D9E2C9FC05F}" type="slidenum">
              <a:rPr lang="en-US" altLang="zh-CN"/>
            </a:fld>
            <a:endParaRPr lang="zh-CN"/>
          </a:p>
        </p:txBody>
      </p:sp>
      <p:sp>
        <p:nvSpPr>
          <p:cNvPr id="1224308189" name="标题 8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868426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15242714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901163262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  <p:sp>
        <p:nvSpPr>
          <p:cNvPr id="477217790" name="内容占位符 6"/>
          <p:cNvSpPr>
            <a:spLocks noGrp="1"/>
          </p:cNvSpPr>
          <p:nvPr>
            <p:ph sz="quarter" idx="13"/>
          </p:nvPr>
        </p:nvSpPr>
        <p:spPr bwMode="auto"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Arial" panose="020B0604020202020204"/>
              <a:buChar char="●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 defTabSz="914400">
              <a:lnSpc>
                <a:spcPct val="120000"/>
              </a:lnSpc>
              <a:buFont typeface="Arial" panose="020B0604020202020204"/>
              <a:buChar char="●"/>
              <a:tabLst>
                <a:tab pos="1609090" algn="l"/>
                <a:tab pos="1609090" algn="l"/>
                <a:tab pos="1609090" algn="l"/>
                <a:tab pos="1609090" algn="l"/>
              </a:tabLst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buFont typeface="Arial" panose="020B0604020202020204"/>
              <a:buChar char="●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buFont typeface="Wingdings" panose="05000000000000000000"/>
              <a:buChar char="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buFont typeface="Arial" panose="020B0604020202020204"/>
              <a:buChar char="•"/>
              <a:defRPr u="none" strike="noStrike" cap="none" spc="15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05394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11512584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11079723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1080074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1</a:t>
            </a:r>
            <a:endParaRPr lang="zh-CN"/>
          </a:p>
        </p:txBody>
      </p:sp>
      <p:sp>
        <p:nvSpPr>
          <p:cNvPr id="529681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915768" name="矩形 48"/>
          <p:cNvSpPr/>
          <p:nvPr/>
        </p:nvSpPr>
        <p:spPr bwMode="auto">
          <a:xfrm>
            <a:off x="2873860" y="403091"/>
            <a:ext cx="375348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altLang="zh-CN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Ventus GPGPU </a:t>
            </a: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性能分析</a:t>
            </a:r>
            <a:endParaRPr lang="zh-CN" altLang="en-US" sz="2400" b="1">
              <a:solidFill>
                <a:srgbClr val="B88F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3989553" name="Rectangle 2"/>
          <p:cNvSpPr>
            <a:spLocks noChangeArrowheads="1"/>
          </p:cNvSpPr>
          <p:nvPr/>
        </p:nvSpPr>
        <p:spPr bwMode="auto">
          <a:xfrm>
            <a:off x="158750" y="1812472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32417090" name="矩形 11"/>
          <p:cNvSpPr/>
          <p:nvPr/>
        </p:nvSpPr>
        <p:spPr bwMode="auto">
          <a:xfrm>
            <a:off x="5034280" y="4335145"/>
            <a:ext cx="7158355" cy="2506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eaLnBrk="1" fontAlgn="auto" latinLnBrk="0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1) </a:t>
            </a:r>
            <a:r>
              <a:rPr lang="zh-CN" altLang="en-US" sz="2000">
                <a:cs typeface="Times New Roman" panose="02020603050405020304"/>
              </a:rPr>
              <a:t>单</a:t>
            </a:r>
            <a:r>
              <a:rPr lang="en-US" altLang="zh-CN" sz="2000">
                <a:cs typeface="Times New Roman" panose="02020603050405020304"/>
              </a:rPr>
              <a:t>work-group </a:t>
            </a:r>
            <a:r>
              <a:rPr lang="en-US" altLang="en-US" sz="2000">
                <a:cs typeface="Times New Roman" panose="02020603050405020304"/>
              </a:rPr>
              <a:t>→</a:t>
            </a:r>
            <a:r>
              <a:rPr lang="en-US" altLang="zh-CN" sz="2000">
                <a:cs typeface="Times New Roman" panose="02020603050405020304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多work-group并行</a:t>
            </a:r>
            <a:r>
              <a:rPr lang="zh-CN" altLang="en-US" sz="2000">
                <a:cs typeface="Times New Roman" panose="02020603050405020304"/>
              </a:rPr>
              <a:t>化：显著提升吞吐量；</a:t>
            </a:r>
            <a:endParaRPr lang="zh-CN" altLang="en-US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2) 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预取优化</a:t>
            </a:r>
            <a:r>
              <a:rPr lang="zh-CN" altLang="en-US" sz="2000">
                <a:cs typeface="Times New Roman" panose="02020603050405020304"/>
              </a:rPr>
              <a:t>：利用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ping-pong buffer</a:t>
            </a:r>
            <a:r>
              <a:rPr lang="zh-CN" altLang="en-US" sz="2000">
                <a:cs typeface="Times New Roman" panose="02020603050405020304"/>
              </a:rPr>
              <a:t>隐藏全局内存访问延迟；</a:t>
            </a:r>
            <a:endParaRPr lang="en-US" altLang="zh-CN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3) </a:t>
            </a:r>
            <a:r>
              <a:rPr lang="zh-CN" altLang="en-US" sz="2000">
                <a:cs typeface="Times New Roman" panose="02020603050405020304"/>
              </a:rPr>
              <a:t>移除</a:t>
            </a:r>
            <a:r>
              <a:rPr lang="zh-CN" altLang="en-US" sz="2000" b="1">
                <a:cs typeface="Times New Roman" panose="02020603050405020304"/>
              </a:rPr>
              <a:t>不必要的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边界检查</a:t>
            </a:r>
            <a:r>
              <a:rPr lang="zh-CN" altLang="en-US" sz="2000">
                <a:cs typeface="Times New Roman" panose="02020603050405020304"/>
              </a:rPr>
              <a:t>和</a:t>
            </a:r>
            <a:r>
              <a:rPr lang="zh-CN" altLang="en-US" sz="2000" b="1">
                <a:solidFill>
                  <a:srgbClr val="C00000"/>
                </a:solidFill>
                <a:cs typeface="Times New Roman" panose="02020603050405020304"/>
              </a:rPr>
              <a:t>对齐</a:t>
            </a:r>
            <a:r>
              <a:rPr lang="zh-CN" altLang="en-US" sz="2000">
                <a:cs typeface="Times New Roman" panose="02020603050405020304"/>
              </a:rPr>
              <a:t>等，提升计算密度；</a:t>
            </a:r>
            <a:endParaRPr lang="en-US" altLang="zh-CN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4) 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循环展开</a:t>
            </a:r>
            <a:r>
              <a:rPr lang="zh-CN" altLang="en-US" sz="2000">
                <a:cs typeface="Times New Roman" panose="02020603050405020304"/>
              </a:rPr>
              <a:t>优化指令调度，减少循环控制开销；</a:t>
            </a:r>
            <a:endParaRPr lang="en-US" altLang="zh-CN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5) </a:t>
            </a:r>
            <a:r>
              <a:rPr lang="zh-CN" altLang="en-US" sz="2000" b="1">
                <a:cs typeface="Times New Roman" panose="02020603050405020304"/>
              </a:rPr>
              <a:t>计算逻辑</a:t>
            </a:r>
            <a:r>
              <a:rPr lang="zh-CN" altLang="en-US" sz="2000">
                <a:cs typeface="Times New Roman" panose="02020603050405020304"/>
              </a:rPr>
              <a:t>重构与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简化</a:t>
            </a:r>
            <a:r>
              <a:rPr lang="zh-CN" altLang="en-US" sz="2000">
                <a:cs typeface="Times New Roman" panose="02020603050405020304"/>
              </a:rPr>
              <a:t>：每个线程固定负责一个输出元素；</a:t>
            </a:r>
            <a:endParaRPr lang="en-US" altLang="zh-CN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6) </a:t>
            </a:r>
            <a:r>
              <a:rPr lang="zh-CN" altLang="en-US" sz="2000" b="1">
                <a:cs typeface="Times New Roman" panose="02020603050405020304"/>
              </a:rPr>
              <a:t>未来探索：算子融合</a:t>
            </a:r>
            <a:r>
              <a:rPr lang="zh-CN" altLang="en-US" sz="2000">
                <a:cs typeface="Times New Roman" panose="02020603050405020304"/>
              </a:rPr>
              <a:t>、</a:t>
            </a:r>
            <a:r>
              <a:rPr lang="zh-CN" altLang="en-US" sz="2000" b="1">
                <a:cs typeface="Times New Roman" panose="02020603050405020304"/>
              </a:rPr>
              <a:t>稀疏</a:t>
            </a:r>
            <a:r>
              <a:rPr lang="zh-CN" altLang="en-US" sz="2000">
                <a:cs typeface="Times New Roman" panose="02020603050405020304"/>
              </a:rPr>
              <a:t>加速（</a:t>
            </a:r>
            <a:r>
              <a:rPr lang="zh-CN" altLang="en-US" sz="2000">
                <a:cs typeface="Times New Roman" panose="02020603050405020304"/>
              </a:rPr>
              <a:t>算子限制）。</a:t>
            </a:r>
            <a:endParaRPr lang="zh-CN" altLang="en-US" sz="2000">
              <a:cs typeface="Times New Roman" panose="02020603050405020304"/>
            </a:endParaRPr>
          </a:p>
        </p:txBody>
      </p:sp>
      <p:sp>
        <p:nvSpPr>
          <p:cNvPr id="6" name="矩形 48"/>
          <p:cNvSpPr/>
          <p:nvPr/>
        </p:nvSpPr>
        <p:spPr bwMode="auto">
          <a:xfrm>
            <a:off x="338455" y="984250"/>
            <a:ext cx="3660775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defRPr/>
            </a:pP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endParaRPr lang="zh-CN" altLang="en-US" sz="2400" b="1">
              <a:solidFill>
                <a:srgbClr val="B88F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11"/>
          <p:cNvSpPr/>
          <p:nvPr/>
        </p:nvSpPr>
        <p:spPr bwMode="auto">
          <a:xfrm>
            <a:off x="338455" y="1381125"/>
            <a:ext cx="11482705" cy="2399665"/>
          </a:xfrm>
          <a:prstGeom prst="rect">
            <a:avLst/>
          </a:prstGeom>
        </p:spPr>
        <p:txBody>
          <a:bodyPr wrap="square">
            <a:spAutoFit/>
          </a:bodyPr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>
                <a:cs typeface="Times New Roman" panose="02020603050405020304"/>
                <a:sym typeface="+mn-ea"/>
              </a:rPr>
              <a:t>· </a:t>
            </a:r>
            <a:r>
              <a:rPr lang="zh-CN" altLang="en-US" sz="2000">
                <a:cs typeface="Times New Roman" panose="02020603050405020304"/>
                <a:sym typeface="+mn-ea"/>
              </a:rPr>
              <a:t>编写</a:t>
            </a:r>
            <a:r>
              <a:rPr lang="en-US" altLang="zh-CN" sz="2000">
                <a:cs typeface="Times New Roman" panose="02020603050405020304"/>
                <a:sym typeface="+mn-ea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  <a:sym typeface="+mn-ea"/>
              </a:rPr>
              <a:t>10+ </a:t>
            </a:r>
            <a:r>
              <a:rPr lang="zh-CN" altLang="en-US" sz="2000">
                <a:cs typeface="Times New Roman" panose="02020603050405020304"/>
                <a:sym typeface="+mn-ea"/>
              </a:rPr>
              <a:t>个可</a:t>
            </a:r>
            <a:r>
              <a:rPr lang="zh-CN" altLang="en-US" sz="2000" b="1">
                <a:cs typeface="Times New Roman" panose="02020603050405020304"/>
                <a:sym typeface="+mn-ea"/>
              </a:rPr>
              <a:t>流式解析日志</a:t>
            </a:r>
            <a:r>
              <a:rPr lang="zh-CN" altLang="en-US" sz="2000">
                <a:cs typeface="Times New Roman" panose="02020603050405020304"/>
                <a:sym typeface="+mn-ea"/>
              </a:rPr>
              <a:t>的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  <a:sym typeface="+mn-ea"/>
              </a:rPr>
              <a:t>分析工具链</a:t>
            </a:r>
            <a:r>
              <a:rPr lang="zh-CN" altLang="en-US" sz="2000">
                <a:cs typeface="Times New Roman" panose="02020603050405020304"/>
                <a:sym typeface="+mn-ea"/>
              </a:rPr>
              <a:t>脚本，</a:t>
            </a:r>
            <a:r>
              <a:rPr lang="zh-CN" altLang="en-US" sz="2000">
                <a:cs typeface="Times New Roman" panose="02020603050405020304"/>
                <a:sym typeface="+mn-ea"/>
              </a:rPr>
              <a:t>可视化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  <a:sym typeface="+mn-ea"/>
              </a:rPr>
              <a:t>时间来源</a:t>
            </a:r>
            <a:r>
              <a:rPr lang="zh-CN" altLang="en-US" sz="2000">
                <a:cs typeface="Times New Roman" panose="02020603050405020304"/>
                <a:sym typeface="+mn-ea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  <a:sym typeface="+mn-ea"/>
              </a:rPr>
              <a:t>SM / Warp 负载</a:t>
            </a:r>
            <a:r>
              <a:rPr lang="zh-CN" altLang="en-US" sz="2000" b="1">
                <a:solidFill>
                  <a:srgbClr val="C00000"/>
                </a:solidFill>
                <a:cs typeface="Times New Roman" panose="02020603050405020304"/>
                <a:sym typeface="+mn-ea"/>
              </a:rPr>
              <a:t>调度</a:t>
            </a:r>
            <a:r>
              <a:rPr lang="zh-CN" altLang="en-US" sz="2000">
                <a:cs typeface="Times New Roman" panose="02020603050405020304"/>
                <a:sym typeface="+mn-ea"/>
              </a:rPr>
              <a:t>等统计规律；</a:t>
            </a:r>
            <a:endParaRPr lang="zh-CN" altLang="en-US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· </a:t>
            </a:r>
            <a:r>
              <a:rPr lang="zh-CN" altLang="en-US" sz="2000">
                <a:cs typeface="Times New Roman" panose="02020603050405020304"/>
              </a:rPr>
              <a:t>结合</a:t>
            </a:r>
            <a:r>
              <a:rPr lang="zh-CN" altLang="en-US" sz="2000" b="1">
                <a:cs typeface="Times New Roman" panose="02020603050405020304"/>
              </a:rPr>
              <a:t>日志</a:t>
            </a:r>
            <a:r>
              <a:rPr lang="zh-CN" altLang="en-US" sz="2000">
                <a:cs typeface="Times New Roman" panose="02020603050405020304"/>
                <a:sym typeface="+mn-ea"/>
              </a:rPr>
              <a:t>与</a:t>
            </a:r>
            <a:r>
              <a:rPr lang="zh-CN" altLang="en-US" sz="2000" b="1">
                <a:cs typeface="Times New Roman" panose="02020603050405020304"/>
                <a:sym typeface="+mn-ea"/>
              </a:rPr>
              <a:t>RISCV汇编</a:t>
            </a:r>
            <a:r>
              <a:rPr lang="zh-CN" altLang="en-US" sz="2000">
                <a:cs typeface="Times New Roman" panose="02020603050405020304"/>
                <a:sym typeface="+mn-ea"/>
              </a:rPr>
              <a:t>文件</a:t>
            </a:r>
            <a:r>
              <a:rPr lang="zh-CN" altLang="en-US" sz="2000">
                <a:cs typeface="Times New Roman" panose="02020603050405020304"/>
              </a:rPr>
              <a:t>，还原</a:t>
            </a:r>
            <a:r>
              <a:rPr lang="en-US" altLang="zh-CN" sz="2000">
                <a:cs typeface="Times New Roman" panose="02020603050405020304"/>
              </a:rPr>
              <a:t>Ventus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循环嵌套</a:t>
            </a:r>
            <a:r>
              <a:rPr lang="zh-CN" altLang="en-US" sz="2000">
                <a:cs typeface="Times New Roman" panose="02020603050405020304"/>
              </a:rPr>
              <a:t>与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执行路径</a:t>
            </a:r>
            <a:r>
              <a:rPr lang="zh-CN" altLang="en-US" sz="2000">
                <a:cs typeface="Times New Roman" panose="02020603050405020304"/>
              </a:rPr>
              <a:t>，提高</a:t>
            </a:r>
            <a:r>
              <a:rPr lang="zh-CN" altLang="en-US" sz="2000">
                <a:cs typeface="Times New Roman" panose="02020603050405020304"/>
              </a:rPr>
              <a:t>执行可解释性；</a:t>
            </a:r>
            <a:endParaRPr lang="zh-CN" altLang="en-US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· </a:t>
            </a:r>
            <a:r>
              <a:rPr lang="zh-CN" altLang="en-US" sz="2000">
                <a:cs typeface="Times New Roman" panose="02020603050405020304"/>
              </a:rPr>
              <a:t>基于</a:t>
            </a:r>
            <a:r>
              <a:rPr lang="zh-CN" altLang="en-US" sz="2000" b="1">
                <a:cs typeface="Times New Roman" panose="02020603050405020304"/>
              </a:rPr>
              <a:t>跳转地址</a:t>
            </a:r>
            <a:r>
              <a:rPr lang="zh-CN" altLang="en-US" sz="2000">
                <a:cs typeface="Times New Roman" panose="02020603050405020304"/>
              </a:rPr>
              <a:t>、</a:t>
            </a:r>
            <a:r>
              <a:rPr lang="zh-CN" altLang="en-US" sz="2000" b="1">
                <a:cs typeface="Times New Roman" panose="02020603050405020304"/>
              </a:rPr>
              <a:t>指令</a:t>
            </a:r>
            <a:r>
              <a:rPr lang="zh-CN" altLang="en-US" sz="2000">
                <a:cs typeface="Times New Roman" panose="02020603050405020304"/>
              </a:rPr>
              <a:t>及</a:t>
            </a:r>
            <a:r>
              <a:rPr lang="zh-CN" altLang="en-US" sz="2000" b="1">
                <a:cs typeface="Times New Roman" panose="02020603050405020304"/>
              </a:rPr>
              <a:t>数据分布</a:t>
            </a:r>
            <a:r>
              <a:rPr lang="zh-CN" altLang="en-US" sz="2000">
                <a:cs typeface="Times New Roman" panose="02020603050405020304"/>
              </a:rPr>
              <a:t>，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建立存储空间模型</a:t>
            </a:r>
            <a:r>
              <a:rPr lang="zh-CN" altLang="en-US" sz="2000">
                <a:cs typeface="Times New Roman" panose="02020603050405020304"/>
              </a:rPr>
              <a:t>，对</a:t>
            </a:r>
            <a:r>
              <a:rPr lang="zh-CN" altLang="en-US" sz="2000" b="1">
                <a:cs typeface="Times New Roman" panose="02020603050405020304"/>
              </a:rPr>
              <a:t>全局内存</a:t>
            </a:r>
            <a:r>
              <a:rPr lang="zh-CN" altLang="en-US" sz="2000">
                <a:cs typeface="Times New Roman" panose="02020603050405020304"/>
              </a:rPr>
              <a:t>、</a:t>
            </a:r>
            <a:r>
              <a:rPr lang="zh-CN" altLang="en-US" sz="2000" b="1">
                <a:cs typeface="Times New Roman" panose="02020603050405020304"/>
              </a:rPr>
              <a:t>共享存储</a:t>
            </a:r>
            <a:r>
              <a:rPr lang="zh-CN" altLang="en-US" sz="2000">
                <a:cs typeface="Times New Roman" panose="02020603050405020304"/>
              </a:rPr>
              <a:t>、</a:t>
            </a:r>
            <a:r>
              <a:rPr lang="zh-CN" altLang="en-US" sz="2000" b="1">
                <a:cs typeface="Times New Roman" panose="02020603050405020304"/>
              </a:rPr>
              <a:t>私有寄存器</a:t>
            </a:r>
            <a:r>
              <a:rPr lang="zh-CN" altLang="en-US" sz="2000">
                <a:cs typeface="Times New Roman" panose="02020603050405020304"/>
              </a:rPr>
              <a:t>建模</a:t>
            </a:r>
            <a:r>
              <a:rPr lang="zh-CN" altLang="en-US" sz="2000">
                <a:cs typeface="Times New Roman" panose="02020603050405020304"/>
              </a:rPr>
              <a:t>；</a:t>
            </a:r>
            <a:endParaRPr lang="zh-CN" altLang="en-US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· </a:t>
            </a:r>
            <a:r>
              <a:rPr lang="zh-CN" altLang="en-US" sz="2000">
                <a:cs typeface="Times New Roman" panose="02020603050405020304"/>
              </a:rPr>
              <a:t>通过</a:t>
            </a:r>
            <a:r>
              <a:rPr lang="zh-CN" altLang="en-US" sz="2000" b="1">
                <a:cs typeface="Times New Roman" panose="02020603050405020304"/>
              </a:rPr>
              <a:t>指令外推</a:t>
            </a:r>
            <a:r>
              <a:rPr lang="zh-CN" altLang="en-US" sz="2000">
                <a:cs typeface="Times New Roman" panose="02020603050405020304"/>
              </a:rPr>
              <a:t>，对</a:t>
            </a:r>
            <a:r>
              <a:rPr lang="zh-CN" altLang="en-US" sz="2000" b="1">
                <a:cs typeface="Times New Roman" panose="02020603050405020304"/>
              </a:rPr>
              <a:t>GEMM执行时间</a:t>
            </a:r>
            <a:r>
              <a:rPr lang="zh-CN" altLang="en-US" sz="2000">
                <a:cs typeface="Times New Roman" panose="02020603050405020304"/>
              </a:rPr>
              <a:t>进行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预测建模</a:t>
            </a:r>
            <a:r>
              <a:rPr lang="zh-CN" altLang="en-US" sz="2000">
                <a:cs typeface="Times New Roman" panose="02020603050405020304"/>
              </a:rPr>
              <a:t>（最终基于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指令数</a:t>
            </a:r>
            <a:r>
              <a:rPr lang="zh-CN" altLang="en-US" sz="2000">
                <a:cs typeface="Times New Roman" panose="02020603050405020304"/>
              </a:rPr>
              <a:t>的时间推算式误差为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0.155%</a:t>
            </a:r>
            <a:r>
              <a:rPr lang="zh-CN" altLang="en-US" sz="2000">
                <a:cs typeface="Times New Roman" panose="02020603050405020304"/>
              </a:rPr>
              <a:t>）。</a:t>
            </a:r>
            <a:endParaRPr lang="zh-CN" altLang="en-US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· </a:t>
            </a:r>
            <a:r>
              <a:rPr lang="zh-CN" altLang="en-US" sz="2000">
                <a:cs typeface="Times New Roman" panose="02020603050405020304"/>
              </a:rPr>
              <a:t>系统评估</a:t>
            </a:r>
            <a:r>
              <a:rPr lang="en-US" altLang="zh-CN" sz="2000">
                <a:cs typeface="Times New Roman" panose="02020603050405020304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work-group 数</a:t>
            </a:r>
            <a:r>
              <a:rPr lang="zh-CN" altLang="en-US" sz="2000">
                <a:cs typeface="Times New Roman" panose="02020603050405020304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边界检查</a:t>
            </a:r>
            <a:r>
              <a:rPr lang="zh-CN" altLang="en-US" sz="2000">
                <a:cs typeface="Times New Roman" panose="02020603050405020304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MMA</a:t>
            </a:r>
            <a:r>
              <a:rPr lang="zh-CN" altLang="en-US" sz="2000" b="1">
                <a:solidFill>
                  <a:srgbClr val="C00000"/>
                </a:solidFill>
                <a:cs typeface="Times New Roman" panose="02020603050405020304"/>
              </a:rPr>
              <a:t>不同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算子</a:t>
            </a:r>
            <a:r>
              <a:rPr lang="en-US" altLang="zh-CN" sz="2000">
                <a:cs typeface="Times New Roman" panose="02020603050405020304"/>
              </a:rPr>
              <a:t> </a:t>
            </a:r>
            <a:r>
              <a:rPr lang="zh-CN" altLang="en-US" sz="2000">
                <a:cs typeface="Times New Roman" panose="02020603050405020304"/>
              </a:rPr>
              <a:t>等参数组合，选取</a:t>
            </a:r>
            <a:r>
              <a:rPr lang="zh-CN" altLang="en-US" sz="2000" b="1">
                <a:cs typeface="Times New Roman" panose="02020603050405020304"/>
              </a:rPr>
              <a:t>最优内核</a:t>
            </a:r>
            <a:r>
              <a:rPr lang="zh-CN" altLang="en-US" sz="2000">
                <a:cs typeface="Times New Roman" panose="02020603050405020304"/>
              </a:rPr>
              <a:t>并给出指令级</a:t>
            </a:r>
            <a:r>
              <a:rPr lang="zh-CN" altLang="en-US" sz="2000" b="1">
                <a:cs typeface="Times New Roman" panose="02020603050405020304"/>
              </a:rPr>
              <a:t>归因</a:t>
            </a:r>
            <a:r>
              <a:rPr lang="zh-CN" altLang="en-US" sz="2000">
                <a:cs typeface="Times New Roman" panose="02020603050405020304"/>
              </a:rPr>
              <a:t>。</a:t>
            </a:r>
            <a:endParaRPr lang="zh-CN" altLang="en-US" sz="2000">
              <a:cs typeface="Times New Roman" panose="02020603050405020304"/>
            </a:endParaRPr>
          </a:p>
        </p:txBody>
      </p:sp>
      <p:sp>
        <p:nvSpPr>
          <p:cNvPr id="8" name="矩形 11"/>
          <p:cNvSpPr/>
          <p:nvPr/>
        </p:nvSpPr>
        <p:spPr bwMode="auto">
          <a:xfrm>
            <a:off x="338455" y="4458970"/>
            <a:ext cx="4671060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>
                <a:cs typeface="Times New Roman" panose="02020603050405020304"/>
              </a:rPr>
              <a:t>端到端加速：</a:t>
            </a:r>
            <a:r>
              <a:rPr lang="en-US" altLang="zh-CN" sz="2000" b="1">
                <a:cs typeface="Times New Roman" panose="02020603050405020304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4.35x</a:t>
            </a:r>
            <a:r>
              <a:rPr lang="zh-CN" altLang="en-US" sz="2000">
                <a:cs typeface="Times New Roman" panose="02020603050405020304"/>
              </a:rPr>
              <a:t>（相对</a:t>
            </a:r>
            <a:r>
              <a:rPr lang="zh-CN" altLang="en-US" sz="2000" b="1">
                <a:cs typeface="Times New Roman" panose="02020603050405020304"/>
              </a:rPr>
              <a:t>官方例程</a:t>
            </a:r>
            <a:r>
              <a:rPr lang="zh-CN" altLang="en-US" sz="2000">
                <a:cs typeface="Times New Roman" panose="02020603050405020304"/>
              </a:rPr>
              <a:t>）</a:t>
            </a:r>
            <a:endParaRPr lang="zh-CN" altLang="en-US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>
                <a:cs typeface="Times New Roman" panose="02020603050405020304"/>
              </a:rPr>
              <a:t>峰值吞吐：</a:t>
            </a:r>
            <a:r>
              <a:rPr lang="en-US" altLang="zh-CN" sz="2000" b="1">
                <a:cs typeface="Times New Roman" panose="02020603050405020304"/>
              </a:rPr>
              <a:t>     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1351 MFLOPS</a:t>
            </a:r>
            <a:r>
              <a:rPr lang="en-US" altLang="zh-CN" sz="2000">
                <a:cs typeface="Times New Roman" panose="02020603050405020304"/>
              </a:rPr>
              <a:t> </a:t>
            </a:r>
            <a:endParaRPr lang="en-US" altLang="zh-CN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000">
                <a:cs typeface="Times New Roman" panose="02020603050405020304"/>
              </a:rPr>
              <a:t>      (Baseline: 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310 MFLOPS</a:t>
            </a:r>
            <a:r>
              <a:rPr lang="en-US" altLang="zh-CN" sz="2000">
                <a:cs typeface="Times New Roman" panose="02020603050405020304"/>
              </a:rPr>
              <a:t>)</a:t>
            </a:r>
            <a:endParaRPr lang="zh-CN" altLang="en-US" sz="2000">
              <a:cs typeface="Times New Roman" panose="02020603050405020304"/>
            </a:endParaRPr>
          </a:p>
          <a:p>
            <a:pPr indent="0" eaLnBrk="1" fontAlgn="auto" latinLnBrk="0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>
                <a:cs typeface="Times New Roman" panose="02020603050405020304"/>
              </a:rPr>
              <a:t>可解释性：</a:t>
            </a:r>
            <a:r>
              <a:rPr lang="en-US" altLang="zh-CN" sz="2000" b="1">
                <a:cs typeface="Times New Roman" panose="02020603050405020304"/>
              </a:rPr>
              <a:t>     </a:t>
            </a:r>
            <a:r>
              <a:rPr lang="zh-CN" altLang="en-US" sz="2000">
                <a:cs typeface="Times New Roman" panose="02020603050405020304"/>
              </a:rPr>
              <a:t>深度解析</a:t>
            </a:r>
            <a:r>
              <a:rPr lang="en-US" altLang="zh-CN" sz="2000" b="1">
                <a:solidFill>
                  <a:srgbClr val="C00000"/>
                </a:solidFill>
                <a:cs typeface="Times New Roman" panose="02020603050405020304"/>
              </a:rPr>
              <a:t>加速来源</a:t>
            </a:r>
            <a:endParaRPr lang="en-US" altLang="zh-CN" sz="2000" b="1">
              <a:solidFill>
                <a:srgbClr val="C00000"/>
              </a:solidFill>
              <a:cs typeface="Times New Roman" panose="02020603050405020304"/>
            </a:endParaRPr>
          </a:p>
        </p:txBody>
      </p:sp>
      <p:sp>
        <p:nvSpPr>
          <p:cNvPr id="14" name="矩形 48"/>
          <p:cNvSpPr/>
          <p:nvPr/>
        </p:nvSpPr>
        <p:spPr bwMode="auto">
          <a:xfrm>
            <a:off x="338455" y="3998595"/>
            <a:ext cx="4319905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defRPr/>
            </a:pP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</a:t>
            </a:r>
            <a:endParaRPr lang="zh-CN" altLang="en-US" sz="2400" b="1">
              <a:solidFill>
                <a:srgbClr val="B88F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48"/>
          <p:cNvSpPr/>
          <p:nvPr/>
        </p:nvSpPr>
        <p:spPr bwMode="auto">
          <a:xfrm>
            <a:off x="5034280" y="3874770"/>
            <a:ext cx="2952750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defRPr/>
            </a:pP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endParaRPr lang="zh-CN" altLang="en-US" sz="2400" b="1">
              <a:solidFill>
                <a:srgbClr val="B88F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684691" name="矩形 48"/>
          <p:cNvSpPr/>
          <p:nvPr/>
        </p:nvSpPr>
        <p:spPr bwMode="auto">
          <a:xfrm>
            <a:off x="2873858" y="403091"/>
            <a:ext cx="412654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GEMM </a:t>
            </a: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优化方法</a:t>
            </a:r>
            <a:endParaRPr lang="zh-CN" altLang="en-US" sz="2400" b="1">
              <a:solidFill>
                <a:srgbClr val="B88F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7510" y="810260"/>
            <a:ext cx="5815330" cy="2109470"/>
          </a:xfrm>
          <a:prstGeom prst="rect">
            <a:avLst/>
          </a:prstGeom>
        </p:spPr>
        <p:txBody>
          <a:bodyPr>
            <a:no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多Work-Group</a:t>
            </a:r>
            <a:endParaRPr lang="en-US" altLang="zh-CN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发现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：官方实现强制</a:t>
            </a:r>
            <a:r>
              <a:rPr lang="en-US" altLang="zh-CN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 == local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硬件并行度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不足；</a:t>
            </a:r>
            <a:endParaRPr lang="en-US" altLang="zh-CN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优化目标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：让多个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Work-Group 并行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覆盖输出矩阵的 Tiles；</a:t>
            </a:r>
            <a:endParaRPr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实现方法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：采用</a:t>
            </a:r>
            <a:r>
              <a:rPr lang="en-US" altLang="zh-CN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Persistent Blocks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：启动固定大小的</a:t>
            </a:r>
            <a:r>
              <a:rPr lang="en-US" altLang="zh-CN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Work-Group（选择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2×2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），通过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步进循环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处理多组输出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Tiles。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ts val="500"/>
              </a:lnSpc>
              <a:buClrTx/>
              <a:buSzTx/>
              <a:buFontTx/>
            </a:pPr>
            <a:endParaRPr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1"/>
            </p:custDataLst>
          </p:nvPr>
        </p:nvGraphicFramePr>
        <p:xfrm>
          <a:off x="473710" y="3369945"/>
          <a:ext cx="1041908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235"/>
                <a:gridCol w="1332230"/>
                <a:gridCol w="791845"/>
                <a:gridCol w="683895"/>
                <a:gridCol w="1692275"/>
                <a:gridCol w="1367790"/>
                <a:gridCol w="878840"/>
                <a:gridCol w="2052320"/>
              </a:tblGrid>
              <a:tr h="30480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M,N,K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内存类指令占比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计算类指令占比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性能瓶颈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04800"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VLW12_V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LW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SW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VFMADD_VV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VMUL_VX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VADD</a:t>
                      </a:r>
                      <a:endPara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512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19.7%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1.2%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0.6%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4.6%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0.0%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20.5%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FMA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饱和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| 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占比收敛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384810" y="4276725"/>
            <a:ext cx="10627995" cy="829945"/>
          </a:xfrm>
          <a:prstGeom prst="rect">
            <a:avLst/>
          </a:prstGeom>
        </p:spPr>
        <p:txBody>
          <a:bodyPr>
            <a:noAutofit/>
          </a:bodyPr>
          <a:p>
            <a:pPr indent="0" algn="l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</a:rPr>
              <a:t>实现方法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</a:rPr>
              <a:t>：分析内核，发现大多控制指令来自对运算的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</a:rPr>
              <a:t>边界检查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</a:rPr>
              <a:t>。可修改内核代码，修改为边界检查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</a:rPr>
              <a:t>可选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</a:rPr>
              <a:t>启动。</a:t>
            </a:r>
            <a:endParaRPr lang="en-US" altLang="zh-CN" sz="1600" b="0" i="0">
              <a:latin typeface="微软雅黑" panose="020B0503020204020204" charset="-122"/>
              <a:ea typeface="微软雅黑" panose="020B0503020204020204" charset="-122"/>
              <a:cs typeface="Noto Serif CJK SC Light" panose="020203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7985" y="4491355"/>
            <a:ext cx="11804015" cy="1563370"/>
          </a:xfrm>
          <a:prstGeom prst="rect">
            <a:avLst/>
          </a:prstGeom>
        </p:spPr>
        <p:txBody>
          <a:bodyPr>
            <a:noAutofit/>
          </a:bodyPr>
          <a:p>
            <a:pPr algn="l" eaLnBrk="1" fontAlgn="auto" latinLnBrk="0" hangingPunct="1">
              <a:lnSpc>
                <a:spcPct val="150000"/>
              </a:lnSpc>
              <a:buClrTx/>
              <a:buSzTx/>
              <a:buFontTx/>
            </a:pPr>
            <a:r>
              <a:rPr lang="en-US" altLang="zh-CN" sz="18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预取优化（Ping-Pong Buffer）</a:t>
            </a:r>
            <a:endParaRPr lang="en-US" altLang="zh-CN" sz="18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发现问题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分析日志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，发现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内存访问延迟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极高，计算单元经常因等待数据而空闲。</a:t>
            </a:r>
            <a:endParaRPr lang="en-US" altLang="zh-CN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优化目标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：隐藏内存访问延迟，实现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计算与访存重叠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实现方法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：采用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双缓冲（Ping-Pong）机制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预取数据；在计算当前</a:t>
            </a:r>
            <a:r>
              <a:rPr lang="en-US" altLang="zh-CN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Tile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的同时，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预取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下一个</a:t>
            </a:r>
            <a:r>
              <a:rPr lang="en-US" altLang="zh-CN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Tile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到寄存器</a:t>
            </a:r>
            <a:r>
              <a:rPr lang="zh-CN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避免重复全局内存访问。</a:t>
            </a:r>
            <a:endParaRPr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8145" y="2282190"/>
            <a:ext cx="5814695" cy="575945"/>
          </a:xfrm>
          <a:prstGeom prst="rect">
            <a:avLst/>
          </a:prstGeom>
        </p:spPr>
        <p:txBody>
          <a:bodyPr>
            <a:no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8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边界检查</a:t>
            </a:r>
            <a:endParaRPr lang="en-US" altLang="zh-CN" sz="18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发现问题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：通过输出</a:t>
            </a:r>
            <a:r>
              <a:rPr lang="en-US" altLang="zh-CN" sz="16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日志分析</a:t>
            </a:r>
            <a:r>
              <a:rPr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，发现指令占比如下。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发现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控制开销（达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50%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）成为主导，限制了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FLOPS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提升空间。</a:t>
            </a:r>
            <a:endParaRPr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20000"/>
              </a:lnSpc>
              <a:buClrTx/>
              <a:buSzTx/>
              <a:buFontTx/>
            </a:pPr>
            <a:endParaRPr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841990" y="3333750"/>
            <a:ext cx="1202690" cy="302895"/>
          </a:xfrm>
          <a:prstGeom prst="rect">
            <a:avLst/>
          </a:prstGeom>
        </p:spPr>
        <p:txBody>
          <a:bodyPr>
            <a:noAutofit/>
          </a:bodyPr>
          <a:p>
            <a:pPr indent="0" algn="r" eaLnBrk="1" fontAlgn="auto" latinLnBrk="0" hangingPunct="1">
              <a:lnSpc>
                <a:spcPts val="500"/>
              </a:lnSpc>
              <a:buClrTx/>
              <a:buSzTx/>
              <a:buFontTx/>
            </a:pP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385560" y="269240"/>
          <a:ext cx="10116185" cy="1737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24000"/>
                <a:gridCol w="1044000"/>
                <a:gridCol w="1044000"/>
                <a:gridCol w="1044000"/>
                <a:gridCol w="1044000"/>
              </a:tblGrid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*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消融实验</a:t>
                      </a:r>
                      <a:endParaRPr lang="en-US" altLang="zh-CN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无预取</a:t>
                      </a:r>
                      <a:endParaRPr lang="zh-CN" altLang="en-US" sz="1600">
                        <a:latin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无展开</a:t>
                      </a:r>
                      <a:endParaRPr lang="en-US" altLang="zh-CN" sz="1600">
                        <a:latin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无预取</a:t>
                      </a:r>
                      <a:endParaRPr lang="zh-CN" altLang="en-US" sz="1600">
                        <a:latin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展开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预取</a:t>
                      </a:r>
                      <a:r>
                        <a:rPr lang="en-US" altLang="zh-CN" sz="1600">
                          <a:latin typeface="+mn-ea"/>
                        </a:rPr>
                        <a:t>+</a:t>
                      </a:r>
                      <a:endParaRPr lang="en-US" altLang="zh-CN" sz="1600">
                        <a:latin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无</a:t>
                      </a:r>
                      <a:r>
                        <a:rPr lang="zh-CN" altLang="en-US" sz="1600">
                          <a:latin typeface="+mn-ea"/>
                        </a:rPr>
                        <a:t>展开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预取</a:t>
                      </a:r>
                      <a:endParaRPr lang="zh-CN" altLang="en-US" sz="1600">
                        <a:latin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展开</a:t>
                      </a:r>
                      <a:endParaRPr lang="en-US" altLang="zh-CN" sz="1600">
                        <a:latin typeface="+mn-ea"/>
                      </a:endParaRPr>
                    </a:p>
                  </a:txBody>
                  <a:tcPr anchor="ctr" anchorCtr="0"/>
                </a:tc>
              </a:tr>
              <a:tr h="33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 </a:t>
                      </a: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WG</a:t>
                      </a: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+ 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无边界检查</a:t>
                      </a:r>
                      <a:endPara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401.55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 MFLOPS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3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 </a:t>
                      </a: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WG</a:t>
                      </a: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+ 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边界检查</a:t>
                      </a:r>
                      <a:endPara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309.87 MFLOPS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25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 </a:t>
                      </a: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WG</a:t>
                      </a: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 + 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无边界</a:t>
                      </a: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检查</a:t>
                      </a:r>
                      <a:endParaRPr lang="zh-CN" altLang="en-US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  <a:sym typeface="+mn-ea"/>
                        </a:rPr>
                        <a:t>708.46 MFLOPS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958.05 MFLOPS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896.21 MFLOPS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</a:rPr>
                        <a:t>1307.59 MFLOPS</a:t>
                      </a:r>
                      <a:endParaRPr lang="zh-CN" altLang="en-US" sz="16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anchor="ctr" anchorCtr="0"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 </a:t>
                      </a: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WG</a:t>
                      </a: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+ 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边界检查</a:t>
                      </a:r>
                      <a:endParaRPr lang="zh-CN" altLang="en-US" sz="16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509.00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 MFLOPS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923.58 MFLOPS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576.24 MFLOPS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98145" y="5534025"/>
            <a:ext cx="11646535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1" fontAlgn="auto" latinLnBrk="0" hangingPunct="1">
              <a:lnSpc>
                <a:spcPct val="150000"/>
              </a:lnSpc>
              <a:buClrTx/>
              <a:buSzTx/>
              <a:buFontTx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循环展开优化</a:t>
            </a:r>
            <a:endParaRPr lang="en-US" altLang="zh-CN" sz="18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1" fontAlgn="auto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发现问题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循环控制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开销显著，特别是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  <a:sym typeface="+mn-ea"/>
              </a:rPr>
              <a:t>内层循环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的小规模迭代导致频繁的循环控制指令。</a:t>
            </a:r>
            <a:endParaRPr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1" fontAlgn="auto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优化目标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：减少循环控制开销，提高指令级并行度。</a:t>
            </a:r>
            <a:endParaRPr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1" fontAlgn="auto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实现方法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：通过编译器指令展开内层循环，经过多次测试，发现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#pragma unroll 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时加速效果最好（不加参数反而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降低性能）。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37140" y="3369945"/>
            <a:ext cx="2054225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  <a:sym typeface="+mn-ea"/>
              </a:rPr>
              <a:t>优化目标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  <a:sym typeface="+mn-ea"/>
              </a:rPr>
              <a:t>：减少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+mn-ea"/>
              </a:rPr>
              <a:t>控制指令开销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Noto Serif CJK SC Light" panose="02020300000000000000" charset="-122"/>
                <a:sym typeface="+mn-ea"/>
              </a:rPr>
              <a:t>，提高计算指令占比。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Noto Serif CJK SC Light" panose="020203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684691" name="矩形 48"/>
          <p:cNvSpPr/>
          <p:nvPr/>
        </p:nvSpPr>
        <p:spPr bwMode="auto">
          <a:xfrm>
            <a:off x="2873858" y="403091"/>
            <a:ext cx="412654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</a:t>
            </a:r>
            <a:r>
              <a:rPr lang="zh-CN" altLang="en-US" sz="2400" b="1">
                <a:solidFill>
                  <a:srgbClr val="B88F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来源解析</a:t>
            </a:r>
            <a:endParaRPr lang="zh-CN" altLang="en-US" sz="2400" b="1">
              <a:solidFill>
                <a:srgbClr val="B88F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29687022" name="Rectangle 2"/>
          <p:cNvSpPr>
            <a:spLocks noChangeArrowheads="1"/>
          </p:cNvSpPr>
          <p:nvPr/>
        </p:nvSpPr>
        <p:spPr bwMode="auto">
          <a:xfrm>
            <a:off x="158750" y="1812472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矩形 11"/>
          <p:cNvSpPr/>
          <p:nvPr/>
        </p:nvSpPr>
        <p:spPr bwMode="auto">
          <a:xfrm>
            <a:off x="338455" y="982345"/>
            <a:ext cx="8249920" cy="460375"/>
          </a:xfrm>
          <a:prstGeom prst="rect">
            <a:avLst/>
          </a:prstGeom>
        </p:spPr>
        <p:txBody>
          <a:bodyPr wrap="square">
            <a:spAutoFit/>
          </a:bodyPr>
          <a:p>
            <a:pPr indent="0" eaLnBrk="1" fontAlgn="auto" latinLnBrk="0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000">
                <a:cs typeface="Times New Roman" panose="02020603050405020304"/>
              </a:rPr>
              <a:t>通过脚本解读</a:t>
            </a:r>
            <a:r>
              <a:rPr lang="zh-CN" altLang="en-US" sz="2000" b="1">
                <a:cs typeface="Times New Roman" panose="02020603050405020304"/>
              </a:rPr>
              <a:t>日志</a:t>
            </a:r>
            <a:r>
              <a:rPr lang="zh-CN" altLang="en-US" sz="2000">
                <a:cs typeface="Times New Roman" panose="02020603050405020304"/>
              </a:rPr>
              <a:t>，可视化对比</a:t>
            </a:r>
            <a:r>
              <a:rPr lang="zh-CN" altLang="en-US" sz="2000">
                <a:cs typeface="Times New Roman" panose="02020603050405020304"/>
              </a:rPr>
              <a:t>如下：</a:t>
            </a:r>
            <a:endParaRPr lang="en-US" altLang="zh-CN" sz="2000">
              <a:solidFill>
                <a:srgbClr val="C00000"/>
              </a:solidFill>
              <a:cs typeface="Times New Roman" panose="02020603050405020304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211185" y="1101725"/>
            <a:ext cx="3733800" cy="4876165"/>
            <a:chOff x="12736" y="1360"/>
            <a:chExt cx="5900" cy="7706"/>
          </a:xfrm>
        </p:grpSpPr>
        <p:pic>
          <p:nvPicPr>
            <p:cNvPr id="16" name="图片 15" descr="sm_warp_balance_heatmap"/>
            <p:cNvPicPr>
              <a:picLocks noChangeAspect="1"/>
            </p:cNvPicPr>
            <p:nvPr/>
          </p:nvPicPr>
          <p:blipFill>
            <a:blip r:embed="rId2"/>
            <a:srcRect r="50880"/>
            <a:stretch>
              <a:fillRect/>
            </a:stretch>
          </p:blipFill>
          <p:spPr>
            <a:xfrm>
              <a:off x="12774" y="1360"/>
              <a:ext cx="5863" cy="3780"/>
            </a:xfrm>
            <a:prstGeom prst="rect">
              <a:avLst/>
            </a:prstGeom>
          </p:spPr>
        </p:pic>
        <p:pic>
          <p:nvPicPr>
            <p:cNvPr id="18" name="图片 17" descr="sm_warp_balance_heatmap"/>
            <p:cNvPicPr>
              <a:picLocks noChangeAspect="1"/>
            </p:cNvPicPr>
            <p:nvPr/>
          </p:nvPicPr>
          <p:blipFill>
            <a:blip r:embed="rId2"/>
            <a:srcRect l="49143"/>
            <a:stretch>
              <a:fillRect/>
            </a:stretch>
          </p:blipFill>
          <p:spPr>
            <a:xfrm>
              <a:off x="12736" y="5400"/>
              <a:ext cx="5886" cy="3666"/>
            </a:xfrm>
            <a:prstGeom prst="rect">
              <a:avLst/>
            </a:prstGeom>
          </p:spPr>
        </p:pic>
      </p:grpSp>
      <p:sp>
        <p:nvSpPr>
          <p:cNvPr id="20" name="文本框 19"/>
          <p:cNvSpPr txBox="1"/>
          <p:nvPr/>
        </p:nvSpPr>
        <p:spPr>
          <a:xfrm>
            <a:off x="6764020" y="6111240"/>
            <a:ext cx="5586730" cy="583565"/>
          </a:xfrm>
          <a:prstGeom prst="rect">
            <a:avLst/>
          </a:prstGeom>
        </p:spPr>
        <p:txBody>
          <a:bodyPr wrap="square">
            <a:spAutoFit/>
          </a:bodyPr>
          <a:p>
            <a:pPr lvl="1" indent="0">
              <a:buFont typeface="Arial" panose="020B0604020202020204"/>
              <a:buNone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baseline:		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CV≈0.033%,	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最大偏差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≈0.0567%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buClrTx/>
              <a:buSzTx/>
              <a:buFont typeface="Arial" panose="020B0604020202020204"/>
              <a:buNone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optimized:	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CV≈0.0047%,	最大偏差≈0.0077%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7056120" y="316865"/>
                <a:ext cx="5135880" cy="5835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lvl="1" algn="l">
                  <a:buClrTx/>
                  <a:buSzTx/>
                  <a:buFont typeface="Arial" panose="020B0604020202020204"/>
                </a:pPr>
                <a:r>
                  <a:rPr lang="en-US" altLang="zh-CN" sz="16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baseline:	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	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只激活 SM1（SM0 inactive）</a:t>
                </a:r>
                <a:endPara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1" algn="l">
                  <a:buClrTx/>
                  <a:buSzTx/>
                  <a:buFont typeface="Arial" panose="020B0604020202020204"/>
                </a:pPr>
                <a:r>
                  <a:rPr lang="en-US" altLang="zh-CN" sz="16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optimized: 	</a:t>
                </a:r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总指令数</a:t>
                </a:r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SM</m:t>
                    </m:r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0</m:t>
                    </m:r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SM</m:t>
                    </m:r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1</m:t>
                    </m:r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43</m:t>
                    </m:r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.</m:t>
                    </m:r>
                    <m: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038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M</m:t>
                    </m:r>
                  </m:oMath>
                </a14:m>
                <a:endPara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20" y="316865"/>
                <a:ext cx="5135880" cy="5835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图片 24" descr="top_delta_cou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75" y="1442720"/>
            <a:ext cx="4259580" cy="221551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4986655" y="1561465"/>
            <a:ext cx="2917825" cy="1322070"/>
          </a:xfrm>
          <a:prstGeom prst="rect">
            <a:avLst/>
          </a:prstGeom>
        </p:spPr>
        <p:txBody>
          <a:bodyPr wrap="square">
            <a:spAutoFit/>
          </a:bodyPr>
          <a:p>
            <a:pPr indent="0" eaLnBrk="1" fontAlgn="auto" latinLnBrk="0" hangingPunct="1">
              <a:spcAft>
                <a:spcPts val="0"/>
              </a:spcAft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Top-12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绝对减少量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柱状图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eaLnBrk="1" fontAlgn="auto" latinLnBrk="0" hangingPunct="1">
              <a:spcAft>
                <a:spcPts val="0"/>
              </a:spcAft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eaLnBrk="1" fontAlgn="auto" latinLnBrk="0" hangingPunct="1">
              <a:spcAft>
                <a:spcPts val="0"/>
              </a:spcAft>
              <a:buFont typeface="Arial" panose="020B0604020202020204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LW/LUI/VMSLT/VAND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等指令被大幅减少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=&gt;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eaLnBrk="1" fontAlgn="auto" latinLnBrk="0" hangingPunct="1">
              <a:spcAft>
                <a:spcPts val="0"/>
              </a:spcAft>
              <a:buFont typeface="Arial" panose="020B0604020202020204"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边界检查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控制类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指令减少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158750" y="3397885"/>
          <a:ext cx="6398260" cy="3296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0*46"/>
  <p:tag name="TABLE_ENDDRAG_RECT" val="55*279*820*46"/>
</p:tagLst>
</file>

<file path=ppt/tags/tag2.xml><?xml version="1.0" encoding="utf-8"?>
<p:tagLst xmlns:p="http://schemas.openxmlformats.org/presentationml/2006/main">
  <p:tag name="OPFI" val=""/>
  <p:tag name="resource_record_key" val="{&quot;8&quot;:[40000078]}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jbiyggn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 主题​​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1672</Words>
  <Application>WPS 演示</Application>
  <PresentationFormat>宽屏</PresentationFormat>
  <Paragraphs>173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Wingdings</vt:lpstr>
      <vt:lpstr>Times New Roman</vt:lpstr>
      <vt:lpstr>Noto Serif CJK SC Black</vt:lpstr>
      <vt:lpstr>Noto Serif CJK SC Light</vt:lpstr>
      <vt:lpstr>Cambria Math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PC</dc:creator>
  <cp:lastModifiedBy>ness233</cp:lastModifiedBy>
  <cp:revision>2119</cp:revision>
  <dcterms:created xsi:type="dcterms:W3CDTF">2019-06-19T02:08:00Z</dcterms:created>
  <dcterms:modified xsi:type="dcterms:W3CDTF">2026-01-04T12:32:22Z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A51987388B0247F3820A405ECCD7C4D3_13</vt:lpwstr>
  </property>
</Properties>
</file>