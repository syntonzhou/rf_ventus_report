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handoutMasterIdLst>
    <p:handoutMasterId r:id="rId26"/>
  </p:handoutMasterIdLst>
  <p:sldIdLst>
    <p:sldId id="258" r:id="rId3"/>
    <p:sldId id="314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60" r:id="rId13"/>
    <p:sldId id="361" r:id="rId14"/>
    <p:sldId id="363" r:id="rId16"/>
    <p:sldId id="365" r:id="rId17"/>
    <p:sldId id="362" r:id="rId18"/>
    <p:sldId id="364" r:id="rId19"/>
    <p:sldId id="366" r:id="rId20"/>
    <p:sldId id="359" r:id="rId21"/>
    <p:sldId id="367" r:id="rId22"/>
    <p:sldId id="368" r:id="rId23"/>
    <p:sldId id="292" r:id="rId24"/>
    <p:sldId id="281" r:id="rId25"/>
  </p:sldIdLst>
  <p:sldSz cx="12192000" cy="6858000"/>
  <p:notesSz cx="6858000" cy="9144000"/>
  <p:embeddedFontLst>
    <p:embeddedFont>
      <p:font typeface="微软雅黑" panose="020B0503020204020204" charset="-122"/>
      <p:regular r:id="rId31"/>
    </p:embeddedFont>
    <p:embeddedFont>
      <p:font typeface="Calibri" panose="020F0502020204030204" charset="0"/>
      <p:regular r:id="rId32"/>
      <p:bold r:id="rId33"/>
      <p:italic r:id="rId34"/>
      <p:boldItalic r:id="rId35"/>
    </p:embeddedFont>
  </p:embeddedFontLst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96E6"/>
    <a:srgbClr val="566798"/>
    <a:srgbClr val="556595"/>
    <a:srgbClr val="4B547B"/>
    <a:srgbClr val="FFFFFF"/>
    <a:srgbClr val="515983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0"/>
        <p:guide pos="38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246.xml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../media/image2.png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7.png"/><Relationship Id="rId2" Type="http://schemas.openxmlformats.org/officeDocument/2006/relationships/tags" Target="../tags/tag4.xml"/><Relationship Id="rId10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底图-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7" name="图片 6" descr="建筑_画板 1 副本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262505" y="3307080"/>
            <a:ext cx="6789600" cy="3120355"/>
          </a:xfrm>
          <a:prstGeom prst="rect">
            <a:avLst/>
          </a:prstGeom>
        </p:spPr>
      </p:pic>
      <p:pic>
        <p:nvPicPr>
          <p:cNvPr id="8" name="图片 7" descr="建筑_画板 1 副本 6"/>
          <p:cNvPicPr>
            <a:picLocks noChangeAspect="1"/>
          </p:cNvPicPr>
          <p:nvPr userDrawn="1"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217670" y="3754755"/>
            <a:ext cx="7974000" cy="26725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底图-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9" name="图片 8" descr="建筑_画板 1 副本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21015" y="2319655"/>
            <a:ext cx="4525200" cy="4261649"/>
          </a:xfrm>
          <a:prstGeom prst="rect">
            <a:avLst/>
          </a:prstGeom>
        </p:spPr>
      </p:pic>
      <p:pic>
        <p:nvPicPr>
          <p:cNvPr id="10" name="图片 9" descr="建筑_画板 1 副本 10"/>
          <p:cNvPicPr>
            <a:picLocks noChangeAspect="1"/>
          </p:cNvPicPr>
          <p:nvPr userDrawn="1"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-760095" y="3352165"/>
            <a:ext cx="9288000" cy="31129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solidFill>
          <a:srgbClr val="515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底图-0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2218690"/>
            <a:ext cx="12192000" cy="435229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建筑-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6" name="图片 5" descr="底图-07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-799800" y="5633085"/>
            <a:ext cx="13791600" cy="14114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5" hasCustomPrompt="1"/>
            <p:custDataLst>
              <p:tags r:id="rId2"/>
            </p:custDataLst>
          </p:nvPr>
        </p:nvSpPr>
        <p:spPr>
          <a:xfrm rot="5400000">
            <a:off x="1526540" y="2623820"/>
            <a:ext cx="5486400" cy="13436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500" b="1" i="0" u="none" strike="noStrike" kern="1200" cap="none" spc="0" normalizeH="0" baseline="0" noProof="1">
                <a:ln>
                  <a:gradFill>
                    <a:gsLst>
                      <a:gs pos="19000">
                        <a:schemeClr val="accent1">
                          <a:alpha val="0"/>
                        </a:schemeClr>
                      </a:gs>
                      <a:gs pos="74000">
                        <a:schemeClr val="accent1">
                          <a:alpha val="35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 err="1">
                <a:sym typeface="+mn-ea"/>
              </a:rPr>
              <a:t>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3275330" y="579755"/>
            <a:ext cx="1428750" cy="460311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1000" normalizeH="0" baseline="0" noProof="1">
                <a:solidFill>
                  <a:schemeClr val="accent1"/>
                </a:solidFill>
                <a:uFillTx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7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77.xml"/><Relationship Id="rId7" Type="http://schemas.openxmlformats.org/officeDocument/2006/relationships/image" Target="../media/image10.png"/><Relationship Id="rId6" Type="http://schemas.openxmlformats.org/officeDocument/2006/relationships/tags" Target="../tags/tag76.xml"/><Relationship Id="rId5" Type="http://schemas.openxmlformats.org/officeDocument/2006/relationships/image" Target="../media/image9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8.xml"/><Relationship Id="rId1" Type="http://schemas.openxmlformats.org/officeDocument/2006/relationships/tags" Target="../tags/tag7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image" Target="../media/image12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87.xml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tags" Target="../tags/tag86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image" Target="../media/image12.png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image" Target="../media/image16.png"/><Relationship Id="rId1" Type="http://schemas.openxmlformats.org/officeDocument/2006/relationships/tags" Target="../tags/tag8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image" Target="../media/image12.png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05.xml"/><Relationship Id="rId11" Type="http://schemas.openxmlformats.org/officeDocument/2006/relationships/image" Target="../media/image17.png"/><Relationship Id="rId10" Type="http://schemas.openxmlformats.org/officeDocument/2006/relationships/tags" Target="../tags/tag104.xml"/><Relationship Id="rId1" Type="http://schemas.openxmlformats.org/officeDocument/2006/relationships/tags" Target="../tags/tag9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image" Target="../media/image12.png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14.xml"/><Relationship Id="rId11" Type="http://schemas.openxmlformats.org/officeDocument/2006/relationships/image" Target="../media/image18.png"/><Relationship Id="rId10" Type="http://schemas.openxmlformats.org/officeDocument/2006/relationships/tags" Target="../tags/tag113.xml"/><Relationship Id="rId1" Type="http://schemas.openxmlformats.org/officeDocument/2006/relationships/tags" Target="../tags/tag10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image" Target="../media/image12.png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22.xml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tags" Target="../tags/tag11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image" Target="../media/image12.png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130.xml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19.png"/><Relationship Id="rId1" Type="http://schemas.openxmlformats.org/officeDocument/2006/relationships/tags" Target="../tags/tag12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image" Target="../media/image12.png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38.xml"/><Relationship Id="rId10" Type="http://schemas.openxmlformats.org/officeDocument/2006/relationships/image" Target="../media/image23.png"/><Relationship Id="rId1" Type="http://schemas.openxmlformats.org/officeDocument/2006/relationships/tags" Target="../tags/tag13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image" Target="../media/image12.png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46.xml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tags" Target="../tags/tag13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image" Target="../media/image12.png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54.xml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" Type="http://schemas.openxmlformats.org/officeDocument/2006/relationships/tags" Target="../tags/tag14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image" Target="../media/image12.png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62.xml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tags" Target="../tags/tag15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image" Target="../media/image12.png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70.xml"/><Relationship Id="rId1" Type="http://schemas.openxmlformats.org/officeDocument/2006/relationships/tags" Target="../tags/tag16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image" Target="../media/image12.png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78.xml"/><Relationship Id="rId1" Type="http://schemas.openxmlformats.org/officeDocument/2006/relationships/tags" Target="../tags/tag17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image" Target="../media/image12.png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86.xml"/><Relationship Id="rId1" Type="http://schemas.openxmlformats.org/officeDocument/2006/relationships/tags" Target="../tags/tag17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image" Target="../media/image12.png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94.xml"/><Relationship Id="rId1" Type="http://schemas.openxmlformats.org/officeDocument/2006/relationships/tags" Target="../tags/tag18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image" Target="../media/image12.png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02.xml"/><Relationship Id="rId1" Type="http://schemas.openxmlformats.org/officeDocument/2006/relationships/tags" Target="../tags/tag19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image" Target="../media/image12.png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10.xml"/><Relationship Id="rId1" Type="http://schemas.openxmlformats.org/officeDocument/2006/relationships/tags" Target="../tags/tag20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image" Target="../media/image12.png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218.xml"/><Relationship Id="rId10" Type="http://schemas.openxmlformats.org/officeDocument/2006/relationships/image" Target="../media/image30.png"/><Relationship Id="rId1" Type="http://schemas.openxmlformats.org/officeDocument/2006/relationships/tags" Target="../tags/tag21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image" Target="../media/image12.png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26.xml"/><Relationship Id="rId1" Type="http://schemas.openxmlformats.org/officeDocument/2006/relationships/tags" Target="../tags/tag219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image" Target="../media/image12.png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34.xml"/><Relationship Id="rId1" Type="http://schemas.openxmlformats.org/officeDocument/2006/relationships/tags" Target="../tags/tag22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hyperlink" Target="https://github.com/vortexgpgpu/vortex_tutorials" TargetMode="External"/><Relationship Id="rId8" Type="http://schemas.openxmlformats.org/officeDocument/2006/relationships/image" Target="../media/image13.png"/><Relationship Id="rId7" Type="http://schemas.openxmlformats.org/officeDocument/2006/relationships/tags" Target="../tags/tag240.xml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image" Target="../media/image12.png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41.xml"/><Relationship Id="rId1" Type="http://schemas.openxmlformats.org/officeDocument/2006/relationships/tags" Target="../tags/tag23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245.xml"/><Relationship Id="rId5" Type="http://schemas.openxmlformats.org/officeDocument/2006/relationships/image" Target="../media/image9.png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511425" y="2259330"/>
            <a:ext cx="72377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VENTUS GPGPU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运行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GEMM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分析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511425" y="2939415"/>
            <a:ext cx="714438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dist"/>
            <a:r>
              <a:rPr lang="en-US" altLang="zh-CN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RISC-V GPU</a:t>
            </a:r>
            <a:r>
              <a:rPr lang="zh-CN" altLang="en-US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在运行大模型时的性能分析与优化方案</a:t>
            </a:r>
            <a:endParaRPr lang="zh-CN" altLang="en-US" sz="2400" b="1" dirty="0">
              <a:solidFill>
                <a:srgbClr val="F0F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4366260" y="5334635"/>
            <a:ext cx="3458845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kumimoji="1"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2025-</a:t>
            </a:r>
            <a:r>
              <a:rPr kumimoji="1"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高级模拟及射频集成电路设计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南京大学集成电路学院</a:t>
            </a:r>
            <a:endParaRPr kumimoji="1"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4" name="图片 13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5" name="图片 14" descr="底图-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 descr="未标题-2_画板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下载与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跑通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2" name="图形"/>
          <p:cNvSpPr txBox="1"/>
          <p:nvPr>
            <p:custDataLst>
              <p:tags r:id="rId10"/>
            </p:custDataLst>
          </p:nvPr>
        </p:nvSpPr>
        <p:spPr>
          <a:xfrm>
            <a:off x="1069975" y="1598930"/>
            <a:ext cx="8206105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（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1</a:t>
            </a:r>
            <a:r>
              <a:rPr 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从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Github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获取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Ventus-GPGPU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项目：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README.md中介绍推荐使用Ventus-env来构建toolchain。</a:t>
            </a:r>
            <a:endParaRPr lang="zh-CN" altLang="en-US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（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）获取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Ventus-env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并按照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README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完成编译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zh-CN" altLang="en-US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68745" y="1185545"/>
            <a:ext cx="5387975" cy="41929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45615" y="3188970"/>
            <a:ext cx="4297680" cy="331089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下载与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跑通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965" y="1867535"/>
            <a:ext cx="9582785" cy="4625975"/>
          </a:xfrm>
          <a:prstGeom prst="rect">
            <a:avLst/>
          </a:prstGeom>
        </p:spPr>
      </p:pic>
      <p:sp>
        <p:nvSpPr>
          <p:cNvPr id="13" name="图形"/>
          <p:cNvSpPr txBox="1"/>
          <p:nvPr>
            <p:custDataLst>
              <p:tags r:id="rId11"/>
            </p:custDataLst>
          </p:nvPr>
        </p:nvSpPr>
        <p:spPr>
          <a:xfrm>
            <a:off x="2885440" y="1264920"/>
            <a:ext cx="910780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r" fontAlgn="auto">
              <a:lnSpc>
                <a:spcPct val="150000"/>
              </a:lnSpc>
              <a:spcBef>
                <a:spcPts val="0"/>
              </a:spcBef>
            </a:pPr>
            <a:r>
              <a:rPr lang="zh-CN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跑通耗时</a:t>
            </a:r>
            <a:r>
              <a:rPr lang="en-US" altLang="zh-CN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8</a:t>
            </a:r>
            <a:r>
              <a:rPr lang="zh-CN" altLang="en-US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小时，因为依赖包和内存大小出现少量报错，最终占用存储空间约</a:t>
            </a:r>
            <a:r>
              <a:rPr lang="en-US" altLang="zh-CN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20GB</a:t>
            </a:r>
            <a:r>
              <a:rPr lang="zh-CN" altLang="en-US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。（</a:t>
            </a:r>
            <a:r>
              <a:rPr lang="en-US" altLang="zh-CN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Swap</a:t>
            </a:r>
            <a:r>
              <a:rPr lang="zh-CN" altLang="en-US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空间另</a:t>
            </a:r>
            <a:endParaRPr lang="zh-CN" altLang="en-US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r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占用</a:t>
            </a:r>
            <a:r>
              <a:rPr lang="en-US" altLang="zh-CN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32GB</a:t>
            </a:r>
            <a:r>
              <a:rPr lang="zh-CN" altLang="en-US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</a:t>
            </a:r>
            <a:endParaRPr lang="zh-CN" altLang="en-US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下载与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跑通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3" name="图形"/>
          <p:cNvSpPr txBox="1"/>
          <p:nvPr>
            <p:custDataLst>
              <p:tags r:id="rId10"/>
            </p:custDataLst>
          </p:nvPr>
        </p:nvSpPr>
        <p:spPr>
          <a:xfrm>
            <a:off x="2885440" y="1264920"/>
            <a:ext cx="910780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r" fontAlgn="auto">
              <a:lnSpc>
                <a:spcPct val="150000"/>
              </a:lnSpc>
              <a:spcBef>
                <a:spcPts val="0"/>
              </a:spcBef>
            </a:pPr>
            <a:r>
              <a:rPr lang="zh-CN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运行示例文件测试效果</a:t>
            </a:r>
            <a:r>
              <a:rPr lang="zh-CN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如下：</a:t>
            </a:r>
            <a:endParaRPr lang="zh-CN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8085" y="2109470"/>
            <a:ext cx="9858375" cy="398145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下载与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跑通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3" name="图形"/>
          <p:cNvSpPr txBox="1"/>
          <p:nvPr>
            <p:custDataLst>
              <p:tags r:id="rId10"/>
            </p:custDataLst>
          </p:nvPr>
        </p:nvSpPr>
        <p:spPr>
          <a:xfrm>
            <a:off x="1761490" y="1017270"/>
            <a:ext cx="910780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r" fontAlgn="auto">
              <a:lnSpc>
                <a:spcPct val="150000"/>
              </a:lnSpc>
              <a:spcBef>
                <a:spcPts val="0"/>
              </a:spcBef>
            </a:pPr>
            <a:r>
              <a:rPr lang="zh-CN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编译成功，但是</a:t>
            </a:r>
            <a:r>
              <a:rPr lang="en-US" altLang="zh-CN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Command Fild error</a:t>
            </a:r>
            <a:endParaRPr lang="en-US" altLang="zh-CN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310" y="1524000"/>
            <a:ext cx="10217150" cy="493268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148080" y="5483225"/>
            <a:ext cx="1370965" cy="2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48080" y="5732145"/>
            <a:ext cx="1917065" cy="34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下载与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跑通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315" y="3894455"/>
            <a:ext cx="11470005" cy="24955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315" y="1229360"/>
            <a:ext cx="11470005" cy="252603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下载与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跑通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315" y="3894455"/>
            <a:ext cx="11470005" cy="2495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rcRect b="56370"/>
          <a:stretch>
            <a:fillRect/>
          </a:stretch>
        </p:blipFill>
        <p:spPr>
          <a:xfrm>
            <a:off x="286385" y="1750060"/>
            <a:ext cx="6677025" cy="16789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6830" y="1280160"/>
            <a:ext cx="3717925" cy="429768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下载与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跑通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540" y="2384425"/>
            <a:ext cx="11789410" cy="257492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测试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1524000"/>
            <a:ext cx="8915400" cy="43040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5145" y="1964690"/>
            <a:ext cx="5506085" cy="394081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测试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155" y="1373505"/>
            <a:ext cx="5344160" cy="48133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1"/>
          <a:srcRect l="5050" t="22181" r="59208" b="12858"/>
          <a:stretch>
            <a:fillRect/>
          </a:stretch>
        </p:blipFill>
        <p:spPr>
          <a:xfrm>
            <a:off x="6225540" y="1373505"/>
            <a:ext cx="5485130" cy="481330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测试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7455" y="1086485"/>
            <a:ext cx="10147300" cy="12553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7455" y="2387600"/>
            <a:ext cx="10146665" cy="435673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测试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292735" y="998220"/>
            <a:ext cx="12192000" cy="5904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gemm.cl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__kernel void gemm(__global const float *A,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            __global const float *B, 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            __global float *C,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            int M, int N, int K) {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size_t i = get_global_id(0);  //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行索引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size_t j = get_global_id(1);  //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列索引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if (i &lt; M &amp;&amp; j &lt; N) {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 float sum = 0.0f;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 for (int k = 0; k &lt; K; k++) {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     sum += A[i * K + k] * B[k * N + j];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 }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 C[i * N + j] = sum;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}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}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测试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-20955" y="998220"/>
            <a:ext cx="9810750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程序</a:t>
            </a: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 main.c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功能：测试不同矩阵尺寸的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GEMM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性能，分析并行计算效率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1.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初始化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OpenCL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环境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获取平台和设备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创建上下文和命令队列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从文件读取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gemm.cl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内核代码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编译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OpenCL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程序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2.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定义测试矩阵尺寸序列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测试尺寸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= [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    [16, 16, 16],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    [24, 24, 24], 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    [32, 32, 32],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    [40, 40, 40]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]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VMWare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Ubuntu20.04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96590" y="1787525"/>
            <a:ext cx="609600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3.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对每个测试尺寸执行：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分配主机内存：矩阵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、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B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、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初始化矩阵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、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B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为全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（简化计算验证）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创建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GPU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缓冲区并传输数据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设置内核参数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执行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GEMM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内核并计时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读取结果回主机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4.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性能分析：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计算指标：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理论操作数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= 2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M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N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K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KFLOPS =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操作数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/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内核时间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操作倍数：相对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16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16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16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的操作增长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性能倍数：相对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16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16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16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的性能增长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效率百分比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= (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性能倍数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/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操作倍数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)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100%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60870" y="2609850"/>
            <a:ext cx="522287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5.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输出性能表格：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格式：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矩阵尺寸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|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时间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(s) |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性能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(KFLOPS) |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相对效率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------------------------------------------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显示每个测试的详细性能数据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6.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资源清理：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释放所有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OpenCL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对象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释放主机内存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测试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567055" y="1101090"/>
            <a:ext cx="611759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函数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gemm_</a:t>
            </a: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exec.c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(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上下文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,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设备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,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命令队列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,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程序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, m, n, k,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A,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B,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C,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内核时间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):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//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功能：在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GPU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上执行通用矩阵乘法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C = A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B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步骤：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1.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创建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OpenCL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内核对象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"gemm"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2.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创建三个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GPU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内存缓冲区：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- bufA: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只读，从主机矩阵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A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复制数据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- bufB: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只读，从主机矩阵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B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复制数据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- bufC: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只写，用于存储结果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3.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设置内核参数：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参数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0: bufA (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A)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参数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1: bufB (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B)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参数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2: bufC (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结果矩阵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C)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参数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3: m (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A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行数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参数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4: n (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B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列数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参数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5: k (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A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列数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/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B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行数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     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75045" y="2508250"/>
            <a:ext cx="609600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4.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记录开始时间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5.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启动内核执行：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- 2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维工作空间，大小为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[m, n]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-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每个工作项计算矩阵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的一个元素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   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6.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等待内核执行完成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7.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记录结束时间，计算内核执行时间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8.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将结果从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GPU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缓冲区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bufC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读回主机矩阵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9.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清理所有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OpenCL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资源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返回：成功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(0)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或错误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(-1)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测试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457835" y="1212850"/>
            <a:ext cx="1219200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timer.h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: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#ifndef TIMER_H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#define TIMER_H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#include &lt;sys/time.h&gt;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static inline double get_current_time() {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struct timeval tv;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gettimeofday(&amp;tv, NULL);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   return (double)tv.tv_sec + (double)tv.tv_usec * 1e-6;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}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#endif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测试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292735" y="1373505"/>
            <a:ext cx="907542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Makefile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: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CC = clang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CFLAGS = -I/home/corcore/Downloads/ventus-env/install/include -O3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LDFLAGS = -L/home/corcore/Downloads/ventus-env/install/lib -lOpenCL -lm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SOURCES = main.c gemm_exec.c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OBJECTS = $(SOURCES:.c=.o)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HEADERS = timer.h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TARGET = gemm.out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all: $(TARGET)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$(TARGET): $(OBJECTS)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	$(CC) -o $@ $(OBJECTS) $(LDFLAGS)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%.o: %.c $(HEADERS)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	$(CC) $(CFLAGS) -c $&lt; -o $@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clean: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	rm -f $(OBJECTS) $(TARGET)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run: $(TARGET)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	./$(TARGET)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.PHONY: all clean run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测试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292735" y="864870"/>
            <a:ext cx="12192635" cy="640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20000"/>
              </a:lnSpc>
              <a:buClrTx/>
              <a:buSzTx/>
              <a:buFontTx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=== Incremental GEMM Performance Test ===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Testing gradually increasing matrix sizes...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  <a:buClrTx/>
              <a:buSzTx/>
              <a:buFontTx/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=== GEMM Performance Test (Corrected Units) ===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Matrix Size | Time (s)  | Performance  | Relative Efficiency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------------|-----------|--------------|-------------------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</a:t>
            </a:r>
            <a:r>
              <a:rPr lang="en-US" altLang="zh-CN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31.93 KFLOPS |  1.0x ops |  1.0x perf | 100.0% scaling</a:t>
            </a:r>
            <a:endParaRPr lang="en-US" altLang="zh-CN">
              <a:highlight>
                <a:srgbClr val="FFFF00"/>
              </a:highlight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 94.38 KFLOPS |  3.4x ops |  3.0x perf |  87.6% scaling</a:t>
            </a:r>
            <a:endParaRPr lang="en-US" altLang="zh-CN">
              <a:highlight>
                <a:srgbClr val="FFFF00"/>
              </a:highlight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200.04 KFLOPS |  8.0x ops |  6.3x perf |  78.3% scaling</a:t>
            </a:r>
            <a:endParaRPr lang="en-US" altLang="zh-CN">
              <a:highlight>
                <a:srgbClr val="FFFF00"/>
              </a:highlight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327.55 KFLOPS | 15.6x ops | 10.3x perf |  65.7% scaling</a:t>
            </a:r>
            <a:endParaRPr lang="en-US" altLang="zh-CN">
              <a:highlight>
                <a:srgbClr val="FFFF00"/>
              </a:highlight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Note: Efficiency is relative to the first test (16x16x16 = 100%)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=== Performance Summary ===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Matrix Size Growth: 16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16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→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40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40 = 15.6x more operations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Performance Growth: 31.14 KFLOPS </a:t>
            </a:r>
            <a:r>
              <a:rPr lang="en-US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→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327.27 KFLOPS = 10.5x speedup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Scaling Efficiency: 67.3% of ideal linear scaling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Note: Spike simulator introduces significant overhead.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For meaningful performance measurement, use RTLsim or hardware.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=== Test Complete ===</a:t>
            </a:r>
            <a:endParaRPr lang="en-US" altLang="zh-CN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Note: This tests smaller matrices to avoid memory issues.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ctr" fontAlgn="auto">
              <a:lnSpc>
                <a:spcPct val="120000"/>
              </a:lnSpc>
            </a:pPr>
            <a:endParaRPr lang="en-US" altLang="zh-CN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测试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8625" y="1329055"/>
            <a:ext cx="7118350" cy="25996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546975" y="1524000"/>
            <a:ext cx="60960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16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16: numw:8,numt:32,numwg:1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24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24: numw:5,numt:32,numwg:4  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32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32: numw:8,numt:32,numwg:4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40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40: numw:7,numt:32,numwg:8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8625" y="4034155"/>
            <a:ext cx="113785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20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Warning: the memory at [0x90000000, 0x900003FF] has been realigned to the 4 KiB page size: [0x90000000, 0x90000FFF]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28625" y="5551170"/>
            <a:ext cx="113785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200000"/>
              </a:lnSpc>
            </a:pP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</a:rPr>
              <a:t>改进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</a:rPr>
              <a:t>内存访问。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1.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</a:rPr>
              <a:t>理论性能；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2.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</a:rPr>
              <a:t>测试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[4096,4096,4096]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</a:rPr>
              <a:t>的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KFLOPS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</a:rPr>
              <a:t>。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测试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2" name="文本框 11"/>
          <p:cNvSpPr txBox="1"/>
          <p:nvPr/>
        </p:nvSpPr>
        <p:spPr>
          <a:xfrm>
            <a:off x="428625" y="4735830"/>
            <a:ext cx="951484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16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16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16: 24.1 KFLOPS 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→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24.1 KFLOPS (1.00x)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24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24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24: 71.9 KFLOPS 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→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77.3 KFLOPS (1.08x)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32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32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32: 161.2 KFLOPS 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→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163.6 KFLOPS (1.02x)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40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40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×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40: 270.5 KFLOPS </a:t>
            </a:r>
            <a:r>
              <a:rPr lang="en-US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→</a:t>
            </a:r>
            <a:r>
              <a:rPr lang="en-US" altLang="zh-CN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272.1 KFLOPS (1.01x)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8625" y="1159510"/>
            <a:ext cx="1137856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20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=== GEMM Optimization Comparison Test ===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indent="0" algn="ctr" fontAlgn="auto">
              <a:lnSpc>
                <a:spcPct val="20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Matrix Size | Original KFLOPS | Optimized KFLOPS | Speedup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indent="0" algn="ctr" fontAlgn="auto">
              <a:lnSpc>
                <a:spcPct val="20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------------|-----------------|------------------|--------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indent="0" algn="ctr" fontAlgn="auto">
              <a:lnSpc>
                <a:spcPct val="20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   24.1 |   24.1 | 1.00x 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indent="0" algn="ctr" fontAlgn="auto">
              <a:lnSpc>
                <a:spcPct val="20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  161.2 |  163.6 | 1.02x 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indent="0" algn="ctr" fontAlgn="auto">
              <a:lnSpc>
                <a:spcPct val="20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  270.5 |  272.1 | 1.01x 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28625" y="1254125"/>
            <a:ext cx="113785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200000"/>
              </a:lnSpc>
            </a:pP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</a:rPr>
              <a:t>改进内存访问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: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测试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3" name="文本框 12"/>
          <p:cNvSpPr txBox="1"/>
          <p:nvPr/>
        </p:nvSpPr>
        <p:spPr>
          <a:xfrm>
            <a:off x="635" y="1621790"/>
            <a:ext cx="1220152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20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Local Memory (Data Blocking)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indent="0" algn="ctr" fontAlgn="auto">
              <a:lnSpc>
                <a:spcPct val="20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Vectorization using RISC-V V Extension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indent="0" algn="ctr" fontAlgn="auto">
              <a:lnSpc>
                <a:spcPct val="20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Work-group Size Optimization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indent="0" algn="ctr" fontAlgn="auto">
              <a:lnSpc>
                <a:spcPct val="20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Loop Unrolling and Instruction-Level Parallelism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indent="0" algn="ctr" fontAlgn="auto">
              <a:lnSpc>
                <a:spcPct val="200000"/>
              </a:lnSpc>
            </a:pP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Efficient Memory Access Patterns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indent="0" algn="ctr" fontAlgn="auto">
              <a:lnSpc>
                <a:spcPct val="200000"/>
              </a:lnSpc>
            </a:pP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28625" y="1254125"/>
            <a:ext cx="113785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200000"/>
              </a:lnSpc>
            </a:pPr>
            <a:r>
              <a:rPr lang="en-US">
                <a:latin typeface="Noto Serif CJK SC Light" panose="02020300000000000000" charset="-122"/>
                <a:ea typeface="Noto Serif CJK SC Light" panose="02020300000000000000" charset="-122"/>
              </a:rPr>
              <a:t>ChatGPT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</a:rPr>
              <a:t>给出的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</a:rPr>
              <a:t>优化点：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参考资料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1148080" y="1169670"/>
            <a:ext cx="9375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hlinkClick r:id="rId9" action="ppaction://hlinkfile"/>
              </a:rPr>
              <a:t>GitHub</a:t>
            </a:r>
            <a:r>
              <a:rPr lang="zh-CN" altLang="en-US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hlinkClick r:id="rId9" action="ppaction://hlinkfile"/>
              </a:rPr>
              <a:t>项目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hlinkClick r:id="rId9" action="ppaction://hlinkfile"/>
              </a:rPr>
              <a:t> - vortexgpgpu/vortex_tutorials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李佳昊-仙林-飞艇航拍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9525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635" cy="6867525"/>
          </a:xfrm>
          <a:prstGeom prst="rect">
            <a:avLst/>
          </a:prstGeom>
          <a:gradFill>
            <a:gsLst>
              <a:gs pos="89000">
                <a:srgbClr val="BDCBDE">
                  <a:alpha val="36000"/>
                </a:srgbClr>
              </a:gs>
              <a:gs pos="0">
                <a:srgbClr val="5F85C3">
                  <a:alpha val="100000"/>
                </a:srgbClr>
              </a:gs>
              <a:gs pos="100000">
                <a:schemeClr val="bg1">
                  <a:alpha val="0"/>
                </a:scheme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60705" y="3035618"/>
            <a:ext cx="6483985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谢谢观看！</a:t>
            </a:r>
            <a:endParaRPr lang="en-US" altLang="zh-CN" sz="8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0705" y="4491990"/>
            <a:ext cx="3617595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60705" y="4862831"/>
            <a:ext cx="333438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日期：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2025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年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10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月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20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</a:t>
            </a:r>
            <a:endParaRPr lang="zh-CN" altLang="en-US" sz="2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0" y="-11430"/>
            <a:ext cx="12191365" cy="775970"/>
          </a:xfrm>
          <a:prstGeom prst="rect">
            <a:avLst/>
          </a:prstGeom>
          <a:gradFill>
            <a:gsLst>
              <a:gs pos="53000">
                <a:srgbClr val="9AA1BB">
                  <a:alpha val="0"/>
                </a:srgbClr>
              </a:gs>
              <a:gs pos="0">
                <a:srgbClr val="515983"/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pic>
        <p:nvPicPr>
          <p:cNvPr id="6" name="图片 5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6080" y="186055"/>
            <a:ext cx="1260000" cy="403701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3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4.xml><?xml version="1.0" encoding="utf-8"?>
<p:tagLst xmlns:p="http://schemas.openxmlformats.org/presentationml/2006/main">
  <p:tag name="KSO_WM_UNIT_PLACING_PICTURE_USER_VIEWPORT" val="{&quot;height&quot;:6854,&quot;width&quot;:19200}"/>
  <p:tag name="KSO_WM_BEAUTIFY_FLAG" val="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6.xml><?xml version="1.0" encoding="utf-8"?>
<p:tagLst xmlns:p="http://schemas.openxmlformats.org/presentationml/2006/main">
  <p:tag name="COMMONDATA" val="eyJoZGlkIjoiODQ1N2I4NTdiMjE5NzcxZjdkNzUxMDFmYzZiMjFjN2UifQ=="/>
  <p:tag name="commondata" val="eyJoZGlkIjoiMTU2ZDc0ZjNmMzdmMDBlNmUzZGQ5ODRkNDBiMjE1YzkifQ=="/>
  <p:tag name="KSO_WPP_MARK_KEY" val="3af471a3-1903-4892-9bf8-0083f46c5faa"/>
  <p:tag name="resource_record_key" val="{&quot;29&quot;:[50000077],&quot;65&quot;:[20205081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4737</Words>
  <Application>WPS 演示</Application>
  <PresentationFormat>宽屏</PresentationFormat>
  <Paragraphs>288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宋体</vt:lpstr>
      <vt:lpstr>Wingdings</vt:lpstr>
      <vt:lpstr>Wingdings</vt:lpstr>
      <vt:lpstr>微软雅黑</vt:lpstr>
      <vt:lpstr>Noto Serif CJK SC Black</vt:lpstr>
      <vt:lpstr>思源黑体 CN Heavy</vt:lpstr>
      <vt:lpstr>思源黑体 CN Normal</vt:lpstr>
      <vt:lpstr>Noto Serif CJK SC Light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ness233</cp:lastModifiedBy>
  <cp:revision>363</cp:revision>
  <dcterms:created xsi:type="dcterms:W3CDTF">2019-06-19T02:08:00Z</dcterms:created>
  <dcterms:modified xsi:type="dcterms:W3CDTF">2026-01-15T16:47:10Z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F2B3D51F99CC4BF790852F9914527691_13</vt:lpwstr>
  </property>
</Properties>
</file>