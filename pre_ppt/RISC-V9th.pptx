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8" r:id="rId3"/>
    <p:sldId id="434" r:id="rId4"/>
    <p:sldId id="442" r:id="rId5"/>
    <p:sldId id="444" r:id="rId6"/>
    <p:sldId id="443" r:id="rId7"/>
    <p:sldId id="445" r:id="rId8"/>
    <p:sldId id="446" r:id="rId9"/>
    <p:sldId id="447" r:id="rId10"/>
    <p:sldId id="448" r:id="rId11"/>
    <p:sldId id="449" r:id="rId12"/>
    <p:sldId id="450" r:id="rId13"/>
    <p:sldId id="452" r:id="rId14"/>
    <p:sldId id="451" r:id="rId15"/>
    <p:sldId id="453" r:id="rId16"/>
    <p:sldId id="455" r:id="rId17"/>
    <p:sldId id="456" r:id="rId18"/>
    <p:sldId id="457" r:id="rId19"/>
    <p:sldId id="458" r:id="rId20"/>
    <p:sldId id="459" r:id="rId21"/>
    <p:sldId id="454" r:id="rId22"/>
    <p:sldId id="281" r:id="rId23"/>
  </p:sldIdLst>
  <p:sldSz cx="12192000" cy="6858000"/>
  <p:notesSz cx="6858000" cy="9144000"/>
  <p:embeddedFontLst>
    <p:embeddedFont>
      <p:font typeface="微软雅黑" panose="020B0503020204020204" charset="-122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  <p:embeddedFont>
      <p:font typeface="Cambria Math" panose="02040503050406030204" charset="0"/>
      <p:regular r:id="rId35"/>
    </p:embeddedFont>
  </p:embeddedFontLst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7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096E6"/>
    <a:srgbClr val="566798"/>
    <a:srgbClr val="556595"/>
    <a:srgbClr val="4B547B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7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221.xml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../media/image13.png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1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92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image" Target="../media/image13.png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image" Target="../media/image12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3.png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image" Target="../media/image12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06.xml"/><Relationship Id="rId1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3.png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image" Target="../media/image12.png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13.xml"/><Relationship Id="rId1" Type="http://schemas.openxmlformats.org/officeDocument/2006/relationships/tags" Target="../tags/tag10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13.png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image" Target="../media/image12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21.xml"/><Relationship Id="rId1" Type="http://schemas.openxmlformats.org/officeDocument/2006/relationships/tags" Target="../tags/tag1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image" Target="../media/image13.png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12.pn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3.png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image" Target="../media/image12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34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3.png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image" Target="../media/image12.png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1.xml"/><Relationship Id="rId1" Type="http://schemas.openxmlformats.org/officeDocument/2006/relationships/tags" Target="../tags/tag1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3.png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image" Target="../media/image12.png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8.xml"/><Relationship Id="rId1" Type="http://schemas.openxmlformats.org/officeDocument/2006/relationships/tags" Target="../tags/tag1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3.png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image" Target="../media/image12.png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55.xml"/><Relationship Id="rId1" Type="http://schemas.openxmlformats.org/officeDocument/2006/relationships/tags" Target="../tags/tag14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3.png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image" Target="../media/image12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62.xml"/><Relationship Id="rId1" Type="http://schemas.openxmlformats.org/officeDocument/2006/relationships/tags" Target="../tags/tag1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../media/image13.png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image" Target="../media/image12.png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71.xml"/><Relationship Id="rId11" Type="http://schemas.openxmlformats.org/officeDocument/2006/relationships/image" Target="../media/image22.png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image" Target="../media/image13.png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image" Target="../media/image12.png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80.xml"/><Relationship Id="rId11" Type="http://schemas.openxmlformats.org/officeDocument/2006/relationships/image" Target="../media/image23.png"/><Relationship Id="rId10" Type="http://schemas.openxmlformats.org/officeDocument/2006/relationships/tags" Target="../tags/tag179.xml"/><Relationship Id="rId1" Type="http://schemas.openxmlformats.org/officeDocument/2006/relationships/tags" Target="../tags/tag17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13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image" Target="../media/image12.png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88.xml"/><Relationship Id="rId11" Type="http://schemas.openxmlformats.org/officeDocument/2006/relationships/image" Target="../media/image25.png"/><Relationship Id="rId10" Type="http://schemas.openxmlformats.org/officeDocument/2006/relationships/tags" Target="../tags/tag187.xml"/><Relationship Id="rId1" Type="http://schemas.openxmlformats.org/officeDocument/2006/relationships/tags" Target="../tags/tag18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13.png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image" Target="../media/image12.png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95.xml"/><Relationship Id="rId10" Type="http://schemas.openxmlformats.org/officeDocument/2006/relationships/image" Target="../media/image27.png"/><Relationship Id="rId1" Type="http://schemas.openxmlformats.org/officeDocument/2006/relationships/tags" Target="../tags/tag18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13.png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image" Target="../media/image12.png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02.xml"/><Relationship Id="rId1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13.png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image" Target="../media/image12.png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209.xml"/><Relationship Id="rId1" Type="http://schemas.openxmlformats.org/officeDocument/2006/relationships/tags" Target="../tags/tag20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image" Target="../media/image13.png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image" Target="../media/image12.png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2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20.xml"/><Relationship Id="rId5" Type="http://schemas.openxmlformats.org/officeDocument/2006/relationships/image" Target="../media/image9.png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374900" y="2944495"/>
            <a:ext cx="744283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在运行大模型时的性能分析与优化方案</a:t>
            </a:r>
            <a:endParaRPr lang="en-US" altLang="zh-CN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上次组会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留下的问题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98805" y="1249680"/>
            <a:ext cx="11301730" cy="5273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60000"/>
              </a:lnSpc>
            </a:pPr>
            <a:r>
              <a:rPr 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1. 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内存系统</a:t>
            </a:r>
            <a:endParaRPr lang="zh-CN" altLang="en-US" sz="24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DRAM / L1 Cache / L2 Cache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大小、层次、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结构</a:t>
            </a:r>
            <a:endParaRPr lang="zh-CN" altLang="en-US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Global Memory / Shared Memory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概念</a:t>
            </a:r>
            <a:endParaRPr lang="zh-CN" altLang="en-US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2. 性能估算</a:t>
            </a:r>
            <a:endParaRPr lang="en-US" sz="240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  <a:p>
            <a:pPr algn="l" fontAlgn="auto">
              <a:lnSpc>
                <a:spcPct val="160000"/>
              </a:lnSpc>
              <a:buClrTx/>
              <a:buSzTx/>
              <a:buFontTx/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GEMM时长推算公式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 fontAlgn="auto">
              <a:lnSpc>
                <a:spcPct val="160000"/>
              </a:lnSpc>
              <a:buClrTx/>
              <a:buSzTx/>
              <a:buFontTx/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1024*4096 GEMM时长推算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fontAlgn="auto">
              <a:lnSpc>
                <a:spcPct val="160000"/>
              </a:lnSpc>
            </a:pP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Attention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计算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时长估算</a:t>
            </a:r>
            <a:endParaRPr lang="zh-CN" altLang="en-US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内存系统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98805" y="5970270"/>
            <a:ext cx="11301730" cy="55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r" fontAlgn="auto">
              <a:lnSpc>
                <a:spcPct val="160000"/>
              </a:lnSpc>
            </a:pPr>
            <a:r>
              <a:rPr 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《乘影</a:t>
            </a:r>
            <a:r>
              <a:rPr lang="en-US" alt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GPGPU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架构文档手册</a:t>
            </a:r>
            <a:r>
              <a:rPr 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》</a:t>
            </a:r>
            <a:endParaRPr 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4660" y="1238250"/>
            <a:ext cx="10807700" cy="460311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内存系统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598805" y="6179820"/>
            <a:ext cx="11301730" cy="55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r" fontAlgn="auto">
              <a:lnSpc>
                <a:spcPct val="160000"/>
              </a:lnSpc>
            </a:pPr>
            <a:r>
              <a:rPr 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《乘影</a:t>
            </a:r>
            <a:r>
              <a:rPr lang="en-US" alt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GPGPU</a:t>
            </a:r>
            <a:r>
              <a:rPr lang="zh-CN" altLang="en-US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架构文档手册</a:t>
            </a:r>
            <a:r>
              <a:rPr lang="zh-CN" sz="24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》</a:t>
            </a:r>
            <a:endParaRPr 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96620"/>
            <a:ext cx="10888345" cy="4871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en-US" sz="14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L1</a:t>
            </a:r>
            <a:r>
              <a:rPr lang="zh-CN" altLang="en-US" sz="14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指令缓存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（尚未固定）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路组相联，缓存行大小为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（单位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Byte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），总容量为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64*blocksize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每次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LSU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访问的最大返回宽度为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4B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每次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L1-L2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之间的数据读写的最大宽度均为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128B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（一个缓存行）；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替换策略支持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LRU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、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FIFO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替换策略；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支持对正在进行的请求进行无效化；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（尚未固定）最多同时存在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128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个未完成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访存请求；支持相同缓存行的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访问请求合并，最大合并数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8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4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L1</a:t>
            </a:r>
            <a:r>
              <a:rPr lang="zh-CN" altLang="en-US" sz="14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数据缓存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（尚未固定）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路组项联，缓存行大小为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（单位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Byte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），总容量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64*blocksize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一般的，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blocksize=num_thread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虚拟地址索引、虚拟地址标记（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VIVT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每次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LSU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访问的最大返回宽度为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每次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L1-L2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之间数据读写的最大宽度均为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blocksize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（一个缓存行）；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写策略为写回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-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写不分配；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替换策略支持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LRU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、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FIFO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替换策略；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支持对整个数据高速缓存的无效和清除操作，支持对单条缓存行的无效和清除操作；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（尚未固定）最多同时存在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128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个未完成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访问请求；支持相同缓存行的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L2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访问请求合并，最大合并数</a:t>
            </a: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8</a:t>
            </a:r>
            <a:r>
              <a:rPr lang="zh-CN" altLang="en-US" sz="1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1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整体架构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 descr="ventus_arch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015" y="998220"/>
            <a:ext cx="5781675" cy="575183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整体架构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3" name="图片 2" descr="ventus_arch2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340" y="1321435"/>
            <a:ext cx="11679555" cy="505904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9"/>
            </p:custDataLst>
          </p:nvPr>
        </p:nvGraphicFramePr>
        <p:xfrm>
          <a:off x="375285" y="1032510"/>
          <a:ext cx="11306175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0"/>
                <a:gridCol w="1584000"/>
                <a:gridCol w="1620520"/>
                <a:gridCol w="5976000"/>
              </a:tblGrid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M,N,K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指令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指令类型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TOP3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指令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443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LW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(60),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(48),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ADDI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(36)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1,030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LW</a:t>
                      </a: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(120),</a:t>
                      </a: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JAL</a:t>
                      </a: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(112),</a:t>
                      </a:r>
                      <a:r>
                        <a:rPr lang="en-US" altLang="zh-CN" sz="1800">
                          <a:latin typeface="Noto Serif CJK SC Black" panose="02020900000000000000" charset="-122"/>
                          <a:ea typeface="Noto Serif CJK SC Black" panose="02020900000000000000" charset="-122"/>
                          <a:sym typeface="+mn-ea"/>
                        </a:rPr>
                        <a:t>ADDI</a:t>
                      </a: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(80)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5,280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(576),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(544),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LW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(480)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25,652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(4352),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(2784),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LW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(480)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183,852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(34816),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SETRPC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(20128),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(19584)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128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1,432,412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(278528),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SETRPC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(157920),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(151104)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11,356,860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39</a:t>
                      </a: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VLW12_V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(2228224),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SETRPC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(1253728),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JAL</a:t>
                      </a: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(1192896)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1024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2048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447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4096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endParaRPr lang="en-US" altLang="zh-CN" sz="1800" b="0" i="0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pic>
        <p:nvPicPr>
          <p:cNvPr id="39" name="图片 38" descr="建筑-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4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4" name="表格 13"/>
          <p:cNvGraphicFramePr/>
          <p:nvPr>
            <p:custDataLst>
              <p:tags r:id="rId7"/>
            </p:custDataLst>
          </p:nvPr>
        </p:nvGraphicFramePr>
        <p:xfrm>
          <a:off x="375285" y="-2589530"/>
          <a:ext cx="11592000" cy="149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/>
                <a:gridCol w="1368000"/>
                <a:gridCol w="1368000"/>
                <a:gridCol w="1368000"/>
                <a:gridCol w="1368000"/>
                <a:gridCol w="1368000"/>
                <a:gridCol w="1368000"/>
                <a:gridCol w="1368000"/>
              </a:tblGrid>
              <a:tr h="2124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256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512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VLW12_V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34816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278528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2228224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17825792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SETPRC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20128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157920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1253728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9994848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JAL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576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19584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151104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1192896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9488064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VBEQ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352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18496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147520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1179712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9437248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VMV_V_X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368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12128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92992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731648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5809024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AUIPC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272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10112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79008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626912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4997472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VADD_VV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34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10040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78936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626840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4997400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9904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78384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624688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4988976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JUMP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9848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75608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596504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4744088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VADD12_VI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152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8864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70208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559232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4464896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ADDI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8464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65808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524560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4194576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VFMADD_VV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8192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65536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524288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4194304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VADD_VI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8192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65536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524288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4194304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LW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480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2976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18848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139680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1081760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VMSLT_VX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2304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17408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135168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1064960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JOIN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1856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13408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102560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803104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VBLT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9360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69904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541200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LUI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1288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9224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69640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540680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VSLL_VI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8736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67616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532512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VAND_VV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1152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8704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67584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532480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VSW12_V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1152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8704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67584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532480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VMADD_VX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32768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262144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VBNE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272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4112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16400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BGE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2184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8456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REGEXT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260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452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VMUL_VX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256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512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CSRRS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36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144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144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SW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JALR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96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96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VLW_V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MUL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VSW_V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ADD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CSRRW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VID_V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VREMU_VX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VSETVLI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BEQ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VDIVU_VX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ENDPRG</a:t>
                      </a:r>
                      <a:endParaRPr lang="en-US" altLang="zh-CN"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i="0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600" b="0" i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" y="1123315"/>
            <a:ext cx="9601200" cy="54292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615" y="1255395"/>
            <a:ext cx="9848850" cy="503872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978535"/>
            <a:ext cx="6208395" cy="58801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4280" y="838200"/>
            <a:ext cx="6714490" cy="58229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315" y="978535"/>
            <a:ext cx="9972675" cy="577151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/>
              <p:nvPr>
                <p:custDataLst>
                  <p:tags r:id="rId9"/>
                </p:custDataLst>
              </p:nvPr>
            </p:nvGraphicFramePr>
            <p:xfrm>
              <a:off x="375285" y="927100"/>
              <a:ext cx="11699875" cy="162553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0000"/>
                    <a:gridCol w="1728000"/>
                    <a:gridCol w="1728000"/>
                    <a:gridCol w="4428000"/>
                  </a:tblGrid>
                  <a:tr h="22098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[512,512,512]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基于公式</a:t>
                          </a: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预测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实际结果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拟合公式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17825792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17825792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544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SETPRC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9994848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9994848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304</m:t>
                                    </m:r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9488064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9488064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288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48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192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9437248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9437248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288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VMV_V_X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5809024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5809024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176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40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24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AUIPC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4997472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4997472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4988976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4988976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JUMP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4744088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4744088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144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24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24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𝐵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152</m:t>
                              </m:r>
                            </m:oMath>
                          </a14:m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 </a:t>
                          </a:r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VADD12_VI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4464896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4464896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136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4194576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4194576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128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27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VFMADD_VV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>
                              <a:latin typeface="微软雅黑" panose="020B0503020204020204" charset="-122"/>
                              <a:ea typeface="微软雅黑" panose="020B0503020204020204" charset="-122"/>
                              <a:sym typeface="+mn-ea"/>
                            </a:rPr>
                            <a:t>4194304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800" b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1081760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1081760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VMSLT_VX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1064960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1064960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32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16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 </a:t>
                          </a:r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803104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803104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24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3276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VBLT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541200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541200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LUI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540680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540680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3672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VSLL_VI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532512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532512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altLang="zh-CN" sz="1800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VAND_VV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262144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262144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VBNE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16400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16400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BGE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8456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8456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REGEXT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452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452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68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VMUL_VX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512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>
                              <a:latin typeface="微软雅黑" panose="020B0503020204020204" charset="-122"/>
                              <a:ea typeface="微软雅黑" panose="020B0503020204020204" charset="-122"/>
                              <a:sym typeface="+mn-ea"/>
                            </a:rPr>
                            <a:t>512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CSRRS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JALR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MUL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VID_V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VREMU_VX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VSETVLI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VDIVU_VX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ENDPRG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/>
              <p:nvPr>
                <p:custDataLst>
                  <p:tags r:id="rId10"/>
                </p:custDataLst>
              </p:nvPr>
            </p:nvGraphicFramePr>
            <p:xfrm>
              <a:off x="375285" y="927100"/>
              <a:ext cx="11699875" cy="162553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0000"/>
                    <a:gridCol w="1728000"/>
                    <a:gridCol w="1728000"/>
                    <a:gridCol w="4428000"/>
                  </a:tblGrid>
                  <a:tr h="22098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[512,512,512]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基于公式</a:t>
                          </a: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预测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实际结果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拟合公式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17825792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17825792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SETPRC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9994848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9994848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9488064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9488064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9437248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9437248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VMV_V_X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5809024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5809024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AUIPC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4997472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4997472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4997400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4988976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4988976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JUMP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4744088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4744088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VADD12_VI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4464896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4464896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4194576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4194576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VFMADD_VV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>
                              <a:latin typeface="微软雅黑" panose="020B0503020204020204" charset="-122"/>
                              <a:ea typeface="微软雅黑" panose="020B0503020204020204" charset="-122"/>
                              <a:sym typeface="+mn-ea"/>
                            </a:rPr>
                            <a:t>4194304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4194304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1081760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1081760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VMSLT_VX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1064960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1064960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803104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803104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VBLT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541200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541200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LUI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540680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540680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766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VSLL_VI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532512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532512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VAND_VV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532480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262144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262144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VBNE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16400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16400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BGE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8456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8456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REGEXT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452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452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VMUL_VX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512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>
                              <a:latin typeface="微软雅黑" panose="020B0503020204020204" charset="-122"/>
                              <a:ea typeface="微软雅黑" panose="020B0503020204020204" charset="-122"/>
                              <a:sym typeface="+mn-ea"/>
                            </a:rPr>
                            <a:t>512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CSRRS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JALR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MUL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VID_V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VREMU_VX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VSETVLI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VDIVU_VX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ENDPRG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</a:tbl>
              </a:graphicData>
            </a:graphic>
          </p:graphicFrame>
        </mc:Fallback>
      </mc:AlternateContent>
    </p:spTree>
    <p:custDataLst>
      <p:tags r:id="rId1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/>
              <p:nvPr>
                <p:custDataLst>
                  <p:tags r:id="rId9"/>
                </p:custDataLst>
              </p:nvPr>
            </p:nvGraphicFramePr>
            <p:xfrm>
              <a:off x="375285" y="927100"/>
              <a:ext cx="11699875" cy="162553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4845"/>
                    <a:gridCol w="1470410"/>
                    <a:gridCol w="1620000"/>
                    <a:gridCol w="1620000"/>
                    <a:gridCol w="3767925"/>
                  </a:tblGrid>
                  <a:tr h="346710"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1024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2048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4096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拟合公式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142606336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1140850688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9126805504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544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SETPRC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79823968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638060640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5102375008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304</m:t>
                                    </m:r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75697344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604772544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4834996416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288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48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192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75497536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603979840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4831838272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288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VMV_V_X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46302848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369757312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2955417728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176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40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24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AUIPC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39912032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319030368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2551187552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39911960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319030296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2551187480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39878704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318898224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2550661168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152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JUMP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37848728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302386328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2417498264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144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24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24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𝐵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152</m:t>
                              </m:r>
                            </m:oMath>
                          </a14:m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 </a:t>
                          </a:r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VADD12_VI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35684864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285344768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2282227712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136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33554704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2147483920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128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27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VFMADD_VV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33554432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268435456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2147483648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800" b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33554432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268435456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2147483648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8520096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67633568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538968480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32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416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VMSLT_VX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8454144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67371008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537919488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32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16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 </a:t>
                          </a:r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6357536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50594848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403703840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24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3276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VBLT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4260880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33818640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269488144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LUI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4259848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33816584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269484040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3672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VSLL_VI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268959776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altLang="zh-CN" sz="1800" b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VAND_VV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4227072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 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4227072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2097152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16777216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134217728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VBNE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65552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262160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1048592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16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BGE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33288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132104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526344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8</m:t>
                                    </m:r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REGEXT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12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68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VMUL_VX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2048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16</m:t>
                                </m:r>
                                <m:r>
                                  <a:rPr lang="en-US" altLang="zh-CN" sz="1800" b="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CSRRS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JALR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MUL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VID_V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VREMU_VX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VSETVLI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VDIVU_VX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ENDPRG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/>
              <p:nvPr>
                <p:custDataLst>
                  <p:tags r:id="rId10"/>
                </p:custDataLst>
              </p:nvPr>
            </p:nvGraphicFramePr>
            <p:xfrm>
              <a:off x="375285" y="927100"/>
              <a:ext cx="11699875" cy="162553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4845"/>
                    <a:gridCol w="1470410"/>
                    <a:gridCol w="1620000"/>
                    <a:gridCol w="1620000"/>
                    <a:gridCol w="3767925"/>
                  </a:tblGrid>
                  <a:tr h="346710"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1024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2048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4096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拟合公式</a:t>
                          </a:r>
                          <a:endParaRPr lang="zh-CN" altLang="en-US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142606336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1140850688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9126805504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SETPRC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79823968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638060640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5102375008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75697344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604772544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4834996416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75497536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603979840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4831838272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7719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VMV_V_X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46302848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369757312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2955417728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AUIPC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39912032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319030368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2551187552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39911960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319030296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2551187480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39878704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318898224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2550661168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JUMP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37848728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302386328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2417498264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VADD12_VI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35684864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285344768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2282227712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33554704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2147483920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VFMADD_VV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33554432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268435456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2147483648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VADD_VI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33554432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268435456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2147483648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8520096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67633568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538968480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VMSLT_VX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8454144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67371008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537919488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6357536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50594848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403703840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VBLT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4260880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33818640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269488144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LUI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4259848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33816584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269484040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766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VSLL_VI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268959776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VAND_VV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4227072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VSW12_V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4227072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33685504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268959744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VMADD_VX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2097152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16777216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134217728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VBNE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65552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262160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1048592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BGE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33288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132104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526344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REGEXT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836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3140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VMUL_VX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2048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842" marR="9842" marT="9842" marB="0" anchor="ctr" anchorCtr="0">
                        <a:blipFill>
                          <a:blip r:embed="rId11"/>
                        </a:blipFill>
                      </a:tcPr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CSRRS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144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144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104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104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JALR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96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96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VLW_V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40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40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MUL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VSW_V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24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ADD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24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CSRRW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VID_V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VREMU_VX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16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16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VSETVLI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BEQ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2124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VDIVU_VX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  <a:tr h="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b="1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ENDPRG</a:t>
                          </a:r>
                          <a:endParaRPr lang="en-US" altLang="zh-CN" b="1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 fontAlgn="b"/>
                          <a:r>
                            <a:rPr lang="en-US" altLang="zh-CN" sz="1800" b="0" i="0">
                              <a:solidFill>
                                <a:srgbClr val="000000"/>
                              </a:solidFill>
                              <a:latin typeface="+mn-ea"/>
                            </a:rPr>
                            <a:t>8</a:t>
                          </a:r>
                          <a:endParaRPr lang="en-US" altLang="zh-CN" sz="1800" b="0" i="0">
                            <a:solidFill>
                              <a:srgbClr val="000000"/>
                            </a:solidFill>
                            <a:latin typeface="+mn-ea"/>
                          </a:endParaRPr>
                        </a:p>
                      </a:txBody>
                      <a:tcPr marL="9842" marR="9842" marT="9842" marB="0" anchor="ctr" anchorCtr="0"/>
                    </a:tc>
                    <a:tc>
                      <a:txBody>
                        <a:bodyPr/>
                        <a:p>
                          <a:pPr algn="ctr">
                            <a:buClrTx/>
                            <a:buSzTx/>
                            <a:buFontTx/>
                            <a:buNone/>
                          </a:pPr>
                          <a:r>
                            <a:rPr lang="en-US" altLang="zh-CN" sz="1800" b="0" i="0"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8</a:t>
                          </a:r>
                          <a:endParaRPr lang="en-US" altLang="zh-CN" sz="1800" b="0" i="0">
                            <a:latin typeface="微软雅黑" panose="020B0503020204020204" charset="-122"/>
                            <a:ea typeface="微软雅黑" panose="020B0503020204020204" charset="-122"/>
                          </a:endParaRPr>
                        </a:p>
                      </a:txBody>
                      <a:tcPr marL="9842" marR="9842" marT="9842" marB="0" anchor="ctr" anchorCtr="0"/>
                    </a:tc>
                  </a:tr>
                </a:tbl>
              </a:graphicData>
            </a:graphic>
          </p:graphicFrame>
        </mc:Fallback>
      </mc:AlternateContent>
    </p:spTree>
    <p:custDataLst>
      <p:tags r:id="rId1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21920" y="5238750"/>
                <a:ext cx="12080240" cy="4559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𝑐𝑦𝑐𝑙𝑒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𝐶𝑜𝑢𝑛𝑡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𝑜𝑝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𝑆𝑀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𝑜𝑝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5238750"/>
                <a:ext cx="12080240" cy="455930"/>
              </a:xfrm>
              <a:prstGeom prst="rect">
                <a:avLst/>
              </a:prstGeom>
              <a:blipFill rotWithShape="1">
                <a:blip r:embed="rId9"/>
                <a:stretch>
                  <a:fillRect b="-12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81330" y="1376045"/>
            <a:ext cx="10429240" cy="45593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对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n=512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来说，各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warp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的指令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mix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和数量几乎一致，差异主要体现在少量低频指令（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VSW_V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、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CSRRS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）的极端抖动。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/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真正决定总时间的，是高频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+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中高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CPI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的几类指令：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algn="l"/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0"/>
            </p:custDataLst>
          </p:nvPr>
        </p:nvGraphicFramePr>
        <p:xfrm>
          <a:off x="781050" y="2275205"/>
          <a:ext cx="3155315" cy="257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845"/>
                <a:gridCol w="1470410"/>
              </a:tblGrid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指令</a:t>
                      </a: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VLW12_V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22.18%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LW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19.84%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VADD_VX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14.29%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JAL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8.13%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842" marR="9842" marT="9842" marB="0" anchor="ctr" anchorCtr="0"/>
                </a:tc>
              </a:tr>
              <a:tr h="212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VADD12_VI</a:t>
                      </a:r>
                      <a:endParaRPr lang="en-US" altLang="zh-CN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+mn-ea"/>
                        </a:rPr>
                        <a:t>6.91%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455160" y="2430145"/>
            <a:ext cx="10429240" cy="45593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warp </a:t>
            </a:r>
            <a:r>
              <a:rPr lang="zh-CN" altLang="en-US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间差异对最终时间影响很小，尤其在大矩阵时更稳定。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0805" y="4930775"/>
                <a:ext cx="12080240" cy="4559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𝑜𝑝𝑐𝑜𝑑𝑒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2864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312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196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2196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5" y="4930775"/>
                <a:ext cx="12080240" cy="45593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0" y="5784215"/>
                <a:ext cx="12080240" cy="4559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𝑐𝑦𝑐𝑙𝑒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𝐶𝑜𝑢𝑛𝑡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𝑡𝑜𝑡𝑎𝑙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𝑜𝑝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𝐶𝑃𝐼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𝑆𝑀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𝑜𝑝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4215"/>
                <a:ext cx="12080240" cy="455930"/>
              </a:xfrm>
              <a:prstGeom prst="rect">
                <a:avLst/>
              </a:prstGeom>
              <a:blipFill rotWithShape="1">
                <a:blip r:embed="rId9"/>
                <a:stretch>
                  <a:fillRect b="-12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" y="1116330"/>
            <a:ext cx="9353550" cy="53130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9660255" y="1524000"/>
                <a:ext cx="2510790" cy="12179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512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8676314632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zh-CN" altLang="en-US" i="1">
                    <a:latin typeface="Cambria Math" panose="02040503050406030204" charset="0"/>
                    <a:cs typeface="Cambria Math" panose="02040503050406030204" charset="0"/>
                  </a:rPr>
                  <a:t>实际</a:t>
                </a:r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T=</a:t>
                </a:r>
                <a:r>
                  <a:rPr lang="en-US" altLang="zh-CN">
                    <a:latin typeface="Noto Serif CJK SC Light" panose="02020300000000000000" charset="-122"/>
                    <a:ea typeface="Noto Serif CJK SC Light" panose="02020300000000000000" charset="-122"/>
                    <a:sym typeface="+mn-ea"/>
                  </a:rPr>
                  <a:t>0.866288685s</a:t>
                </a:r>
                <a:endParaRPr lang="en-US" altLang="zh-CN">
                  <a:latin typeface="Noto Serif CJK SC Light" panose="02020300000000000000" charset="-122"/>
                  <a:ea typeface="Noto Serif CJK SC Light" panose="02020300000000000000" charset="-122"/>
                  <a:sym typeface="+mn-ea"/>
                </a:endParaRPr>
              </a:p>
              <a:p>
                <a:pPr algn="l"/>
                <a:r>
                  <a:rPr lang="zh-CN" altLang="en-US">
                    <a:latin typeface="Noto Serif CJK SC Light" panose="02020300000000000000" charset="-122"/>
                    <a:ea typeface="Noto Serif CJK SC Light" panose="02020300000000000000" charset="-122"/>
                    <a:sym typeface="+mn-ea"/>
                  </a:rPr>
                  <a:t>误差</a:t>
                </a:r>
                <a:r>
                  <a:rPr lang="en-US" altLang="zh-CN">
                    <a:latin typeface="Noto Serif CJK SC Light" panose="02020300000000000000" charset="-122"/>
                    <a:ea typeface="Noto Serif CJK SC Light" panose="02020300000000000000" charset="-122"/>
                    <a:sym typeface="+mn-ea"/>
                  </a:rPr>
                  <a:t>0.155%</a:t>
                </a:r>
                <a:endParaRPr lang="en-US" altLang="zh-CN">
                  <a:latin typeface="Noto Serif CJK SC Light" panose="02020300000000000000" charset="-122"/>
                  <a:ea typeface="Noto Serif CJK SC Light" panose="02020300000000000000" charset="-122"/>
                </a:endParaRPr>
              </a:p>
              <a:p>
                <a:pPr algn="l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1024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911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2048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55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189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4096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441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055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zh-CN" altLang="en-US" i="1">
                    <a:latin typeface="Cambria Math" panose="02040503050406030204" charset="0"/>
                    <a:cs typeface="Cambria Math" panose="02040503050406030204" charset="0"/>
                  </a:rPr>
                  <a:t>相应</a:t>
                </a:r>
                <a:r>
                  <a:rPr lang="zh-CN" altLang="en-US" i="1">
                    <a:latin typeface="Cambria Math" panose="02040503050406030204" charset="0"/>
                    <a:cs typeface="Cambria Math" panose="02040503050406030204" charset="0"/>
                  </a:rPr>
                  <a:t>性能对应于：</a:t>
                </a:r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303.45131 MFLOPS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311.29155 MFLOPS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311.61409 MFLOPS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255" y="1524000"/>
                <a:ext cx="2510790" cy="1217930"/>
              </a:xfrm>
              <a:prstGeom prst="rect">
                <a:avLst/>
              </a:prstGeom>
              <a:blipFill rotWithShape="1">
                <a:blip r:embed="rId10"/>
                <a:stretch>
                  <a:fillRect r="-708" b="-309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8225" y="978535"/>
            <a:ext cx="7400925" cy="583882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分配任务均匀性分析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150" y="933450"/>
            <a:ext cx="7505700" cy="583882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公式推算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0" y="896620"/>
            <a:ext cx="10888345" cy="4871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方法二：按</a:t>
            </a:r>
            <a:r>
              <a:rPr lang="en-US" altLang="zh-CN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FLOPS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外推</a:t>
            </a: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时间</a:t>
            </a:r>
            <a:endParaRPr lang="en-US" altLang="zh-CN" sz="20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12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70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79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TABLE_ENDDRAG_ORIGIN_RECT" val="890*422"/>
  <p:tag name="TABLE_ENDDRAG_RECT" val="29*81*890*422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5279</Words>
  <Application>WPS 演示</Application>
  <PresentationFormat>宽屏</PresentationFormat>
  <Paragraphs>1594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Arial Unicode MS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674</cp:revision>
  <dcterms:created xsi:type="dcterms:W3CDTF">2019-06-19T02:08:00Z</dcterms:created>
  <dcterms:modified xsi:type="dcterms:W3CDTF">2026-01-15T16:47:52Z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