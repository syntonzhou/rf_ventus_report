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8" r:id="rId3"/>
    <p:sldId id="400" r:id="rId4"/>
    <p:sldId id="420" r:id="rId5"/>
    <p:sldId id="432" r:id="rId6"/>
    <p:sldId id="436" r:id="rId7"/>
    <p:sldId id="438" r:id="rId8"/>
    <p:sldId id="437" r:id="rId9"/>
    <p:sldId id="435" r:id="rId10"/>
    <p:sldId id="433" r:id="rId11"/>
    <p:sldId id="423" r:id="rId12"/>
    <p:sldId id="422" r:id="rId13"/>
    <p:sldId id="427" r:id="rId14"/>
    <p:sldId id="428" r:id="rId15"/>
    <p:sldId id="429" r:id="rId16"/>
    <p:sldId id="430" r:id="rId17"/>
    <p:sldId id="431" r:id="rId18"/>
    <p:sldId id="417" r:id="rId19"/>
    <p:sldId id="418" r:id="rId20"/>
    <p:sldId id="281" r:id="rId21"/>
  </p:sldIdLst>
  <p:sldSz cx="12192000" cy="6858000"/>
  <p:notesSz cx="6858000" cy="9144000"/>
  <p:embeddedFontLst>
    <p:embeddedFont>
      <p:font typeface="微软雅黑" panose="020B0503020204020204" charset="-122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096E6"/>
    <a:srgbClr val="566798"/>
    <a:srgbClr val="556595"/>
    <a:srgbClr val="4B547B"/>
    <a:srgbClr val="515983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6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217.xml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096875"/>
          <c:y val="0.0259228725840432"/>
          <c:w val="0.896791666666667"/>
          <c:h val="0.85127782357790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优化前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864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4323593.988</c:v>
                </c:pt>
                <c:pt idx="1">
                  <c:v>26463367.36</c:v>
                </c:pt>
                <c:pt idx="2">
                  <c:v>94047414.04</c:v>
                </c:pt>
                <c:pt idx="3">
                  <c:v>187184210.9</c:v>
                </c:pt>
                <c:pt idx="4">
                  <c:v>251393773.8</c:v>
                </c:pt>
                <c:pt idx="5">
                  <c:v>269731635.2</c:v>
                </c:pt>
                <c:pt idx="6">
                  <c:v>298938374.4</c:v>
                </c:pt>
                <c:pt idx="7">
                  <c:v>309868362.2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优化后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864</c:v>
                </c:pt>
              </c:numCache>
            </c:numRef>
          </c:cat>
          <c:val>
            <c:numRef>
              <c:f>Sheet1!$C$2:$C$10</c:f>
              <c:numCache>
                <c:formatCode>0.00_ </c:formatCode>
                <c:ptCount val="9"/>
                <c:pt idx="0">
                  <c:v>1504997.06055262</c:v>
                </c:pt>
                <c:pt idx="1">
                  <c:v>6469956.40361408</c:v>
                </c:pt>
                <c:pt idx="2">
                  <c:v>33669673.8661351</c:v>
                </c:pt>
                <c:pt idx="3">
                  <c:v>171212853.504017</c:v>
                </c:pt>
                <c:pt idx="4">
                  <c:v>539343781.665184</c:v>
                </c:pt>
                <c:pt idx="5">
                  <c:v>788848588.347365</c:v>
                </c:pt>
                <c:pt idx="6">
                  <c:v>1086048930.4802</c:v>
                </c:pt>
                <c:pt idx="7">
                  <c:v>1271964912.24163</c:v>
                </c:pt>
                <c:pt idx="8">
                  <c:v>1350665377.86763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57820746"/>
        <c:axId val="132732155"/>
      </c:lineChart>
      <c:catAx>
        <c:axId val="25782074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2732155"/>
        <c:crosses val="autoZero"/>
        <c:auto val="1"/>
        <c:lblAlgn val="ctr"/>
        <c:lblOffset val="100"/>
        <c:noMultiLvlLbl val="0"/>
      </c:catAx>
      <c:valAx>
        <c:axId val="1327321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5782074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f3ac412-5a35-4d7c-8767-467977400b7c}"/>
      </c:ext>
    </c:extLst>
  </c:chart>
  <c:spPr>
    <a:noFill/>
    <a:ln>
      <a:noFill/>
    </a:ln>
    <a:effectLst/>
  </c:spPr>
  <c:txPr>
    <a:bodyPr/>
    <a:lstStyle/>
    <a:p>
      <a:pPr>
        <a:defRPr lang="zh-CN" sz="1400" b="1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优化前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4323593.988</c:v>
                </c:pt>
                <c:pt idx="1">
                  <c:v>26463367.36</c:v>
                </c:pt>
                <c:pt idx="2">
                  <c:v>94047414.04</c:v>
                </c:pt>
                <c:pt idx="3">
                  <c:v>187184210.9</c:v>
                </c:pt>
                <c:pt idx="4">
                  <c:v>251393773.8</c:v>
                </c:pt>
                <c:pt idx="5">
                  <c:v>269731635.2</c:v>
                </c:pt>
                <c:pt idx="6">
                  <c:v>298938374.4</c:v>
                </c:pt>
                <c:pt idx="7">
                  <c:v>309868362.2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优化后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</c:numCache>
            </c:numRef>
          </c:cat>
          <c:val>
            <c:numRef>
              <c:f>Sheet1!$C$2:$C$9</c:f>
              <c:numCache>
                <c:formatCode>0.00_ </c:formatCode>
                <c:ptCount val="8"/>
                <c:pt idx="0">
                  <c:v>1505705.21115163</c:v>
                </c:pt>
                <c:pt idx="1">
                  <c:v>6476503.69995573</c:v>
                </c:pt>
                <c:pt idx="2">
                  <c:v>33036920.5331398</c:v>
                </c:pt>
                <c:pt idx="3">
                  <c:v>170247697.723051</c:v>
                </c:pt>
                <c:pt idx="4">
                  <c:v>562894091.248262</c:v>
                </c:pt>
                <c:pt idx="5">
                  <c:v>807408213.060238</c:v>
                </c:pt>
                <c:pt idx="6">
                  <c:v>1127607735.74517</c:v>
                </c:pt>
                <c:pt idx="7">
                  <c:v>1307585784.55221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57820746"/>
        <c:axId val="132732155"/>
      </c:lineChart>
      <c:catAx>
        <c:axId val="25782074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2732155"/>
        <c:crosses val="autoZero"/>
        <c:auto val="1"/>
        <c:lblAlgn val="ctr"/>
        <c:lblOffset val="100"/>
        <c:noMultiLvlLbl val="0"/>
      </c:catAx>
      <c:valAx>
        <c:axId val="1327321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5782074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f3ac412-5a35-4d7c-8767-467977400b7c}"/>
      </c:ext>
    </c:extLst>
  </c:chart>
  <c:spPr>
    <a:noFill/>
    <a:ln>
      <a:noFill/>
    </a:ln>
    <a:effectLst/>
  </c:spPr>
  <c:txPr>
    <a:bodyPr/>
    <a:lstStyle/>
    <a:p>
      <a:pPr>
        <a:defRPr lang="zh-CN" sz="1400" b="1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MFLOPS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0.67</c:v>
                </c:pt>
                <c:pt idx="1">
                  <c:v>1.33</c:v>
                </c:pt>
                <c:pt idx="2">
                  <c:v>2.67</c:v>
                </c:pt>
                <c:pt idx="3">
                  <c:v>5.33</c:v>
                </c:pt>
                <c:pt idx="4">
                  <c:v>10.67</c:v>
                </c:pt>
                <c:pt idx="5">
                  <c:v>21.33</c:v>
                </c:pt>
                <c:pt idx="6">
                  <c:v>42.67</c:v>
                </c:pt>
                <c:pt idx="7">
                  <c:v>85.55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4.323593988</c:v>
                </c:pt>
                <c:pt idx="1">
                  <c:v>26.46336736</c:v>
                </c:pt>
                <c:pt idx="2">
                  <c:v>94.04741404</c:v>
                </c:pt>
                <c:pt idx="3">
                  <c:v>187.1842109</c:v>
                </c:pt>
                <c:pt idx="4">
                  <c:v>251.3937738</c:v>
                </c:pt>
                <c:pt idx="5">
                  <c:v>269.7316352</c:v>
                </c:pt>
                <c:pt idx="6">
                  <c:v>298.9383744</c:v>
                </c:pt>
                <c:pt idx="7">
                  <c:v>309.8683622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89349982"/>
        <c:axId val="284234661"/>
      </c:lineChart>
      <c:catAx>
        <c:axId val="78934998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4234661"/>
        <c:crosses val="autoZero"/>
        <c:auto val="1"/>
        <c:lblAlgn val="ctr"/>
        <c:lblOffset val="100"/>
        <c:noMultiLvlLbl val="0"/>
      </c:catAx>
      <c:valAx>
        <c:axId val="28423466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8934998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761b0f6-9f8b-49d3-a0dd-99d7d312e27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时间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chemeClr val="tx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初始化阶段</c:v>
                </c:pt>
                <c:pt idx="1">
                  <c:v>参数加载阶段</c:v>
                </c:pt>
                <c:pt idx="2">
                  <c:v>地址计算阶段</c:v>
                </c:pt>
                <c:pt idx="3">
                  <c:v>矩阵加载阶段</c:v>
                </c:pt>
                <c:pt idx="4">
                  <c:v>核心计算阶段</c:v>
                </c:pt>
                <c:pt idx="5">
                  <c:v>结果存储阶段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1.21</c:v>
                </c:pt>
                <c:pt idx="1">
                  <c:v>0.12</c:v>
                </c:pt>
                <c:pt idx="2">
                  <c:v>20.08</c:v>
                </c:pt>
                <c:pt idx="3">
                  <c:v>3.75</c:v>
                </c:pt>
                <c:pt idx="4">
                  <c:v>3.39</c:v>
                </c:pt>
                <c:pt idx="5" c:formatCode="0.0_ ">
                  <c:v>1.03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21"/>
        <c:axId val="999980620"/>
        <c:axId val="480625580"/>
      </c:barChart>
      <c:catAx>
        <c:axId val="99998062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480625580"/>
        <c:crosses val="autoZero"/>
        <c:auto val="1"/>
        <c:lblAlgn val="ctr"/>
        <c:lblOffset val="100"/>
        <c:noMultiLvlLbl val="0"/>
      </c:catAx>
      <c:valAx>
        <c:axId val="4806255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9999806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4c6f98a-b66b-4d5e-afc9-b5e31e9def6b}"/>
      </c:ext>
    </c:extLst>
  </c:chart>
  <c:spPr>
    <a:noFill/>
    <a:ln>
      <a:noFill/>
    </a:ln>
    <a:effectLst/>
  </c:spPr>
  <c:txPr>
    <a:bodyPr/>
    <a:lstStyle/>
    <a:p>
      <a:pPr>
        <a:defRPr lang="zh-CN" sz="1400" b="1">
          <a:solidFill>
            <a:schemeClr val="tx1"/>
          </a:solidFill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时间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chemeClr val="tx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初始化阶段</c:v>
                </c:pt>
                <c:pt idx="1">
                  <c:v>参数加载阶段</c:v>
                </c:pt>
                <c:pt idx="2">
                  <c:v>地址计算阶段</c:v>
                </c:pt>
                <c:pt idx="3">
                  <c:v>矩阵加载阶段</c:v>
                </c:pt>
                <c:pt idx="4">
                  <c:v>核心计算阶段</c:v>
                </c:pt>
                <c:pt idx="5">
                  <c:v>结果存储阶段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15.535</c:v>
                </c:pt>
                <c:pt idx="1">
                  <c:v>5.81</c:v>
                </c:pt>
                <c:pt idx="2">
                  <c:v>5.15</c:v>
                </c:pt>
                <c:pt idx="3">
                  <c:v>5.07</c:v>
                </c:pt>
                <c:pt idx="4">
                  <c:v>6.08</c:v>
                </c:pt>
                <c:pt idx="5" c:formatCode="0.0_ ">
                  <c:v>1.03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21"/>
        <c:axId val="999980620"/>
        <c:axId val="480625580"/>
      </c:barChart>
      <c:catAx>
        <c:axId val="99998062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480625580"/>
        <c:crosses val="autoZero"/>
        <c:auto val="1"/>
        <c:lblAlgn val="ctr"/>
        <c:lblOffset val="100"/>
        <c:noMultiLvlLbl val="0"/>
      </c:catAx>
      <c:valAx>
        <c:axId val="4806255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9999806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4c6f98a-b66b-4d5e-afc9-b5e31e9def6b}"/>
      </c:ext>
    </c:extLst>
  </c:chart>
  <c:spPr>
    <a:noFill/>
    <a:ln>
      <a:noFill/>
    </a:ln>
    <a:effectLst/>
  </c:spPr>
  <c:txPr>
    <a:bodyPr/>
    <a:lstStyle/>
    <a:p>
      <a:pPr>
        <a:defRPr lang="zh-CN" sz="1400" b="1">
          <a:solidFill>
            <a:schemeClr val="tx1"/>
          </a:solidFill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时间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chemeClr val="tx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初始化阶段</c:v>
                </c:pt>
                <c:pt idx="1">
                  <c:v>参数加载阶段</c:v>
                </c:pt>
                <c:pt idx="2">
                  <c:v>地址计算阶段</c:v>
                </c:pt>
                <c:pt idx="3">
                  <c:v>矩阵加载阶段</c:v>
                </c:pt>
                <c:pt idx="4">
                  <c:v>核心计算阶段</c:v>
                </c:pt>
                <c:pt idx="5">
                  <c:v>结果存储阶段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34.745</c:v>
                </c:pt>
                <c:pt idx="1">
                  <c:v>15.85</c:v>
                </c:pt>
                <c:pt idx="2">
                  <c:v>16.55</c:v>
                </c:pt>
                <c:pt idx="3">
                  <c:v>5.08</c:v>
                </c:pt>
                <c:pt idx="4">
                  <c:v>13.57</c:v>
                </c:pt>
                <c:pt idx="5" c:formatCode="0.0_ ">
                  <c:v>1.3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21"/>
        <c:axId val="999980620"/>
        <c:axId val="480625580"/>
      </c:barChart>
      <c:catAx>
        <c:axId val="99998062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480625580"/>
        <c:crosses val="autoZero"/>
        <c:auto val="1"/>
        <c:lblAlgn val="ctr"/>
        <c:lblOffset val="100"/>
        <c:noMultiLvlLbl val="0"/>
      </c:catAx>
      <c:valAx>
        <c:axId val="4806255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9999806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4c6f98a-b66b-4d5e-afc9-b5e31e9def6b}"/>
      </c:ext>
    </c:extLst>
  </c:chart>
  <c:spPr>
    <a:noFill/>
    <a:ln>
      <a:noFill/>
    </a:ln>
    <a:effectLst/>
  </c:spPr>
  <c:txPr>
    <a:bodyPr/>
    <a:lstStyle/>
    <a:p>
      <a:pPr>
        <a:defRPr lang="zh-CN" sz="1400" b="1">
          <a:solidFill>
            <a:schemeClr val="tx1"/>
          </a:solidFill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时间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chemeClr val="tx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初始化阶段</c:v>
                </c:pt>
                <c:pt idx="1">
                  <c:v>参数加载阶段</c:v>
                </c:pt>
                <c:pt idx="2">
                  <c:v>地址计算阶段</c:v>
                </c:pt>
                <c:pt idx="3">
                  <c:v>矩阵加载阶段</c:v>
                </c:pt>
                <c:pt idx="4">
                  <c:v>核心计算阶段</c:v>
                </c:pt>
                <c:pt idx="5">
                  <c:v>结果存储阶段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34.745</c:v>
                </c:pt>
                <c:pt idx="1">
                  <c:v>15.85</c:v>
                </c:pt>
                <c:pt idx="2">
                  <c:v>12.67</c:v>
                </c:pt>
                <c:pt idx="3">
                  <c:v>11.09</c:v>
                </c:pt>
                <c:pt idx="4">
                  <c:v>43.09</c:v>
                </c:pt>
                <c:pt idx="5" c:formatCode="0.0_ ">
                  <c:v>230.66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21"/>
        <c:axId val="999980620"/>
        <c:axId val="480625580"/>
      </c:barChart>
      <c:catAx>
        <c:axId val="99998062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480625580"/>
        <c:crosses val="autoZero"/>
        <c:auto val="1"/>
        <c:lblAlgn val="ctr"/>
        <c:lblOffset val="100"/>
        <c:noMultiLvlLbl val="0"/>
      </c:catAx>
      <c:valAx>
        <c:axId val="4806255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9999806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4c6f98a-b66b-4d5e-afc9-b5e31e9def6b}"/>
      </c:ext>
    </c:extLst>
  </c:chart>
  <c:spPr>
    <a:noFill/>
    <a:ln>
      <a:noFill/>
    </a:ln>
    <a:effectLst/>
  </c:spPr>
  <c:txPr>
    <a:bodyPr/>
    <a:lstStyle/>
    <a:p>
      <a:pPr>
        <a:defRPr lang="zh-CN" sz="1400" b="1">
          <a:solidFill>
            <a:schemeClr val="tx1"/>
          </a:solidFill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时间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chemeClr val="tx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初始化阶段</c:v>
                </c:pt>
                <c:pt idx="1">
                  <c:v>参数加载阶段</c:v>
                </c:pt>
                <c:pt idx="2">
                  <c:v>地址计算阶段</c:v>
                </c:pt>
                <c:pt idx="3">
                  <c:v>矩阵加载阶段</c:v>
                </c:pt>
                <c:pt idx="4">
                  <c:v>核心计算阶段</c:v>
                </c:pt>
                <c:pt idx="5">
                  <c:v>结果存储阶段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48.82</c:v>
                </c:pt>
                <c:pt idx="1">
                  <c:v>9.55</c:v>
                </c:pt>
                <c:pt idx="2">
                  <c:v>2.49</c:v>
                </c:pt>
                <c:pt idx="3">
                  <c:v>11.23</c:v>
                </c:pt>
                <c:pt idx="4">
                  <c:v>2013.41</c:v>
                </c:pt>
                <c:pt idx="5" c:formatCode="0.0_ ">
                  <c:v>2.93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21"/>
        <c:axId val="999980620"/>
        <c:axId val="480625580"/>
      </c:barChart>
      <c:catAx>
        <c:axId val="99998062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480625580"/>
        <c:crosses val="autoZero"/>
        <c:auto val="1"/>
        <c:lblAlgn val="ctr"/>
        <c:lblOffset val="100"/>
        <c:noMultiLvlLbl val="0"/>
      </c:catAx>
      <c:valAx>
        <c:axId val="4806255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9999806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4c6f98a-b66b-4d5e-afc9-b5e31e9def6b}"/>
      </c:ext>
    </c:extLst>
  </c:chart>
  <c:spPr>
    <a:noFill/>
    <a:ln>
      <a:noFill/>
    </a:ln>
    <a:effectLst/>
  </c:spPr>
  <c:txPr>
    <a:bodyPr/>
    <a:lstStyle/>
    <a:p>
      <a:pPr>
        <a:defRPr lang="zh-CN" sz="1400" b="1">
          <a:solidFill>
            <a:schemeClr val="tx1"/>
          </a:solidFill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VLW12_V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0.67</c:v>
                </c:pt>
                <c:pt idx="1">
                  <c:v>1.33</c:v>
                </c:pt>
                <c:pt idx="2">
                  <c:v>2.67</c:v>
                </c:pt>
                <c:pt idx="3">
                  <c:v>5.33</c:v>
                </c:pt>
                <c:pt idx="4">
                  <c:v>10.67</c:v>
                </c:pt>
                <c:pt idx="5">
                  <c:v>21.33</c:v>
                </c:pt>
                <c:pt idx="6">
                  <c:v>42.67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13.5</c:v>
                </c:pt>
                <c:pt idx="1">
                  <c:v>7</c:v>
                </c:pt>
                <c:pt idx="2">
                  <c:v>10.3</c:v>
                </c:pt>
                <c:pt idx="3">
                  <c:v>17</c:v>
                </c:pt>
                <c:pt idx="4">
                  <c:v>18.9</c:v>
                </c:pt>
                <c:pt idx="5">
                  <c:v>19.4</c:v>
                </c:pt>
                <c:pt idx="6">
                  <c:v>19.6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LW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0.67</c:v>
                </c:pt>
                <c:pt idx="1">
                  <c:v>1.33</c:v>
                </c:pt>
                <c:pt idx="2">
                  <c:v>2.67</c:v>
                </c:pt>
                <c:pt idx="3">
                  <c:v>5.33</c:v>
                </c:pt>
                <c:pt idx="4">
                  <c:v>10.67</c:v>
                </c:pt>
                <c:pt idx="5">
                  <c:v>21.33</c:v>
                </c:pt>
                <c:pt idx="6">
                  <c:v>42.67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13.5</c:v>
                </c:pt>
                <c:pt idx="1">
                  <c:v>11.7</c:v>
                </c:pt>
                <c:pt idx="2">
                  <c:v>9.1</c:v>
                </c:pt>
                <c:pt idx="3">
                  <c:v>3.1</c:v>
                </c:pt>
                <c:pt idx="4">
                  <c:v>1.6</c:v>
                </c:pt>
                <c:pt idx="5">
                  <c:v>1.3</c:v>
                </c:pt>
                <c:pt idx="6">
                  <c:v>1.2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LW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0.67</c:v>
                </c:pt>
                <c:pt idx="1">
                  <c:v>1.33</c:v>
                </c:pt>
                <c:pt idx="2">
                  <c:v>2.67</c:v>
                </c:pt>
                <c:pt idx="3">
                  <c:v>5.33</c:v>
                </c:pt>
                <c:pt idx="4">
                  <c:v>10.67</c:v>
                </c:pt>
                <c:pt idx="5">
                  <c:v>21.33</c:v>
                </c:pt>
                <c:pt idx="6">
                  <c:v>42.67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3.6</c:v>
                </c:pt>
                <c:pt idx="1">
                  <c:v>3.1</c:v>
                </c:pt>
                <c:pt idx="2">
                  <c:v>2.5</c:v>
                </c:pt>
                <c:pt idx="3">
                  <c:v>1</c:v>
                </c:pt>
                <c:pt idx="4">
                  <c:v>0.7</c:v>
                </c:pt>
                <c:pt idx="5">
                  <c:v>0.6</c:v>
                </c:pt>
                <c:pt idx="6">
                  <c:v>0.6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45513915"/>
        <c:axId val="859643917"/>
      </c:lineChart>
      <c:catAx>
        <c:axId val="7455139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59643917"/>
        <c:crosses val="autoZero"/>
        <c:auto val="1"/>
        <c:lblAlgn val="ctr"/>
        <c:lblOffset val="100"/>
        <c:noMultiLvlLbl val="0"/>
      </c:catAx>
      <c:valAx>
        <c:axId val="85964391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5139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10f835d-c4a3-4164-a8c5-7ca1053f084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VFMADD_VV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0.67</c:v>
                </c:pt>
                <c:pt idx="1">
                  <c:v>1.33</c:v>
                </c:pt>
                <c:pt idx="2">
                  <c:v>2.67</c:v>
                </c:pt>
                <c:pt idx="3">
                  <c:v>5.33</c:v>
                </c:pt>
                <c:pt idx="4">
                  <c:v>10.67</c:v>
                </c:pt>
                <c:pt idx="5">
                  <c:v>21.33</c:v>
                </c:pt>
                <c:pt idx="6">
                  <c:v>42.67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</c:v>
                </c:pt>
                <c:pt idx="1">
                  <c:v>1.6</c:v>
                </c:pt>
                <c:pt idx="2">
                  <c:v>2.4</c:v>
                </c:pt>
                <c:pt idx="3">
                  <c:v>4</c:v>
                </c:pt>
                <c:pt idx="4">
                  <c:v>4.5</c:v>
                </c:pt>
                <c:pt idx="5">
                  <c:v>4.6</c:v>
                </c:pt>
                <c:pt idx="6">
                  <c:v>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VMUL_VX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0.67</c:v>
                </c:pt>
                <c:pt idx="1">
                  <c:v>1.33</c:v>
                </c:pt>
                <c:pt idx="2">
                  <c:v>2.67</c:v>
                </c:pt>
                <c:pt idx="3">
                  <c:v>5.33</c:v>
                </c:pt>
                <c:pt idx="4">
                  <c:v>10.67</c:v>
                </c:pt>
                <c:pt idx="5">
                  <c:v>21.33</c:v>
                </c:pt>
                <c:pt idx="6">
                  <c:v>42.67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</c:v>
                </c:pt>
                <c:pt idx="1">
                  <c:v>0.4</c:v>
                </c:pt>
                <c:pt idx="2">
                  <c:v>0.3</c:v>
                </c:pt>
                <c:pt idx="3">
                  <c:v>0.1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VADD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0.67</c:v>
                </c:pt>
                <c:pt idx="1">
                  <c:v>1.33</c:v>
                </c:pt>
                <c:pt idx="2">
                  <c:v>2.67</c:v>
                </c:pt>
                <c:pt idx="3">
                  <c:v>5.33</c:v>
                </c:pt>
                <c:pt idx="4">
                  <c:v>10.67</c:v>
                </c:pt>
                <c:pt idx="5">
                  <c:v>21.33</c:v>
                </c:pt>
                <c:pt idx="6">
                  <c:v>42.67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7.7</c:v>
                </c:pt>
                <c:pt idx="1">
                  <c:v>8.9</c:v>
                </c:pt>
                <c:pt idx="2">
                  <c:v>10.1</c:v>
                </c:pt>
                <c:pt idx="3">
                  <c:v>14.2</c:v>
                </c:pt>
                <c:pt idx="4">
                  <c:v>15.4</c:v>
                </c:pt>
                <c:pt idx="5">
                  <c:v>15.6</c:v>
                </c:pt>
                <c:pt idx="6">
                  <c:v>15.6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45513915"/>
        <c:axId val="859643917"/>
      </c:lineChart>
      <c:catAx>
        <c:axId val="7455139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59643917"/>
        <c:crosses val="autoZero"/>
        <c:auto val="1"/>
        <c:lblAlgn val="ctr"/>
        <c:lblOffset val="100"/>
        <c:noMultiLvlLbl val="0"/>
      </c:catAx>
      <c:valAx>
        <c:axId val="85964391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5139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db5780-44bb-4a36-9aad-c23a88f99b3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image" Target="../media/image13.png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image" Target="../media/image13.png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image" Target="../media/image12.png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97.xml"/><Relationship Id="rId1" Type="http://schemas.openxmlformats.org/officeDocument/2006/relationships/tags" Target="../tags/tag9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image" Target="../media/image13.png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image" Target="../media/image12.png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06.xml"/><Relationship Id="rId11" Type="http://schemas.openxmlformats.org/officeDocument/2006/relationships/image" Target="../media/image14.png"/><Relationship Id="rId10" Type="http://schemas.openxmlformats.org/officeDocument/2006/relationships/tags" Target="../tags/tag105.xml"/><Relationship Id="rId1" Type="http://schemas.openxmlformats.org/officeDocument/2006/relationships/tags" Target="../tags/tag9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image" Target="../media/image13.png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image" Target="../media/image12.png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15.xml"/><Relationship Id="rId11" Type="http://schemas.openxmlformats.org/officeDocument/2006/relationships/image" Target="../media/image15.png"/><Relationship Id="rId10" Type="http://schemas.openxmlformats.org/officeDocument/2006/relationships/tags" Target="../tags/tag114.xml"/><Relationship Id="rId1" Type="http://schemas.openxmlformats.org/officeDocument/2006/relationships/tags" Target="../tags/tag10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image" Target="../media/image13.png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image" Target="../media/image12.png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1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3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image" Target="../media/image13.png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image" Target="../media/image12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image" Target="../media/image12.png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40.xml"/><Relationship Id="rId10" Type="http://schemas.openxmlformats.org/officeDocument/2006/relationships/image" Target="../media/image16.png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image" Target="../media/image12.png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7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image" Target="../media/image12.png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image" Target="../media/image12.png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image" Target="../media/image12.png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image" Target="../media/image12.png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chart" Target="../charts/chart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image" Target="../media/image12.png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chart" Target="../charts/chart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image" Target="../media/image12.png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chart" Target="../charts/chart10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image" Target="../media/image13.png"/><Relationship Id="rId1" Type="http://schemas.openxmlformats.org/officeDocument/2006/relationships/chart" Target="../charts/chart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image" Target="../media/image13.png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image" Target="../media/image12.png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03.xml"/><Relationship Id="rId1" Type="http://schemas.openxmlformats.org/officeDocument/2006/relationships/tags" Target="../tags/tag19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image" Target="../media/image13.png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image" Target="../media/image12.png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16.xml"/><Relationship Id="rId5" Type="http://schemas.openxmlformats.org/officeDocument/2006/relationships/image" Target="../media/image9.png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11425" y="2259330"/>
            <a:ext cx="723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VENTUS GPGPU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GEMM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分析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374900" y="2944495"/>
            <a:ext cx="744283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RISC-V GPU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在运行大模型时的性能分析与优化方案</a:t>
            </a:r>
            <a:endParaRPr lang="en-US" altLang="zh-CN" sz="2400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66260" y="5334635"/>
            <a:ext cx="34588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2025-</a:t>
            </a:r>
            <a:r>
              <a:rPr kumimoji="1"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高级模拟及射频集成电路设计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南京大学集成电路学院</a:t>
            </a:r>
            <a:endParaRPr kumimoji="1"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目录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9"/>
            </p:custDataLst>
          </p:nvPr>
        </p:nvSpPr>
        <p:spPr>
          <a:xfrm>
            <a:off x="586105" y="1990090"/>
            <a:ext cx="99866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理论</a:t>
            </a:r>
            <a:r>
              <a:rPr lang="en-US" altLang="zh-CN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FLOPS</a:t>
            </a:r>
            <a:r>
              <a:rPr lang="zh-CN" altLang="en-US" sz="28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计算</a:t>
            </a:r>
            <a:endParaRPr lang="zh-CN" altLang="en-US" sz="28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3" name="图形"/>
          <p:cNvSpPr txBox="1"/>
          <p:nvPr>
            <p:custDataLst>
              <p:tags r:id="rId10"/>
            </p:custDataLst>
          </p:nvPr>
        </p:nvSpPr>
        <p:spPr>
          <a:xfrm>
            <a:off x="586105" y="3657600"/>
            <a:ext cx="1220279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【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csdn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】《乘影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 GPGPU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【一】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简介》</a:t>
            </a:r>
            <a:endParaRPr lang="zh-CN" altLang="en-US" sz="2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《乘影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GPGPU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架构文档手册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v2.02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》</a:t>
            </a:r>
            <a:endParaRPr lang="zh-CN" altLang="en-US" sz="2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《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ventus-gpgpu-verilog/README.md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》</a:t>
            </a:r>
            <a:endParaRPr lang="zh-CN" altLang="en-US" sz="2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《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MICRO 2025 Tutorial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》</a:t>
            </a:r>
            <a:endParaRPr lang="zh-CN" altLang="en-US" sz="2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【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overfit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】《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：基于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RISCV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的开源</a:t>
            </a:r>
            <a:r>
              <a:rPr lang="en-US" altLang="zh-CN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GPGPU</a:t>
            </a:r>
            <a:r>
              <a:rPr lang="zh-CN" altLang="en-US" sz="2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》</a:t>
            </a:r>
            <a:endParaRPr lang="zh-CN" altLang="en-US" sz="2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6" name="图形"/>
          <p:cNvSpPr txBox="1"/>
          <p:nvPr>
            <p:custDataLst>
              <p:tags r:id="rId11"/>
            </p:custDataLst>
          </p:nvPr>
        </p:nvSpPr>
        <p:spPr>
          <a:xfrm>
            <a:off x="586105" y="1305560"/>
            <a:ext cx="99866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阶段小结</a:t>
            </a:r>
            <a:endParaRPr lang="zh-CN" altLang="en-US" sz="2800" b="1" spc="100" dirty="0">
              <a:solidFill>
                <a:schemeClr val="tx1">
                  <a:alpha val="87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10" name="图形"/>
          <p:cNvSpPr txBox="1"/>
          <p:nvPr>
            <p:custDataLst>
              <p:tags r:id="rId12"/>
            </p:custDataLst>
          </p:nvPr>
        </p:nvSpPr>
        <p:spPr>
          <a:xfrm>
            <a:off x="586105" y="2921000"/>
            <a:ext cx="99866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参考</a:t>
            </a:r>
            <a:r>
              <a:rPr lang="zh-CN" altLang="en-US" sz="2800" b="1" spc="100" dirty="0">
                <a:solidFill>
                  <a:schemeClr val="tx1">
                    <a:alpha val="87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Noto Serif CJK SC Black" panose="02020900000000000000" charset="-122"/>
                <a:sym typeface="+mn-ea"/>
              </a:rPr>
              <a:t>文献</a:t>
            </a:r>
            <a:endParaRPr lang="zh-CN" altLang="en-US" sz="2800" b="1" spc="100" dirty="0">
              <a:solidFill>
                <a:schemeClr val="tx1">
                  <a:alpha val="87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对性能的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9"/>
            </p:custDataLst>
          </p:nvPr>
        </p:nvGraphicFramePr>
        <p:xfrm>
          <a:off x="375285" y="1032510"/>
          <a:ext cx="11306175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0"/>
                <a:gridCol w="928370"/>
                <a:gridCol w="1620520"/>
                <a:gridCol w="1619885"/>
                <a:gridCol w="1548130"/>
                <a:gridCol w="1079500"/>
                <a:gridCol w="1080135"/>
                <a:gridCol w="1080135"/>
                <a:gridCol w="1305560"/>
              </a:tblGrid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Tile_M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Tile_N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error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0.000029605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4323593.988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0.000038695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26463367.36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8192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0.000087105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94047414.04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65536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0.000350115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187184210.9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524288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0.002085525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251393773.8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4194304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0.015549915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269731635.2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16384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33554432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0.112245315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298938374.4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65536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268435456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0.866288685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309868362.2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262144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2147483648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2048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341.33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17179869184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682.67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137438953472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对性能的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/>
              <p:nvPr>
                <p:custDataLst>
                  <p:tags r:id="rId9"/>
                </p:custDataLst>
              </p:nvPr>
            </p:nvGraphicFramePr>
            <p:xfrm>
              <a:off x="865505" y="1002030"/>
              <a:ext cx="10764000" cy="5999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4000"/>
                    <a:gridCol w="900000"/>
                    <a:gridCol w="1620000"/>
                    <a:gridCol w="1800000"/>
                    <a:gridCol w="1800000"/>
                    <a:gridCol w="1800000"/>
                    <a:gridCol w="1800000"/>
                  </a:tblGrid>
                  <a:tr h="396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M,N,K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AI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</a:t>
                          </a: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Time(s)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time(s)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FLOPS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0.000029605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4323593.988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0.000042925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1490972.627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0.000038695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26463367.36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0.000080885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6329974.655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8192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0.000087105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94047414.04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0.000250695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32677157.50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343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65536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0.000350115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187184210.9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0.000418775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156494537.6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524288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0.002085525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251393773.8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0.001168265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448774892.7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4194304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0.015549915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269731635.2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0.007189475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(B)5828705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5316995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5316985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583395032.3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33554432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0.112245315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298938374.4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0.050004065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671034084.9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268435456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0.866288685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309868362.2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0.378897815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0.211039985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708463985.2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2147483648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6.921727090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310252574.2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3.024748546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709970966.2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2048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341.33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17179869184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55.36267417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310315017.1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24.18993992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710207187.1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4096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682.67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137438953472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442.8902508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310322824.3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193.5114709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710236725.7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 gridSpan="3"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ea typeface="Noto Serif CJK SC Light" panose="02020300000000000000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Noto Serif CJK SC Light" panose="02020300000000000000" charset="-122"/>
                                        <a:cs typeface="Cambria Math" panose="02040503050406030204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Noto Serif CJK SC Light" panose="02020300000000000000" charset="-122"/>
                                        <a:cs typeface="Cambria Math" panose="02040503050406030204" charset="0"/>
                                      </a:rPr>
                                      <m:t>𝑝𝑒𝑎𝑘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 hMerge="1">
                      <a:tcPr anchor="ctr" anchorCtr="0"/>
                    </a:tc>
                    <a:tc hMerge="1">
                      <a:tcPr marL="9842" marR="9842" marT="9842" marB="0"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310.324MFLOPS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 hMerge="1">
                      <a:tcPr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710.241MFLOPS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 hMerge="1"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/>
              <p:nvPr>
                <p:custDataLst>
                  <p:tags r:id="rId10"/>
                </p:custDataLst>
              </p:nvPr>
            </p:nvGraphicFramePr>
            <p:xfrm>
              <a:off x="865505" y="1002030"/>
              <a:ext cx="10764000" cy="5999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4000"/>
                    <a:gridCol w="900000"/>
                    <a:gridCol w="1620000"/>
                    <a:gridCol w="1800000"/>
                    <a:gridCol w="1800000"/>
                    <a:gridCol w="1800000"/>
                    <a:gridCol w="1800000"/>
                  </a:tblGrid>
                  <a:tr h="396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M,N,K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AI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</a:t>
                          </a: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Time(s)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time(s)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FLOPS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0.000029605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4323593.988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0.000042925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1490972.627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0.000038695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26463367.36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0.000080885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6329974.655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8192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0.000087105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94047414.04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0.000250695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32677157.50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343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65536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0.000350115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187184210.9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0.000418775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156494537.6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524288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0.002085525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251393773.8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0.001168265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448774892.7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4194304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0.015549915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269731635.2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0.007189475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(B)5828705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5316995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5316985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583395032.3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33554432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0.112245315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298938374.4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0.050004065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671034084.9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268435456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0.866288685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309868362.2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0.378897815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0.211039985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708463985.2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2147483648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6.921727090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310252574.2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3.024748546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709970966.2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2048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341.33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17179869184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55.36267417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310315017.1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24.18993992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710207187.1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4096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682.67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137438953472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442.8902508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310322824.3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193.5114709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710236725.7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  <a:tc hMerge="1">
                      <a:tcPr anchor="ctr" anchorCtr="0"/>
                    </a:tc>
                    <a:tc hMerge="1">
                      <a:tcPr marL="9842" marR="9842" marT="9842" marB="0"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310.324MFLOPS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 hMerge="1">
                      <a:tcPr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710.241MFLOPS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 hMerge="1"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对性能的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/>
              <p:nvPr>
                <p:custDataLst>
                  <p:tags r:id="rId9"/>
                </p:custDataLst>
              </p:nvPr>
            </p:nvGraphicFramePr>
            <p:xfrm>
              <a:off x="865505" y="1002030"/>
              <a:ext cx="10764000" cy="6195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4000"/>
                    <a:gridCol w="900000"/>
                    <a:gridCol w="1620000"/>
                    <a:gridCol w="1800000"/>
                    <a:gridCol w="1800000"/>
                    <a:gridCol w="1800000"/>
                    <a:gridCol w="1800000"/>
                  </a:tblGrid>
                  <a:tr h="396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M,N,K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AI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</a:t>
                          </a: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Time(s)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time(s)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FLOPS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0.000029605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4323593.988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0.000042505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1504997.06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0.000038695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26463367.36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0.000079055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6469956.40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8192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0.000087105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94047414.04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0.000247965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33669673.87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343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65536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0.000350115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187184210.9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0.000384945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171212853.50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524288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0.002085525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251393773.8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0.000931415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539343781.67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4194304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0.015549915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269731635.2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0.005194775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788848588.35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33554432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0.112245315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298938374.4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0.029757185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1086048930.48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268435456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0.866288685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309868362.2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0.205290895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1271964912.24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0.955044165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1350665377.87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2147483648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6.921727090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310252574.2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2048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341.33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17179869184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55.36267417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310315017.1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4096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682.67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137438953472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442.8902508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310322824.3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 gridSpan="3"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ea typeface="Noto Serif CJK SC Light" panose="02020300000000000000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Noto Serif CJK SC Light" panose="02020300000000000000" charset="-122"/>
                                        <a:cs typeface="Cambria Math" panose="02040503050406030204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ea typeface="Noto Serif CJK SC Light" panose="02020300000000000000" charset="-122"/>
                                        <a:cs typeface="Cambria Math" panose="02040503050406030204" charset="0"/>
                                      </a:rPr>
                                      <m:t>𝑝𝑒𝑎𝑘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 hMerge="1">
                      <a:tcPr anchor="ctr" anchorCtr="0"/>
                    </a:tc>
                    <a:tc hMerge="1">
                      <a:tcPr marL="9842" marR="9842" marT="9842" marB="0"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310.323 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 hMerge="1">
                      <a:tcPr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1350.665 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 hMerge="1"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/>
              <p:nvPr>
                <p:custDataLst>
                  <p:tags r:id="rId10"/>
                </p:custDataLst>
              </p:nvPr>
            </p:nvGraphicFramePr>
            <p:xfrm>
              <a:off x="865505" y="1002030"/>
              <a:ext cx="10764000" cy="6195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4000"/>
                    <a:gridCol w="900000"/>
                    <a:gridCol w="1620000"/>
                    <a:gridCol w="1800000"/>
                    <a:gridCol w="1800000"/>
                    <a:gridCol w="1800000"/>
                    <a:gridCol w="1800000"/>
                  </a:tblGrid>
                  <a:tr h="396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M,N,K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AI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</a:t>
                          </a: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Time(s)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FLOPS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time(s)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New FLOPS</a:t>
                          </a:r>
                          <a:endParaRPr lang="en-US" altLang="zh-CN">
                            <a:solidFill>
                              <a:schemeClr val="tx1"/>
                            </a:solidFill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0.000029605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4323593.988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0.000042505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1504997.06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0.000038695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26463367.36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0.000079055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6469956.40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8192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0.000087105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94047414.04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0.000247965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33669673.87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343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65536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0.000350115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187184210.9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0.000384945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171212853.50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524288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0.002085525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251393773.8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0.000931415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539343781.67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4194304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0.015549915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269731635.2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0.005194775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788848588.35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33554432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0.112245315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298938374.4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0.029757185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1086048930.48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268435456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0.866288685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309868362.2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0.205290895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1271964912.24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0.955044165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1350665377.87 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2147483648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6.921727090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310252574.2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2048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341.33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17179869184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55.36267417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310315017.1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4096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682.67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137438953472</a:t>
                          </a:r>
                          <a:endParaRPr lang="en-US" altLang="zh-CN" sz="1800" b="0" i="0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442.8902508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310322824.3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\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  <a:tr h="44704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  <a:tc hMerge="1">
                      <a:tcPr anchor="ctr" anchorCtr="0"/>
                    </a:tc>
                    <a:tc hMerge="1">
                      <a:tcPr marL="9842" marR="9842" marT="9842" marB="0"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310.323 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 hMerge="1">
                      <a:tcPr anchor="ctr" anchorCtr="0"/>
                    </a:tc>
                    <a:tc gridSpan="2"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1350.665 MFLOPS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  <a:tc hMerge="1">
                      <a:tcPr anchor="ctr" anchorCtr="0">
                        <a:gradFill>
                          <a:gsLst>
                            <a:gs pos="0">
                              <a:srgbClr val="D7F0FC"/>
                            </a:gs>
                            <a:gs pos="52000">
                              <a:srgbClr val="FFEFDE"/>
                            </a:gs>
                            <a:gs pos="100000">
                              <a:srgbClr val="FFDCFC"/>
                            </a:gs>
                          </a:gsLst>
                          <a:lin ang="5400000" scaled="1"/>
                        </a:grad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对性能的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图表 1"/>
          <p:cNvGraphicFramePr/>
          <p:nvPr/>
        </p:nvGraphicFramePr>
        <p:xfrm>
          <a:off x="0" y="-635"/>
          <a:ext cx="12192000" cy="6932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对性能的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9"/>
            </p:custDataLst>
          </p:nvPr>
        </p:nvGraphicFramePr>
        <p:xfrm>
          <a:off x="865505" y="1362710"/>
          <a:ext cx="11016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/>
                <a:gridCol w="828000"/>
                <a:gridCol w="1368000"/>
                <a:gridCol w="1584000"/>
                <a:gridCol w="1584000"/>
                <a:gridCol w="1584000"/>
                <a:gridCol w="1548000"/>
                <a:gridCol w="1512000"/>
              </a:tblGrid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New 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without RESTRICT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without ALIGNED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1wg with ALIGNED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268435456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0.866288685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0.378897815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0.378897815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0.527375555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0.668499165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10"/>
            </p:custDataLst>
          </p:nvPr>
        </p:nvGraphicFramePr>
        <p:xfrm>
          <a:off x="865505" y="1362710"/>
          <a:ext cx="11016000" cy="153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/>
                <a:gridCol w="828000"/>
                <a:gridCol w="1368000"/>
                <a:gridCol w="1584000"/>
                <a:gridCol w="1584000"/>
                <a:gridCol w="1584000"/>
                <a:gridCol w="1548000"/>
                <a:gridCol w="1512000"/>
              </a:tblGrid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New 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without RESTRICT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2wg with ALIGNED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1wg with ALIGNED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268435456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0.866288685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0.378897815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0.378897815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0.527375555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0.668499165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m32n8k16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334325115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D7F0FC"/>
                        </a:gs>
                        <a:gs pos="52000">
                          <a:srgbClr val="FFEFDE"/>
                        </a:gs>
                        <a:gs pos="100000">
                          <a:srgbClr val="FFDCFC"/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11"/>
            </p:custDataLst>
          </p:nvPr>
        </p:nvGraphicFramePr>
        <p:xfrm>
          <a:off x="865505" y="4085590"/>
          <a:ext cx="9936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00"/>
                <a:gridCol w="1656000"/>
                <a:gridCol w="1656000"/>
                <a:gridCol w="1656000"/>
                <a:gridCol w="1656000"/>
                <a:gridCol w="1656000"/>
              </a:tblGrid>
              <a:tr h="396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m16n16k16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m32n8k16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m8n32k16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268435456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0.378897815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0.484560105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对性能的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2" name="图表 1"/>
          <p:cNvGraphicFramePr/>
          <p:nvPr/>
        </p:nvGraphicFramePr>
        <p:xfrm>
          <a:off x="0" y="1009650"/>
          <a:ext cx="6095365" cy="5922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774565" y="1244600"/>
                <a:ext cx="7427595" cy="54425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𝑜𝑙𝑑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0015917935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6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4448782214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𝑜𝑙𝑑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0015917935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6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4448782214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9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00079589677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22243911067793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→∞,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𝑜𝑙𝑑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22243911067793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310323939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6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𝐹𝐿𝑂𝑃𝑆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0011497792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8159457885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𝑜𝑙𝑑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0011497792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8159457885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9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00057488958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407972894264118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→∞,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𝑜𝑙𝑑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407972894264118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710240945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8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𝐹𝐿𝑂𝑃𝑆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565" y="1244600"/>
                <a:ext cx="7427595" cy="544258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对性能的分析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5" name="图表 14"/>
          <p:cNvGraphicFramePr/>
          <p:nvPr/>
        </p:nvGraphicFramePr>
        <p:xfrm>
          <a:off x="2216150" y="201041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对运算阶段的分析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10"/>
            </p:custDataLst>
          </p:nvPr>
        </p:nvGraphicFramePr>
        <p:xfrm>
          <a:off x="375285" y="1019810"/>
          <a:ext cx="11306175" cy="90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0"/>
                <a:gridCol w="928370"/>
                <a:gridCol w="1620520"/>
                <a:gridCol w="1619885"/>
                <a:gridCol w="1548130"/>
                <a:gridCol w="1079500"/>
                <a:gridCol w="1080135"/>
                <a:gridCol w="1080135"/>
                <a:gridCol w="1305560"/>
              </a:tblGrid>
              <a:tr h="459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Tile_M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Tile_N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error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0.000029605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4323593.988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75285" y="2032635"/>
            <a:ext cx="11930380" cy="4735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初始化阶段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(15-1225ns, 1.21us)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参数加载阶段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(1225-1345ns, 0.12us)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地址计算阶段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(1345-21425ns, 20.08us)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矩阵加载阶段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(21425-25175ns, 3.75us)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5.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核心计算阶段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(25175-28565ns, 3.39us)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结果存储阶段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(28565-29595ns, 1.03us)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6242685" y="2168525"/>
          <a:ext cx="5928360" cy="4012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对运算阶段的分析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10"/>
            </p:custDataLst>
          </p:nvPr>
        </p:nvGraphicFramePr>
        <p:xfrm>
          <a:off x="375285" y="1019810"/>
          <a:ext cx="11306175" cy="90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0"/>
                <a:gridCol w="928370"/>
                <a:gridCol w="1620520"/>
                <a:gridCol w="1619885"/>
                <a:gridCol w="1548130"/>
                <a:gridCol w="1079500"/>
                <a:gridCol w="1080135"/>
                <a:gridCol w="1080135"/>
                <a:gridCol w="1305560"/>
              </a:tblGrid>
              <a:tr h="459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Tile_M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Tile_N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error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0.000038695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26463367.36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75285" y="2032635"/>
            <a:ext cx="11930380" cy="4735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初始化阶段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(15-15535ns, 15.52us)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参数加载阶段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(15535-21345ns, 5.81us)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地址计算阶段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(21345-26495ns, 5.15us)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矩阵加载阶段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(26495-31565ns, 5.07us)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5.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核心计算阶段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(31565-37645ns, 6.08us)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结果存储阶段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(31645-38675ns, 1.03us)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6242685" y="2168525"/>
          <a:ext cx="5928360" cy="4012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对运算阶段的分析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10"/>
            </p:custDataLst>
          </p:nvPr>
        </p:nvGraphicFramePr>
        <p:xfrm>
          <a:off x="375285" y="1019810"/>
          <a:ext cx="11306175" cy="90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0"/>
                <a:gridCol w="928370"/>
                <a:gridCol w="1620520"/>
                <a:gridCol w="1619885"/>
                <a:gridCol w="1548130"/>
                <a:gridCol w="1079500"/>
                <a:gridCol w="1080135"/>
                <a:gridCol w="1080135"/>
                <a:gridCol w="1305560"/>
              </a:tblGrid>
              <a:tr h="459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Tile_M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Tile_N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error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8192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0.000087105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94047414.04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75285" y="2032635"/>
            <a:ext cx="11930380" cy="4735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初始化阶段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(15-34745ns, 34.73us)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参数加载阶段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(34745-50595ns, 15.85us)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地址计算阶段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(50595-67145ns, 16.55us)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矩阵加载阶段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(67145-72225ns, 5.08us)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5.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核心计算阶段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(72225-85795ns, 13.57us)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结果存储阶段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(85795-87095ns, 1.30us)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6242685" y="2168525"/>
          <a:ext cx="5928360" cy="4012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对运算阶段的分析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10"/>
            </p:custDataLst>
          </p:nvPr>
        </p:nvGraphicFramePr>
        <p:xfrm>
          <a:off x="375285" y="1019810"/>
          <a:ext cx="11306175" cy="90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0"/>
                <a:gridCol w="928370"/>
                <a:gridCol w="1620520"/>
                <a:gridCol w="1619885"/>
                <a:gridCol w="1548130"/>
                <a:gridCol w="1079500"/>
                <a:gridCol w="1080135"/>
                <a:gridCol w="1080135"/>
                <a:gridCol w="1305560"/>
              </a:tblGrid>
              <a:tr h="459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Tile_M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Tile_N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error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65536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0.000350115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187184210.9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75285" y="2032635"/>
            <a:ext cx="11930380" cy="4735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初始化阶段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(15-34745ns, 34.73us)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参数加载阶段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(34745-50595ns, 15.85us)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地址计算阶段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(50595-63265ns, 12.67us)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矩阵加载阶段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(63265-74355ns, 11.09us)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5.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核心计算阶段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(74355-117445ns, 43.09us)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结果存储阶段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(117445-350105ns, 230.66us)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6786245" y="2168525"/>
          <a:ext cx="5384800" cy="3977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对运算阶段的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10"/>
            </p:custDataLst>
          </p:nvPr>
        </p:nvGraphicFramePr>
        <p:xfrm>
          <a:off x="375285" y="1019810"/>
          <a:ext cx="11306175" cy="90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0"/>
                <a:gridCol w="928370"/>
                <a:gridCol w="1620520"/>
                <a:gridCol w="1619885"/>
                <a:gridCol w="1548130"/>
                <a:gridCol w="1079500"/>
                <a:gridCol w="1080135"/>
                <a:gridCol w="1080135"/>
                <a:gridCol w="1305560"/>
              </a:tblGrid>
              <a:tr h="459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Time(s)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Tile_M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Tile_N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Tile_K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error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524288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0.002085525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251393773.8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 / 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75285" y="2032635"/>
            <a:ext cx="11930380" cy="4735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初始化阶段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(15-48835ns, 48.82us)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参数加载阶段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(48835-58385ns, 9.55us)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地址计算阶段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58385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-60875ns, 2.49us)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矩阵加载阶段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(60875-72105ns, 11.23us)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5.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核心计算阶段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(72105-2082585ns, 2013.41us)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结果存储阶段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(2082585-2085515ns, 2.93us)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6950075" y="2168525"/>
          <a:ext cx="5220970" cy="3850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3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4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对日志指令的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11"/>
            </p:custDataLst>
          </p:nvPr>
        </p:nvGraphicFramePr>
        <p:xfrm>
          <a:off x="328930" y="970280"/>
          <a:ext cx="11534878" cy="34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/>
                <a:gridCol w="756000"/>
                <a:gridCol w="1224000"/>
                <a:gridCol w="1332000"/>
                <a:gridCol w="648000"/>
                <a:gridCol w="648000"/>
                <a:gridCol w="1692000"/>
                <a:gridCol w="1368000"/>
                <a:gridCol w="878878"/>
                <a:gridCol w="2052000"/>
              </a:tblGrid>
              <a:tr h="46800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AI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内存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类指令占比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计算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类指令占比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性能瓶颈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 vMerge="1">
                  <a:tcPr anchor="ctr" anchorCtr="0"/>
                </a:tc>
                <a:tc vMerge="1">
                  <a:tcPr anchor="ctr" anchorCtr="0"/>
                </a:tc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VLW12_V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LW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SW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VFMADD_VV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VMUL_VX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VADD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4.32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13.5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13.5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7.7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M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emory-Bound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26.46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7.0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11.7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3.1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8.9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Memory-Bound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94.05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9.1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Memory-Bound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187.18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17.0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3.1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4.0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14.2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过渡阶段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251.39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18.9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4.5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15.4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过渡阶段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269.73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19.4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15.6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Compute-Bound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298.94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19.6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15.6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Compute-Bound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99695" y="4375150"/>
          <a:ext cx="3364230" cy="250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8499475" y="4438015"/>
          <a:ext cx="3364230" cy="2418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62610" y="4422140"/>
            <a:ext cx="1685925" cy="64135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内存</a:t>
            </a: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类指令</a:t>
            </a:r>
            <a:endParaRPr lang="zh-CN" altLang="en-US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0785" y="4473575"/>
            <a:ext cx="1685925" cy="64135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计算类指令</a:t>
            </a:r>
            <a:endParaRPr lang="zh-CN" altLang="en-US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26460" y="4473575"/>
            <a:ext cx="3556000" cy="64135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VLW12_V</a:t>
            </a:r>
            <a:r>
              <a:rPr lang="en-US" altLang="zh-CN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占比持续攀升</a:t>
            </a:r>
            <a:endParaRPr lang="zh-CN" alt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计算受限于</a:t>
            </a:r>
            <a:r>
              <a:rPr lang="zh-CN" altLang="en-US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向量加载带宽</a:t>
            </a:r>
            <a:endParaRPr lang="zh-CN" alt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LW</a:t>
            </a:r>
            <a:r>
              <a:rPr lang="en-US" altLang="zh-CN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占比下降</a:t>
            </a:r>
            <a:endParaRPr lang="zh-CN" alt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小规模瓶颈是</a:t>
            </a:r>
            <a:r>
              <a:rPr lang="zh-CN" altLang="en-US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标量加载</a:t>
            </a: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低效</a:t>
            </a:r>
            <a:endParaRPr lang="zh-CN" alt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97450" y="5240655"/>
            <a:ext cx="3556000" cy="641350"/>
          </a:xfrm>
          <a:prstGeom prst="rect">
            <a:avLst/>
          </a:prstGeom>
        </p:spPr>
        <p:txBody>
          <a:bodyPr>
            <a:noAutofit/>
          </a:bodyPr>
          <a:p>
            <a:pPr indent="0" algn="r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VFMADD_VV</a:t>
            </a:r>
            <a:r>
              <a:rPr lang="en-US" altLang="zh-CN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占比饱和</a:t>
            </a:r>
            <a:endParaRPr lang="zh-CN" alt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r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计算单元</a:t>
            </a:r>
            <a:r>
              <a:rPr lang="zh-CN" altLang="en-US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利用率</a:t>
            </a: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严重不足</a:t>
            </a:r>
            <a:endParaRPr lang="en-US" altLang="zh-CN" sz="16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r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控制类指令</a:t>
            </a: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占比恒定在</a:t>
            </a:r>
            <a:r>
              <a:rPr lang="en-US" altLang="zh-CN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20%-25%</a:t>
            </a:r>
            <a:endParaRPr lang="zh-CN" alt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r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Warp</a:t>
            </a:r>
            <a:r>
              <a:rPr lang="zh-CN" altLang="en-US" sz="1600" b="0" i="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调度</a:t>
            </a:r>
            <a:r>
              <a:rPr lang="zh-CN" altLang="en-US" sz="16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开销吞噬大量计算槽位</a:t>
            </a:r>
            <a:endParaRPr lang="zh-CN" altLang="en-US" sz="16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6096635" y="4674870"/>
            <a:ext cx="0" cy="1244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关键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值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6" name="表格 5"/>
          <p:cNvGraphicFramePr/>
          <p:nvPr>
            <p:custDataLst>
              <p:tags r:id="rId9"/>
            </p:custDataLst>
          </p:nvPr>
        </p:nvGraphicFramePr>
        <p:xfrm>
          <a:off x="1148080" y="1098550"/>
          <a:ext cx="9791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04000"/>
                <a:gridCol w="500400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参数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值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说明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SUBCORE NUM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SUBCORE WARP NUM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hw num warp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SUBCORE WARP NUM * SUBCORE NUM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hw num thread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每个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warp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的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线程数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PERIOD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10ns &lt;=&gt; 100MHz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NUM SM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SM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数量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L1D BLOCK NUM WORD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Cache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块大小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 = 32 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words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MAX CTA PER CORE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最大并发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CTA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数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vlen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向量宽度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1024bits=32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个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float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33730" y="4781550"/>
            <a:ext cx="11696700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单条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VFMADD</a:t>
            </a: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指令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	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3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 threads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32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向量宽度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 FMA = 2048 FLOP/cycle/warp</a:t>
            </a:r>
            <a:endParaRPr lang="en-US" altLang="zh-CN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单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SM			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8 warps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2048 = 16384 FLOP/cycle</a:t>
            </a:r>
            <a:endParaRPr lang="en-US" altLang="zh-CN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整个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Core		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 SM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16384 = 32768 FLOP/cycle</a:t>
            </a:r>
            <a:endParaRPr lang="en-US" altLang="zh-CN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理论峰值</a:t>
            </a:r>
            <a:r>
              <a:rPr lang="en-US" altLang="zh-CN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		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32768 FLOP/cycle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100M cycle/s = 3276800 MFLOPS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（远低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10K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倍）</a:t>
            </a:r>
            <a:endParaRPr lang="zh-CN" altLang="en-US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关键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值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6" name="表格 5"/>
          <p:cNvGraphicFramePr/>
          <p:nvPr>
            <p:custDataLst>
              <p:tags r:id="rId9"/>
            </p:custDataLst>
          </p:nvPr>
        </p:nvGraphicFramePr>
        <p:xfrm>
          <a:off x="1148080" y="1234440"/>
          <a:ext cx="10149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单元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延迟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说明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ALU/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vALU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 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cycle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整数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/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逻辑运算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MUL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 cycles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位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整数乘法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FMUL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 cycles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浮点乘法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FADD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 cycles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浮点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加法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FMACC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 cycles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融合乘加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custDataLst>
              <p:tags r:id="rId10"/>
            </p:custDataLst>
          </p:nvPr>
        </p:nvGraphicFramePr>
        <p:xfrm>
          <a:off x="1148080" y="3609340"/>
          <a:ext cx="10149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计算单元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理论峰值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关键参数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向量浮点单元（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vFPU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）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num_lane=32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张量核心（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Tensor Core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）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最高可达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8192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基于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m16n16k16 MMA</a:t>
                      </a: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操作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单周期完成</a:t>
                      </a:r>
                      <a:endParaRPr lang="zh-CN" altLang="en-US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2025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年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11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月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24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8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05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8],&quot;65&quot;:[20205081]}"/>
</p:tagLst>
</file>

<file path=ppt/tags/tag1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14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8],&quot;65&quot;:[20205081]}"/>
</p:tagLst>
</file>

<file path=ppt/tags/tag1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8],&quot;65&quot;:[20205081]}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31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32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8],&quot;65&quot;:[20205081]}"/>
</p:tagLst>
</file>

<file path=ppt/tags/tag1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8],&quot;65&quot;:[20205081]}"/>
</p:tagLst>
</file>

<file path=ppt/tags/tag1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TABLE_ENDDRAG_ORIGIN_RECT" val="799*106"/>
  <p:tag name="TABLE_ENDDRAG_RECT" val="90*216*799*107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TABLE_ENDDRAG_ORIGIN_RECT" val="799*106"/>
  <p:tag name="TABLE_ENDDRAG_RECT" val="90*216*799*107"/>
</p:tagLst>
</file>

<file path=ppt/tags/tag211.xml><?xml version="1.0" encoding="utf-8"?>
<p:tagLst xmlns:p="http://schemas.openxmlformats.org/presentationml/2006/main">
  <p:tag name="TABLE_ENDDRAG_ORIGIN_RECT" val="799*106"/>
  <p:tag name="TABLE_ENDDRAG_RECT" val="90*216*799*107"/>
</p:tagLst>
</file>

<file path=ppt/tags/tag2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7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  <p:tag name="resource_record_key" val="{&quot;13&quot;:[4364928],&quot;29&quot;:[50000077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5864</Words>
  <Application>WPS 演示</Application>
  <PresentationFormat>宽屏</PresentationFormat>
  <Paragraphs>1234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Noto Serif CJK SC Black</vt:lpstr>
      <vt:lpstr>思源黑体 CN Heavy</vt:lpstr>
      <vt:lpstr>思源黑体 CN Normal</vt:lpstr>
      <vt:lpstr>Noto Serif CJK SC Light</vt:lpstr>
      <vt:lpstr>Cambria Math</vt:lpstr>
      <vt:lpstr>思源黑体 CN Medium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ness233</cp:lastModifiedBy>
  <cp:revision>648</cp:revision>
  <dcterms:created xsi:type="dcterms:W3CDTF">2019-06-19T02:08:00Z</dcterms:created>
  <dcterms:modified xsi:type="dcterms:W3CDTF">2026-01-15T16:47:37Z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F2B3D51F99CC4BF790852F9914527691_13</vt:lpwstr>
  </property>
</Properties>
</file>