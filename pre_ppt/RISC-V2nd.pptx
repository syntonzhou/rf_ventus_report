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8" r:id="rId3"/>
    <p:sldId id="314" r:id="rId4"/>
    <p:sldId id="317" r:id="rId5"/>
    <p:sldId id="332" r:id="rId6"/>
    <p:sldId id="334" r:id="rId7"/>
    <p:sldId id="335" r:id="rId8"/>
    <p:sldId id="337" r:id="rId9"/>
    <p:sldId id="338" r:id="rId10"/>
    <p:sldId id="339" r:id="rId11"/>
    <p:sldId id="336" r:id="rId12"/>
    <p:sldId id="319" r:id="rId13"/>
    <p:sldId id="340" r:id="rId14"/>
    <p:sldId id="341" r:id="rId15"/>
    <p:sldId id="345" r:id="rId16"/>
    <p:sldId id="346" r:id="rId17"/>
    <p:sldId id="344" r:id="rId18"/>
    <p:sldId id="343" r:id="rId19"/>
    <p:sldId id="320" r:id="rId20"/>
    <p:sldId id="347" r:id="rId21"/>
    <p:sldId id="349" r:id="rId22"/>
    <p:sldId id="348" r:id="rId23"/>
    <p:sldId id="350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292" r:id="rId35"/>
    <p:sldId id="281" r:id="rId36"/>
  </p:sldIdLst>
  <p:sldSz cx="12192000" cy="6858000"/>
  <p:notesSz cx="6858000" cy="9144000"/>
  <p:embeddedFontLst>
    <p:embeddedFont>
      <p:font typeface="微软雅黑" panose="020B0503020204020204" charset="-122"/>
      <p:regular r:id="rId43"/>
    </p:embeddedFont>
    <p:embeddedFont>
      <p:font typeface="Calibri" panose="020F0502020204030204" charset="0"/>
      <p:regular r:id="rId44"/>
      <p:bold r:id="rId45"/>
      <p:italic r:id="rId46"/>
      <p:boldItalic r:id="rId47"/>
    </p:embeddedFont>
  </p:embeddedFontLst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6E6"/>
    <a:srgbClr val="566798"/>
    <a:srgbClr val="556595"/>
    <a:srgbClr val="4B547B"/>
    <a:srgbClr val="FFFFFF"/>
    <a:srgbClr val="515983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3F110A-7597-4B9B-832A-51740AB61A64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</a:ln>
          </a:left>
          <a:right>
            <a:ln w="9525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390.xml"/><Relationship Id="rId47" Type="http://schemas.openxmlformats.org/officeDocument/2006/relationships/font" Target="fonts/font5.fntdata"/><Relationship Id="rId46" Type="http://schemas.openxmlformats.org/officeDocument/2006/relationships/font" Target="fonts/font4.fntdata"/><Relationship Id="rId45" Type="http://schemas.openxmlformats.org/officeDocument/2006/relationships/font" Target="fonts/font3.fntdata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87.xml"/><Relationship Id="rId10" Type="http://schemas.openxmlformats.org/officeDocument/2006/relationships/image" Target="../media/image13.png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12.png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9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image" Target="../media/image12.png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image" Target="../media/image12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0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image" Target="../media/image12.pn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1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image" Target="../media/image12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image" Target="../media/image12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3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image" Target="../media/image12.png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image" Target="../media/image12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5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image" Target="../media/image12.png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image" Target="../media/image12.png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87.xml"/><Relationship Id="rId12" Type="http://schemas.openxmlformats.org/officeDocument/2006/relationships/image" Target="../media/image16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7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image" Target="../media/image12.png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8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image" Target="../media/image12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19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image" Target="../media/image12.png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20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image" Target="../media/image12.png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21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image" Target="../media/image12.png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239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tags" Target="../tags/tag22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image" Target="../media/image12.png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49.xml"/><Relationship Id="rId12" Type="http://schemas.openxmlformats.org/officeDocument/2006/relationships/hyperlink" Target="file:///D:\Desktop\Instruction%20Set\1st%20Semester\Advanced%20Analog%20and%20Ratio%20Frequency%20(RF)%20Integrated%20Circuits%20Design%20and%20Practice\Fab\vortex_tutorials\Exercises\assignment3draft.html" TargetMode="External"/><Relationship Id="rId11" Type="http://schemas.openxmlformats.org/officeDocument/2006/relationships/tags" Target="../tags/tag248.xml"/><Relationship Id="rId10" Type="http://schemas.openxmlformats.org/officeDocument/2006/relationships/image" Target="../media/image13.png"/><Relationship Id="rId1" Type="http://schemas.openxmlformats.org/officeDocument/2006/relationships/tags" Target="../tags/tag24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image" Target="../media/image12.png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58.xml"/><Relationship Id="rId12" Type="http://schemas.openxmlformats.org/officeDocument/2006/relationships/image" Target="../media/image17.png"/><Relationship Id="rId11" Type="http://schemas.openxmlformats.org/officeDocument/2006/relationships/hyperlink" Target="file:///D:\Desktop\Instruction%20Set\1st%20Semester\Advanced%20Analog%20and%20Ratio%20Frequency%20(RF)%20Integrated%20Circuits%20Design%20and%20Practice\Fab\vortex_tutorials\Exercises\assignment3draft.html" TargetMode="External"/><Relationship Id="rId10" Type="http://schemas.openxmlformats.org/officeDocument/2006/relationships/tags" Target="../tags/tag257.xml"/><Relationship Id="rId1" Type="http://schemas.openxmlformats.org/officeDocument/2006/relationships/tags" Target="../tags/tag25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image" Target="../media/image12.png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hyperlink" Target="file:///D:\Desktop\Instruction%20Set\1st%20Semester\Advanced%20Analog%20and%20Ratio%20Frequency%20(RF)%20Integrated%20Circuits%20Design%20and%20Practice\Fab\vortex_tutorials\Exercises\assignment3draft.html" TargetMode="External"/><Relationship Id="rId10" Type="http://schemas.openxmlformats.org/officeDocument/2006/relationships/tags" Target="../tags/tag266.xml"/><Relationship Id="rId1" Type="http://schemas.openxmlformats.org/officeDocument/2006/relationships/tags" Target="../tags/tag25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image" Target="../media/image12.png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278.xml"/><Relationship Id="rId13" Type="http://schemas.openxmlformats.org/officeDocument/2006/relationships/tags" Target="../tags/tag277.xml"/><Relationship Id="rId12" Type="http://schemas.openxmlformats.org/officeDocument/2006/relationships/image" Target="../media/image18.png"/><Relationship Id="rId11" Type="http://schemas.openxmlformats.org/officeDocument/2006/relationships/hyperlink" Target="file:///D:\Desktop\Instruction%20Set\1st%20Semester\Advanced%20Analog%20and%20Ratio%20Frequency%20(RF)%20Integrated%20Circuits%20Design%20and%20Practice\Fab\vortex_tutorials\Exercises\assignment3draft.html" TargetMode="External"/><Relationship Id="rId10" Type="http://schemas.openxmlformats.org/officeDocument/2006/relationships/tags" Target="../tags/tag276.xml"/><Relationship Id="rId1" Type="http://schemas.openxmlformats.org/officeDocument/2006/relationships/tags" Target="../tags/tag26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image" Target="../media/image12.png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image" Target="../media/image19.png"/><Relationship Id="rId1" Type="http://schemas.openxmlformats.org/officeDocument/2006/relationships/tags" Target="../tags/tag27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image" Target="../media/image12.png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296.xml"/><Relationship Id="rId10" Type="http://schemas.openxmlformats.org/officeDocument/2006/relationships/image" Target="../media/image13.png"/><Relationship Id="rId1" Type="http://schemas.openxmlformats.org/officeDocument/2006/relationships/tags" Target="../tags/tag28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image" Target="../media/image12.png"/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05.xml"/><Relationship Id="rId10" Type="http://schemas.openxmlformats.org/officeDocument/2006/relationships/image" Target="../media/image13.png"/><Relationship Id="rId1" Type="http://schemas.openxmlformats.org/officeDocument/2006/relationships/tags" Target="../tags/tag29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image" Target="../media/image12.png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14.xml"/><Relationship Id="rId10" Type="http://schemas.openxmlformats.org/officeDocument/2006/relationships/image" Target="../media/image13.png"/><Relationship Id="rId1" Type="http://schemas.openxmlformats.org/officeDocument/2006/relationships/tags" Target="../tags/tag30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image" Target="../media/image12.png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23.xml"/><Relationship Id="rId10" Type="http://schemas.openxmlformats.org/officeDocument/2006/relationships/image" Target="../media/image13.png"/><Relationship Id="rId1" Type="http://schemas.openxmlformats.org/officeDocument/2006/relationships/tags" Target="../tags/tag315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image" Target="../media/image12.png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32.xml"/><Relationship Id="rId10" Type="http://schemas.openxmlformats.org/officeDocument/2006/relationships/image" Target="../media/image13.png"/><Relationship Id="rId1" Type="http://schemas.openxmlformats.org/officeDocument/2006/relationships/tags" Target="../tags/tag32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image" Target="../media/image12.png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41.xml"/><Relationship Id="rId10" Type="http://schemas.openxmlformats.org/officeDocument/2006/relationships/image" Target="../media/image13.png"/><Relationship Id="rId1" Type="http://schemas.openxmlformats.org/officeDocument/2006/relationships/tags" Target="../tags/tag33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image" Target="../media/image12.png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50.xml"/><Relationship Id="rId10" Type="http://schemas.openxmlformats.org/officeDocument/2006/relationships/image" Target="../media/image13.png"/><Relationship Id="rId1" Type="http://schemas.openxmlformats.org/officeDocument/2006/relationships/tags" Target="../tags/tag34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58.xml"/><Relationship Id="rId8" Type="http://schemas.openxmlformats.org/officeDocument/2006/relationships/tags" Target="../tags/tag357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image" Target="../media/image12.png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359.xml"/><Relationship Id="rId10" Type="http://schemas.openxmlformats.org/officeDocument/2006/relationships/image" Target="../media/image13.png"/><Relationship Id="rId1" Type="http://schemas.openxmlformats.org/officeDocument/2006/relationships/tags" Target="../tags/tag35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image" Target="../media/image12.png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68.xml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" Type="http://schemas.openxmlformats.org/officeDocument/2006/relationships/tags" Target="../tags/tag360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76.xml"/><Relationship Id="rId8" Type="http://schemas.openxmlformats.org/officeDocument/2006/relationships/tags" Target="../tags/tag375.xml"/><Relationship Id="rId7" Type="http://schemas.openxmlformats.org/officeDocument/2006/relationships/tags" Target="../tags/tag374.xml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4" Type="http://schemas.openxmlformats.org/officeDocument/2006/relationships/image" Target="../media/image12.png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378.xml"/><Relationship Id="rId11" Type="http://schemas.openxmlformats.org/officeDocument/2006/relationships/tags" Target="../tags/tag377.xml"/><Relationship Id="rId10" Type="http://schemas.openxmlformats.org/officeDocument/2006/relationships/image" Target="../media/image13.png"/><Relationship Id="rId1" Type="http://schemas.openxmlformats.org/officeDocument/2006/relationships/tags" Target="../tags/tag36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vortexgpgpu/vortex_tutorials" TargetMode="External"/><Relationship Id="rId8" Type="http://schemas.openxmlformats.org/officeDocument/2006/relationships/image" Target="../media/image13.png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image" Target="../media/image12.png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385.xml"/><Relationship Id="rId1" Type="http://schemas.openxmlformats.org/officeDocument/2006/relationships/tags" Target="../tags/tag37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89.xml"/><Relationship Id="rId5" Type="http://schemas.openxmlformats.org/officeDocument/2006/relationships/image" Target="../media/image9.png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511425" y="2259330"/>
            <a:ext cx="723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VORTEX GPGPU Tutorials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架构解析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511425" y="2939415"/>
            <a:ext cx="714438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RISC-V GPU</a:t>
            </a:r>
            <a:r>
              <a:rPr lang="zh-CN" altLang="en-US" sz="2400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在运行大模型时的性能分析与优化方案</a:t>
            </a:r>
            <a:endParaRPr lang="zh-CN" altLang="en-US" sz="2400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366260" y="5334635"/>
            <a:ext cx="345884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2025-</a:t>
            </a:r>
            <a:r>
              <a:rPr kumimoji="1"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高级模拟及射频集成电路设计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南京大学集成电路学院</a:t>
            </a:r>
            <a:endParaRPr kumimoji="1"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323215" y="1306830"/>
            <a:ext cx="6097905" cy="498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提供了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7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个实践教程作业，涵盖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的各个方面：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1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分别在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周期级模拟器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中添加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warp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效率性能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计数器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3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分别向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周期级模拟器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添加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软件预取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功能。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5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6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分别在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周期级模拟器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中添加一条新的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自定义RISC-V指令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，用于计算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整数点积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7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介绍如何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调试Vortex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600"/>
              </a:spcAft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Assignment 9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添加对一种新的输入矩阵格式的支持：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TF32（张量浮点数32）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，重点关注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FMA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操作，并分别在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SIMX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Light" panose="02020300000000000000" charset="-122"/>
                <a:sym typeface="+mn-ea"/>
              </a:rPr>
              <a:t>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中实现该功能。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17955" y="1518920"/>
            <a:ext cx="5920740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Assignment1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要求为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SimX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周期级模拟器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添加两个新的机器性能监控（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MPM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）计数器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，以计算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内核执行后的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Warp Efficiency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。</a:t>
            </a:r>
            <a:endParaRPr lang="zh-CN" altLang="en-US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预留CSR地址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注册计数器到CSR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更新性能接口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实现计数逻辑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5: 在运行时暴露计数器并计算效率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6: 测试验证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1227455" y="5379720"/>
            <a:ext cx="6489065" cy="81026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481330" y="2945130"/>
            <a:ext cx="85845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--args="-n16"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--args="-n32"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--args="-n64"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--args="-n128"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0" name="图形"/>
          <p:cNvSpPr txBox="1"/>
          <p:nvPr>
            <p:custDataLst>
              <p:tags r:id="rId13"/>
            </p:custDataLst>
          </p:nvPr>
        </p:nvSpPr>
        <p:spPr>
          <a:xfrm>
            <a:off x="481330" y="2143760"/>
            <a:ext cx="715454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./ci/blackbox.sh --cores=4 --app=demo --driver=simx --perf=3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rcRect t="7692" r="30312" b="79327"/>
          <a:stretch>
            <a:fillRect/>
          </a:stretch>
        </p:blipFill>
        <p:spPr>
          <a:xfrm>
            <a:off x="481330" y="1786255"/>
            <a:ext cx="6443345" cy="7289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2"/>
          <a:srcRect t="20952" r="61193" b="5334"/>
          <a:stretch>
            <a:fillRect/>
          </a:stretch>
        </p:blipFill>
        <p:spPr>
          <a:xfrm>
            <a:off x="481330" y="2611120"/>
            <a:ext cx="3491230" cy="4027805"/>
          </a:xfrm>
          <a:prstGeom prst="rect">
            <a:avLst/>
          </a:prstGeom>
        </p:spPr>
      </p:pic>
      <p:sp>
        <p:nvSpPr>
          <p:cNvPr id="17" name="图形"/>
          <p:cNvSpPr txBox="1"/>
          <p:nvPr>
            <p:custDataLst>
              <p:tags r:id="rId13"/>
            </p:custDataLst>
          </p:nvPr>
        </p:nvSpPr>
        <p:spPr>
          <a:xfrm>
            <a:off x="5091430" y="2888615"/>
            <a:ext cx="8584565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instrs=13352, cycles=61730, IPC=0.216297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instrs=13352, cycles=80171, IPC=0.166544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instrs=13352, cycles=82124, IPC=0.162583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instrs=13352, cycles=54786, IPC=0.243712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instrs=53408, cycles=82124, IPC=0.650334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PASSED!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3395" y="2731770"/>
            <a:ext cx="1781175" cy="237490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图形"/>
          <p:cNvSpPr txBox="1"/>
          <p:nvPr>
            <p:custDataLst>
              <p:tags r:id="rId14"/>
            </p:custDataLst>
          </p:nvPr>
        </p:nvSpPr>
        <p:spPr>
          <a:xfrm>
            <a:off x="2406650" y="3180715"/>
            <a:ext cx="2539365" cy="17532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两个输入缓冲区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(src0, src1)</a:t>
            </a:r>
            <a:endParaRPr lang="en-US" altLang="zh-CN" sz="12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一个输出缓冲区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(dst)</a:t>
            </a:r>
            <a:endParaRPr lang="en-US" altLang="zh-CN" sz="12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整数数据类型</a:t>
            </a:r>
            <a:endParaRPr lang="en-US" altLang="zh-CN" sz="12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数据点数量与缓冲区大小匹配：</a:t>
            </a:r>
            <a:endParaRPr lang="en-US" altLang="zh-CN" sz="12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4096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个点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en-US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×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4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字节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/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整数</a:t>
            </a:r>
            <a:r>
              <a:rPr lang="en-US" altLang="zh-CN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= 16384</a:t>
            </a:r>
            <a:r>
              <a:rPr lang="zh-CN" altLang="en-US" sz="12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字节</a:t>
            </a:r>
            <a:endParaRPr lang="zh-CN" altLang="en-US" sz="12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1438275" y="2012315"/>
            <a:ext cx="104317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--args="-n16"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Warp Efficiency=88%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instrs=6440, cycles=42890, IPC=0.150152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Warp Efficiency=88%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instrs=6440, cycles=42570, IPC=0.151280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Warp Efficiency=88%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instrs=6440, cycles=42569, IPC=0.151284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Warp Efficiency=88%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instrs=6440, cycles=42647, IPC=0.151007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Warp Efficiency=88%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instrs=25760, cycles=42890, IPC=0.600606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75360" y="2012315"/>
            <a:ext cx="116890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--args="-n32"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Warp Efficiency=91%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instrs=8744, cycles=45819, IPC=0.190838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Warp Efficiency=91%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instrs=8744, cycles=49927, IPC=0.175136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Warp Efficiency=91%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instrs=8744, cycles=46443, IPC=0.188274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Warp Efficiency=91%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instrs=8744, cycles=49734, IPC=0.175815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Warp Efficiency=91%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instrs=34976, cycles=49927, IPC=0.700543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813435" y="1994535"/>
            <a:ext cx="971105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--args="-n64"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Warp Efficiency=93%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instrs=13352, cycles=61730, IPC=0.216297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Warp Efficiency=93%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instrs=13352, cycles=80171, IPC=0.166544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Warp Efficiency=93%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instrs=13352, cycles=82124, IPC=0.162583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Warp Efficiency=93%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instrs=13352, cycles=54786, IPC=0.243712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Warp Efficiency=93%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instrs=53408, cycles=82124, IPC=0.650334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74090" y="1943100"/>
            <a:ext cx="102438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--perf=3 --driver=simx --args="-n128"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Warp Efficiency=96%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core0: instrs=22568, cycles=128489, IPC=0.175641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Warp Efficiency=96%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core1: instrs=22568, cycles=74451, IPC=0.303126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Warp Efficiency=96%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core2: instrs=22568, cycles=129852, IPC=0.173798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Warp Efficiency=96%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core3: instrs=22568, cycles=125704, IPC=0.179533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Warp Efficiency=96%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  <a:sym typeface="+mn-ea"/>
              </a:rPr>
              <a:t>PERF: instrs=90272, cycles=129852, IPC=0.695191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12"/>
            </p:custDataLst>
          </p:nvPr>
        </p:nvGraphicFramePr>
        <p:xfrm>
          <a:off x="1539240" y="2216785"/>
          <a:ext cx="9883140" cy="18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/>
                <a:gridCol w="1386205"/>
                <a:gridCol w="1374140"/>
                <a:gridCol w="1647190"/>
                <a:gridCol w="1647190"/>
                <a:gridCol w="1647190"/>
              </a:tblGrid>
              <a:tr h="3790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default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n16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n32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n64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n128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Warp Efficiency</a:t>
                      </a:r>
                      <a:endParaRPr lang="en-US" altLang="zh-CN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93%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88%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91%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93%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96%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总指令数</a:t>
                      </a:r>
                      <a:endParaRPr lang="zh-CN" altLang="en-US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53408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25760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34976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53408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90272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总周期数</a:t>
                      </a:r>
                      <a:endParaRPr lang="zh-CN" altLang="en-US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82124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42890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49927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82124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129852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总</a:t>
                      </a:r>
                      <a:r>
                        <a:rPr lang="en-US" altLang="zh-CN" b="1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IPC</a:t>
                      </a:r>
                      <a:endParaRPr lang="en-US" altLang="zh-CN" b="1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0.650334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0.600606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0.700543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0.650334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0.695191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539240" y="4400550"/>
            <a:ext cx="9892030" cy="2168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marL="0" lvl="1" indent="0" algn="ctr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/>
              <a:buNone/>
            </a:pPr>
            <a:r>
              <a:rPr lang="en-US" altLang="zh-CN" b="0" i="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</a:rPr>
              <a:t>工作负载越大，Warp效率越高</a:t>
            </a:r>
            <a:endParaRPr lang="en-US" altLang="zh-CN" b="0" i="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</a:endParaRPr>
          </a:p>
          <a:p>
            <a:pPr marL="0" lvl="1" indent="0" algn="ctr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/>
              <a:buNone/>
            </a:pPr>
            <a:r>
              <a:rPr lang="en-US" altLang="zh-CN" b="0" i="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</a:rPr>
              <a:t>所有核心的Warp效率相同，说明负载均衡良好</a:t>
            </a:r>
            <a:endParaRPr lang="en-US" altLang="zh-CN" b="0" i="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</a:endParaRPr>
          </a:p>
          <a:p>
            <a:pPr marL="0" lvl="1" indent="0" algn="ctr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/>
              <a:buNone/>
            </a:pPr>
            <a:r>
              <a:rPr lang="en-US" altLang="zh-CN" b="0" i="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</a:rPr>
              <a:t>cycles和IPC有差异 =&gt; 执行时间差异</a:t>
            </a:r>
            <a:endParaRPr lang="en-US" altLang="zh-CN" b="0" i="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</a:endParaRPr>
          </a:p>
          <a:p>
            <a:pPr marL="0" lvl="1" indent="0" algn="ctr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/>
              <a:buNone/>
            </a:pPr>
            <a:r>
              <a:rPr lang="en-US" altLang="zh-CN" b="0" i="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</a:rPr>
              <a:t>小规模工作负载效率较低</a:t>
            </a:r>
            <a:endParaRPr lang="en-US" altLang="zh-CN" b="0" i="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</a:endParaRPr>
          </a:p>
          <a:p>
            <a:pPr marL="0" lvl="1" indent="0" algn="ctr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/>
              <a:buNone/>
            </a:pPr>
            <a:r>
              <a:rPr lang="en-US" altLang="zh-CN" b="0" i="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Black" panose="02020900000000000000" charset="-122"/>
              </a:rPr>
              <a:t>可以通过调整warp大小或调度策略改进</a:t>
            </a:r>
            <a:endParaRPr lang="en-US" altLang="zh-CN" b="0" i="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Black" panose="02020900000000000000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Assignment2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要求为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Vortex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RTL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（寄存器传输级）硬件添加两个新的机器性能监控（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MPM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）计数器，以计算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内核执行后的</a:t>
            </a: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Warp Efficiency</a:t>
            </a:r>
            <a:r>
              <a:rPr lang="zh-CN" altLang="en-US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（线程束效率）。</a:t>
            </a:r>
            <a:endParaRPr lang="zh-CN" altLang="en-US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预留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CSR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地址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注册计数器到CSR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更新性能接口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实现计数逻辑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5: 在运行时暴露计数器并计算效率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6: 测试验证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351155" y="5477510"/>
            <a:ext cx="6002655" cy="749300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3900170" y="2397760"/>
            <a:ext cx="83019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--driver=rtlsim --perf=3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--args="-n16"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--args="-n32"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--args="-n64"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--args="-n128"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5961380" y="1002030"/>
            <a:ext cx="6002655" cy="7493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705" y="1755140"/>
            <a:ext cx="8549005" cy="502158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5961380" y="1191260"/>
            <a:ext cx="6002655" cy="749300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07415" y="1797050"/>
            <a:ext cx="830199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--args="-n16"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Warp Efficiency=88%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instrs=6441, cycles=43615, IPC=0.147679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Warp Efficiency=88%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instrs=6441, cycles=43614, IPC=0.147682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Warp Efficiency=88%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instrs=6441, cycles=43616, IPC=0.147675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Warp Efficiency=88%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instrs=6441, cycles=43613, IPC=0.147685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Warp Efficiency=88%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instrs=25764, cycles=43616, IPC=0.590701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PASSED!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5961380" y="1191260"/>
            <a:ext cx="6002655" cy="749300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07415" y="1797050"/>
            <a:ext cx="830199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--args="-n32"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Warp Efficiency=91%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instrs=8745, cycles=44363, IPC=0.197124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Warp Efficiency=91%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instrs=8745, cycles=44364, IPC=0.197119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Warp Efficiency=91%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instrs=8745, cycles=44365, IPC=0.197115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Warp Efficiency=91%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instrs=8745, cycles=44362, IPC=0.197128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Warp Efficiency=91%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instrs=34980, cycles=44365, IPC=0.788459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PASSED!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5961380" y="1191260"/>
            <a:ext cx="6002655" cy="749300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07415" y="1797050"/>
            <a:ext cx="830199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--args="-n64"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instrs=13353, cycles=90014, IPC=0.148344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instrs=13353, cycles=90013, IPC=0.148345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instrs=13353, cycles=90012, IPC=0.148347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instrs=13353, cycles=90068, IPC=0.148255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Warp Efficiency=93%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instrs=53412, cycles=90068, IPC=0.593019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PASSED!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2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33705" y="1252220"/>
            <a:ext cx="59207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rcRect l="53802" t="41759" r="18493" b="52093"/>
          <a:stretch>
            <a:fillRect/>
          </a:stretch>
        </p:blipFill>
        <p:spPr>
          <a:xfrm>
            <a:off x="5961380" y="1191260"/>
            <a:ext cx="6002655" cy="749300"/>
          </a:xfrm>
          <a:prstGeom prst="rect">
            <a:avLst/>
          </a:prstGeom>
        </p:spPr>
      </p:pic>
      <p:sp>
        <p:nvSpPr>
          <p:cNvPr id="6" name="图形"/>
          <p:cNvSpPr txBox="1"/>
          <p:nvPr>
            <p:custDataLst>
              <p:tags r:id="rId12"/>
            </p:custDataLst>
          </p:nvPr>
        </p:nvSpPr>
        <p:spPr>
          <a:xfrm>
            <a:off x="907415" y="1797050"/>
            <a:ext cx="830199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./ci/blackbox.sh --cores=4 --app=demo --perf=3 --driver=rtlsim --args="-n128"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Warp Efficiency=96%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core0: instrs=22569, cycles=181316, IPC=0.124473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Warp Efficiency=96%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core1: instrs=22569, cycles=182019, IPC=0.123993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Warp Efficiency=96%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core2: instrs=22569, cycles=181996, IPC=0.124008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Warp Efficiency=96%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core3: instrs=22569, cycles=181743, IPC=0.124181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Warp Efficiency=96%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PERF: instrs=90276, cycles=182019, IPC=0.495970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PASSED!</a:t>
            </a:r>
            <a:endParaRPr lang="en-US" altLang="zh-CN" sz="14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481330" y="123063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(RTL)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802" t="41759" r="18493" b="52093"/>
          <a:stretch>
            <a:fillRect/>
          </a:stretch>
        </p:blipFill>
        <p:spPr>
          <a:xfrm>
            <a:off x="5833745" y="1129030"/>
            <a:ext cx="6299200" cy="78676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12"/>
            </p:custDataLst>
          </p:nvPr>
        </p:nvGraphicFramePr>
        <p:xfrm>
          <a:off x="1539240" y="2216785"/>
          <a:ext cx="9883140" cy="1882775"/>
        </p:xfrm>
        <a:graphic>
          <a:graphicData uri="http://schemas.openxmlformats.org/drawingml/2006/table">
            <a:tbl>
              <a:tblPr firstRow="1" bandRow="1">
                <a:tableStyleId>{913F110A-7597-4B9B-832A-51740AB61A64}</a:tableStyleId>
              </a:tblPr>
              <a:tblGrid>
                <a:gridCol w="2181225"/>
                <a:gridCol w="1386205"/>
                <a:gridCol w="1374140"/>
                <a:gridCol w="1647190"/>
                <a:gridCol w="1647190"/>
                <a:gridCol w="1647190"/>
              </a:tblGrid>
              <a:tr h="37909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default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n16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n32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n64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n128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Warp Efficiency</a:t>
                      </a:r>
                      <a:endParaRPr lang="en-US" altLang="zh-CN" b="1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93</a:t>
                      </a:r>
                      <a:r>
                        <a:rPr lang="zh-CN" altLang="en-US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％</a:t>
                      </a:r>
                      <a:endParaRPr lang="zh-CN" altLang="en-US" spc="100" dirty="0"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88</a:t>
                      </a:r>
                      <a:r>
                        <a:rPr lang="zh-CN" altLang="en-US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％</a:t>
                      </a:r>
                      <a:endParaRPr lang="zh-CN" altLang="en-US" spc="100" dirty="0"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91</a:t>
                      </a:r>
                      <a:r>
                        <a:rPr lang="zh-CN" altLang="en-US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％</a:t>
                      </a:r>
                      <a:endParaRPr lang="zh-CN" altLang="en-US" sz="1800" spc="100" dirty="0"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93</a:t>
                      </a:r>
                      <a:r>
                        <a:rPr lang="zh-CN" altLang="en-US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％</a:t>
                      </a:r>
                      <a:endParaRPr lang="zh-CN" altLang="en-US" sz="1800" spc="100" dirty="0"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96</a:t>
                      </a:r>
                      <a:r>
                        <a:rPr lang="zh-CN" altLang="en-US" sz="1800" spc="100" dirty="0"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％</a:t>
                      </a:r>
                      <a:endParaRPr lang="zh-CN" altLang="en-US" sz="1800" spc="100" dirty="0"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总指令数</a:t>
                      </a:r>
                      <a:endParaRPr lang="en-US" altLang="zh-CN" b="1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53412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25764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34980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53412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90276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总周期数</a:t>
                      </a:r>
                      <a:endParaRPr lang="en-US" altLang="zh-CN" b="1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90068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43616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44365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90068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182019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总IPC</a:t>
                      </a:r>
                      <a:endParaRPr lang="en-US" altLang="zh-CN" b="1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0.593019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0.590701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0.788459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0.593019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0.495970</a:t>
                      </a:r>
                      <a:endParaRPr lang="en-US" altLang="zh-CN"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13"/>
            </p:custDataLst>
          </p:nvPr>
        </p:nvGraphicFramePr>
        <p:xfrm>
          <a:off x="1530350" y="4540885"/>
          <a:ext cx="9883140" cy="188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/>
                <a:gridCol w="1386205"/>
                <a:gridCol w="1374140"/>
                <a:gridCol w="1647190"/>
                <a:gridCol w="1647190"/>
                <a:gridCol w="1647190"/>
              </a:tblGrid>
              <a:tr h="37909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default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n16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n32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n64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n128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Warp Efficiency</a:t>
                      </a:r>
                      <a:endParaRPr lang="en-US" altLang="zh-CN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93%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88%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91%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93%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96%</a:t>
                      </a:r>
                      <a:endParaRPr lang="en-US" altLang="zh-CN" spc="100" dirty="0">
                        <a:solidFill>
                          <a:schemeClr val="tx1">
                            <a:alpha val="87000"/>
                          </a:schemeClr>
                        </a:solidFill>
                        <a:uFillTx/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总指令数</a:t>
                      </a:r>
                      <a:endParaRPr lang="zh-CN" altLang="en-US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53408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25760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34976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53408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90272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总周期数</a:t>
                      </a:r>
                      <a:endParaRPr lang="zh-CN" altLang="en-US" b="1"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82124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42890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49927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82124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129852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总</a:t>
                      </a:r>
                      <a:r>
                        <a:rPr lang="en-US" altLang="zh-CN" b="1"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IPC</a:t>
                      </a:r>
                      <a:endParaRPr lang="en-US" altLang="zh-CN" b="1"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0.650334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0.600606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0.700543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0.650334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spc="100" dirty="0">
                          <a:solidFill>
                            <a:schemeClr val="tx1">
                              <a:alpha val="87000"/>
                            </a:schemeClr>
                          </a:solidFill>
                          <a:uFillTx/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Black" panose="02020900000000000000" charset="-122"/>
                          <a:sym typeface="+mn-ea"/>
                        </a:rPr>
                        <a:t>0.695191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图形"/>
          <p:cNvSpPr txBox="1"/>
          <p:nvPr>
            <p:custDataLst>
              <p:tags r:id="rId14"/>
            </p:custDataLst>
          </p:nvPr>
        </p:nvSpPr>
        <p:spPr>
          <a:xfrm>
            <a:off x="608330" y="4080510"/>
            <a:ext cx="5920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 Efficiency Performance Counter (S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imX)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3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530350" y="1442720"/>
            <a:ext cx="59207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Assignment3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要求在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SimX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周期级模拟器中添加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软件预取功能，分为两部分：一是新增预取指令及标识位以支持预取操作，二是实现三个性能计数器（预取请求数、未使用预取块数、延迟预取数）以衡量预取效果。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向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SimX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添加预取指令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1: 添加预取内在函数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2: 在 SimX 中实现指令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3: 创建测试应用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2: 实现性能计数器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1: 添加预取标识位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2: 添加计数器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3: 打印结果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3: 验证与测试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11"/>
            </p:custDataLst>
          </p:nvPr>
        </p:nvSpPr>
        <p:spPr>
          <a:xfrm>
            <a:off x="1530350" y="1066800"/>
            <a:ext cx="5870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  <a:hlinkClick r:id="rId12" action="ppaction://hlinkfile"/>
              </a:rPr>
              <a:t>GPU Software Prefetching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  <a:hlinkClick r:id="rId12" action="ppaction://hlinkfile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3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10"/>
            </p:custDataLst>
          </p:nvPr>
        </p:nvSpPr>
        <p:spPr>
          <a:xfrm>
            <a:off x="1530350" y="1066800"/>
            <a:ext cx="5870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  <a:hlinkClick r:id="rId11" action="ppaction://hlinkfile"/>
              </a:rPr>
              <a:t>GPU Software Prefetching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  <a:hlinkClick r:id="rId11" action="ppaction://hlinkfil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0350" y="1666875"/>
            <a:ext cx="9026525" cy="49345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3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10"/>
            </p:custDataLst>
          </p:nvPr>
        </p:nvSpPr>
        <p:spPr>
          <a:xfrm>
            <a:off x="1530350" y="1066800"/>
            <a:ext cx="5870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  <a:hlinkClick r:id="rId11" action="ppaction://hlinkfile"/>
              </a:rPr>
              <a:t>GPU Software Prefetching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  <a:hlinkClick r:id="rId11" action="ppaction://hlinkfile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2"/>
            </p:custDataLst>
          </p:nvPr>
        </p:nvGraphicFramePr>
        <p:xfrm>
          <a:off x="858520" y="1761490"/>
          <a:ext cx="7213600" cy="2571750"/>
        </p:xfrm>
        <a:graphic>
          <a:graphicData uri="http://schemas.openxmlformats.org/drawingml/2006/table">
            <a:tbl>
              <a:tblPr firstRow="1" bandRow="1">
                <a:tableStyleId>{913F110A-7597-4B9B-832A-51740AB61A64}</a:tableStyleId>
              </a:tblPr>
              <a:tblGrid>
                <a:gridCol w="1572260"/>
                <a:gridCol w="2098675"/>
                <a:gridCol w="1973580"/>
                <a:gridCol w="1569085"/>
              </a:tblGrid>
              <a:tr h="379095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指标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Prefetch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测试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Fence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测试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变化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总周期数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21,538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20,579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+959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0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总指令数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20,356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16,933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+3,423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0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IPC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0.945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0.823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+14.8%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0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加载延迟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18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周期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22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周期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-18.2%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0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9095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取指延迟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 marL="0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8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周期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9</a:t>
                      </a:r>
                      <a:r>
                        <a:rPr lang="zh-CN" altLang="en-US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  <a:cs typeface="Noto Serif CJK SC Light" panose="02020300000000000000" charset="-122"/>
                        </a:rPr>
                        <a:t>周期</a:t>
                      </a:r>
                      <a:endParaRPr lang="zh-CN" altLang="en-US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  <a:cs typeface="Noto Serif CJK SC Light" panose="02020300000000000000" charset="-122"/>
                      </a:endParaRPr>
                    </a:p>
                  </a:txBody>
                  <a:tcPr marL="152717" marR="152717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-11.1%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 marL="152717" marR="0" marT="95567" marB="9556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58520" y="4567555"/>
            <a:ext cx="8716645" cy="216852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IPC</a:t>
            </a:r>
            <a:r>
              <a:rPr lang="zh-CN" altLang="en-US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显著提升，预取确实改善了指令吞吐量</a:t>
            </a:r>
            <a:endParaRPr lang="zh-CN" altLang="en-US" b="0" i="0">
              <a:solidFill>
                <a:srgbClr val="0F1115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预取有效减少了内存访问等待时间</a:t>
            </a:r>
            <a:endParaRPr lang="zh-CN" altLang="en-US" b="0" i="0">
              <a:solidFill>
                <a:srgbClr val="0F1115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LSU</a:t>
            </a:r>
            <a:r>
              <a:rPr lang="zh-CN" altLang="en-US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停顿减少，表明内存瓶颈有所缓解</a:t>
            </a:r>
            <a:endParaRPr lang="zh-CN" altLang="en-US" b="0" i="0">
              <a:solidFill>
                <a:srgbClr val="0F1115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总指令数增加，这包含了预取指令本身的开销</a:t>
            </a:r>
            <a:endParaRPr lang="zh-CN" altLang="en-US" b="0" i="0">
              <a:solidFill>
                <a:srgbClr val="0F1115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rgbClr val="0F1115"/>
                </a:solidFill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</a:rPr>
              <a:t>总周期数增加，说明预取指令增加了额外开销</a:t>
            </a:r>
            <a:endParaRPr lang="zh-CN" altLang="en-US" b="0" i="0">
              <a:solidFill>
                <a:srgbClr val="0F1115"/>
              </a:solidFill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3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图形"/>
          <p:cNvSpPr txBox="1"/>
          <p:nvPr>
            <p:custDataLst>
              <p:tags r:id="rId10"/>
            </p:custDataLst>
          </p:nvPr>
        </p:nvSpPr>
        <p:spPr>
          <a:xfrm>
            <a:off x="1530350" y="1066800"/>
            <a:ext cx="5870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  <a:hlinkClick r:id="rId11" action="ppaction://hlinkfile"/>
              </a:rPr>
              <a:t>GPU Software Prefetching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  <a:hlinkClick r:id="rId11" action="ppaction://hlinkfile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7350" y="4417695"/>
            <a:ext cx="8991600" cy="1085850"/>
          </a:xfrm>
          <a:prstGeom prst="rect">
            <a:avLst/>
          </a:prstGeom>
        </p:spPr>
      </p:pic>
      <p:sp>
        <p:nvSpPr>
          <p:cNvPr id="11" name="图形"/>
          <p:cNvSpPr txBox="1"/>
          <p:nvPr>
            <p:custDataLst>
              <p:tags r:id="rId13"/>
            </p:custDataLst>
          </p:nvPr>
        </p:nvSpPr>
        <p:spPr>
          <a:xfrm>
            <a:off x="1657350" y="2070100"/>
            <a:ext cx="84308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一个小问题：内存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问题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这个错误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free(): corrupted unsorted chunks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表明在内存释放时发现了堆损坏。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这通常是由于内存越界访问、重复释放或使用已释放的内存等原因造成的。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3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670" y="1626235"/>
            <a:ext cx="8836660" cy="4971415"/>
          </a:xfrm>
          <a:prstGeom prst="rect">
            <a:avLst/>
          </a:prstGeom>
        </p:spPr>
      </p:pic>
      <p:sp>
        <p:nvSpPr>
          <p:cNvPr id="12" name="图形"/>
          <p:cNvSpPr txBox="1"/>
          <p:nvPr>
            <p:custDataLst>
              <p:tags r:id="rId11"/>
            </p:custDataLst>
          </p:nvPr>
        </p:nvSpPr>
        <p:spPr>
          <a:xfrm>
            <a:off x="1677035" y="1089660"/>
            <a:ext cx="88379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为了修复工程问题，导致虚拟机存储空间装满导致无法进入系统。目前正在重装。</a:t>
            </a:r>
            <a:endParaRPr lang="zh-CN" altLang="en-US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4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50975" y="974090"/>
            <a:ext cx="592074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GPU Software Prefetching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Assignment4 要求在 RTL（寄存器传输级）硬件中实现 GPU 软件预取功能，分两部分：一是新增预取指令及标识位以支持预取操作，二是添加三个性能计数器（预取请求数、未使用预取块数、延迟预取数）以衡量预取效果。需先完成 Assignment3（SimX 模拟部分）。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1: RTL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实现预取指令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1: RTL 流水线实现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2: RTL 测试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2: RTL 性能计数器实现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添加预取标识位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添加计数器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打印结果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Part 3: 验证与测试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5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47800" y="1315720"/>
            <a:ext cx="61868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Dot Product Acceleration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Assignment5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要求在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SimX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周期级模拟器中添加一条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RISC-V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自定义指令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VX_DOT8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（用于计算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4x4 int8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向量的点积），并实现相关矩阵乘法内核及测试，以加速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GPU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内核运算。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ISA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矩阵乘法内核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模拟实现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6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38275" y="1214120"/>
            <a:ext cx="66186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Dot Product Acceleration (RTL)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Assignment6 要求在 RTL（硬件层面）实现 RISC-V 自定义指令 VX_DOT8（用于计算 4x4 int8 向量的点积），并通过矩阵乘法内核验证其加速效果，需先完成 Assignment5（SimX 模拟部分）。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ISA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矩阵乘法内核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硬件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RTL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实现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7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38275" y="1379220"/>
            <a:ext cx="61620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How to Debug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Assignment7 旨在学习如何调试硬件预取实现，主要任务是：通过调试模式编译 Vortex，验证（1）预取请求是否正确生成；（2）预取请求是否被需求请求使用（通过对比两者）。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运行调试模式程序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分析调试日志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3.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修改调试语句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8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38275" y="1447165"/>
            <a:ext cx="59207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Tensor Core Extension (SimX)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Assignment8 要求在 SimX 周期级模拟器中扩展 Vortex 张量核心架构，添加对 TF32（Tensor Float 32，19 位浮点格式，填充为 32 位）输入矩阵格式的支持，重点实现用于矩阵乘加（MMA）的融合乘加（FMA）操作的功能仿真。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添加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TF32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格式定义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TF32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FMA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特化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更新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FEDP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选择逻辑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CPU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参考实现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5: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6: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基准测试对比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9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47800" y="1176020"/>
            <a:ext cx="62001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Tensor Core (TF32) Support in RTL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Assignment9 要求在 RTL 层面扩展 Vortex 张量核心（Tensor Core）架构，为 BHF（Berkeley HardFloat）后端添加 TF32（19 位浮点格式，填充为 32 位）输入格式支持，实现矩阵乘加（MMA）中融合乘加（FMA）操作的硬件功能。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添加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TF32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格式定义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更新张量核心包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BHF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后端的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FEDP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模块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扩展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CPU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参考实现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5: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6: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基准测试对比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A</a:t>
            </a: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ssignment 10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1447800" y="1492250"/>
            <a:ext cx="562927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Add `fmaf()` Support in CuPBoP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Assignment9 要求Assignment10 要求扩展 CuPBoP 框架（用于在 Vortex 上执行未修改的 CUDA 源代码），添加对 CUDA 数学函数 `fmaf()`（融合乘加，$fmaf(a, b, c) = a \times b + c$，单轮舍入以提升精度和性能）的支持，使其能正确转换并执行使用该函数的内核。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1: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创建新的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`fmaf()`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2: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实现函数移除逻辑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3: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在运行时库中实现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`fmaf()`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Step 4: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验证实现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0" y="1137920"/>
            <a:ext cx="12192635" cy="6545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1024x1024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通用矩阵乘法（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）实现与测试：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硬件加速指令（如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VX_DOT8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&amp;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张量核心（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）优化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一、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设计思路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数据格式选择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输入矩阵：采用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格式（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19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位浮点，适合张量核心加速，平衡精度与性能）。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输出矩阵：采用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FP32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格式（累加结果，保证精度）。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矩阵尺寸：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A(1024x1024)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、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B(1024x1024)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、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C(1024x1024)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，其中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 = A </a:t>
            </a:r>
            <a:r>
              <a:rPr lang="en-US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×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 B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优化策略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分块（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Tiling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）：将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1024x1024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矩阵划分为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32x32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或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64x64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的子块，提升缓存利用率。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硬件加速：小规模子块乘法使用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VX_DOT8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指令。大规模计算调用张量核心的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MMA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操作。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并行映射：将矩阵块分配到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核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，每个核心处理子矩阵，核内采用多线程并行。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二、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内核实现（基于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框架）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内核代码（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`kernel.cpp`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辅助代码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数据类型定义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`common.h`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中定义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类型（参考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Assignment8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`tf32`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结构体）。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主机端代码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`main.cpp`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中分配内存、初始化矩阵（随机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值）、调用内核并验证结果（与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CPU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参考实现对比）。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三、测试环境配置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编译配置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启用张量核心和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支持：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```bash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清理旧构建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make -C tests/regression/gemm clean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编译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1024x1024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输入，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FP32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输出，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线程）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CONFIGS="-DNUM_THREADS=8 -DITYPE=tf32 -DOTYPE=fp32 -DEXT_TCU_ENABLE" make -C tests/regression/gemm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SimX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模拟器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（快速验证功能）：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```bash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CONFIGS="-DNUM_THREADS=8 -DEXT_TCU_ENABLE" ./ci/blackbox.sh --driver=simx --app=gemm --args="-n1024" --perf=3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模拟器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（硬件级性能测试）：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```bash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CONFIGS="-DNUM_THREADS=8 -DEXT_TCU_ENABLE -DTCU_BHF" ./ci/blackbox.sh --driver=rtlsim --app=gemm --args="-n1024" --perf=3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```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四、性能指标与分析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关键指标收集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执行周期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：通过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SimX/RTL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的性能计数器获取总周期数。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指令数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：统计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内核的总指令（尤其是乘法、加法指令占比）。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算力利用率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：张量核心的活跃周期占比（通过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`prefetch_requests`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等计数器间接评估）。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精度验证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CPU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FP32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参考结果对比，计算误差（如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MSE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对比测试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测试不同配置下的性能，生成对比表格：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配置（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warps, threads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执行周期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总指令数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算力（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GFLOPS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误差（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MSE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|-----------------------|----------|----------|----------------|-------------|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 (4,4)    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 (4,8)    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 (8,4)    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| (8,8)    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   |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？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         |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3.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性能瓶颈分析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内存瓶颈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：若指令数低但周期高，可能是内存带宽不足（可通过预取优化，参考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Assignment3/4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计算瓶颈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：若周期与指令数线性相关，可能是张量核心利用率不足（需优化分块大小匹配硬件）。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五、总结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通过上述步骤，可实现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1024x1024 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的硬件加速版本，利用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张量核心和分块策略提升性能。测试结果应显示：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相比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FP16/BF16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，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在精度损失较小的情况下保持相近性能。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合理的线程配置（如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8x8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）可最大化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核心利用率，减少执行周期。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如需进一步优化，可结合软件预取（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Assignment3/4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）减少缓存缺失，或调整分块大小适配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的缓存结构。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1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0" y="1137920"/>
            <a:ext cx="7583805" cy="4832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二、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内核实现（基于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Vortex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框架）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内核代码（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`kernel.cpp`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）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辅助代码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数据类型定义：在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`common.h`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中定义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类型。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主机端代码：在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`main.cpp`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中分配内存、初始化矩阵（随机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TF32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值）、调用内核并验证结果（与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参考实现对比）。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三、测试环境配置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编译配置：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启用张量核心和TF32支持。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运行测试</a:t>
            </a:r>
            <a:r>
              <a:rPr 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：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SimX模拟器（快速验证）；- RTL模拟器（硬件级测试）。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583170" y="953135"/>
            <a:ext cx="4152265" cy="5488305"/>
            <a:chOff x="6658" y="1792"/>
            <a:chExt cx="9918" cy="1310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1"/>
            <a:srcRect l="19299" t="8691" r="22931" b="6290"/>
            <a:stretch>
              <a:fillRect/>
            </a:stretch>
          </p:blipFill>
          <p:spPr>
            <a:xfrm>
              <a:off x="6658" y="1792"/>
              <a:ext cx="9918" cy="821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2"/>
            <a:srcRect l="19168" t="27728" r="22931" b="6296"/>
            <a:stretch>
              <a:fillRect/>
            </a:stretch>
          </p:blipFill>
          <p:spPr>
            <a:xfrm>
              <a:off x="6658" y="8542"/>
              <a:ext cx="9918" cy="6357"/>
            </a:xfrm>
            <a:prstGeom prst="rect">
              <a:avLst/>
            </a:prstGeom>
          </p:spPr>
        </p:pic>
      </p:grpSp>
    </p:spTree>
    <p:custDataLst>
      <p:tags r:id="rId1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GEMM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7"/>
            </p:custDataLst>
          </p:nvPr>
        </p:nvSpPr>
        <p:spPr>
          <a:xfrm>
            <a:off x="0" y="998220"/>
            <a:ext cx="7583805" cy="6086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四、性能指标与分析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1.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关键指标收集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执行周期：通过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SimX/RTL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的性能计数器获取总周期数。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指令数：统计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GEMM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内核的总指令。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算力利用率：张量核心的活跃周期占比。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精度验证：与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CPU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的</a:t>
            </a: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FP32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参考结果对比，计算误差。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2.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对比测试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 3. </a:t>
            </a: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性能瓶颈分析</a:t>
            </a: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内存瓶颈：若指令数低但周期高，可能是内存带宽不足。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计算瓶颈：若周期与指令数线性相关，可能是张量核心利用率不足。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endParaRPr lang="zh-CN" altLang="en-US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graphicFrame>
        <p:nvGraphicFramePr>
          <p:cNvPr id="11" name="表格 10"/>
          <p:cNvGraphicFramePr/>
          <p:nvPr>
            <p:custDataLst>
              <p:tags r:id="rId11"/>
            </p:custDataLst>
          </p:nvPr>
        </p:nvGraphicFramePr>
        <p:xfrm>
          <a:off x="1654175" y="3487420"/>
          <a:ext cx="9936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700"/>
                <a:gridCol w="1617345"/>
                <a:gridCol w="1339850"/>
                <a:gridCol w="2044065"/>
                <a:gridCol w="1747520"/>
              </a:tblGrid>
              <a:tr h="320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配置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(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warps, threads)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执行周期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</a:rPr>
                        <a:t>总指令数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算力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(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GFLOPS)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误差（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MSE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  <a:latin typeface="Noto Serif CJK SC Black" panose="02020900000000000000" charset="-122"/>
                          <a:ea typeface="Noto Serif CJK SC Black" panose="02020900000000000000" charset="-122"/>
                          <a:cs typeface="Noto Serif CJK SC Black" panose="02020900000000000000" charset="-122"/>
                        </a:rPr>
                        <a:t>）</a:t>
                      </a:r>
                      <a:endParaRPr lang="zh-CN" altLang="en-US">
                        <a:solidFill>
                          <a:schemeClr val="tx1"/>
                        </a:solidFill>
                        <a:latin typeface="Noto Serif CJK SC Black" panose="02020900000000000000" charset="-122"/>
                        <a:ea typeface="Noto Serif CJK SC Black" panose="02020900000000000000" charset="-122"/>
                        <a:cs typeface="Noto Serif CJK SC Black" panose="020209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(4,4)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(4,8)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(8,4)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Noto Serif CJK SC Light" panose="02020300000000000000" charset="-122"/>
                          <a:ea typeface="Noto Serif CJK SC Light" panose="02020300000000000000" charset="-122"/>
                        </a:rPr>
                        <a:t>(8,8)</a:t>
                      </a:r>
                      <a:endParaRPr lang="en-US" altLang="zh-CN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  <a:latin typeface="Noto Serif CJK SC Light" panose="02020300000000000000" charset="-122"/>
                        <a:ea typeface="Noto Serif CJK SC Light" panose="02020300000000000000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707380" y="1219200"/>
            <a:ext cx="63779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Black" panose="02020900000000000000" charset="-122"/>
                <a:ea typeface="Noto Serif CJK SC Black" panose="02020900000000000000" charset="-122"/>
                <a:cs typeface="Noto Serif CJK SC Black" panose="02020900000000000000" charset="-122"/>
                <a:sym typeface="+mn-ea"/>
              </a:rPr>
              <a:t>总结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Black" panose="02020900000000000000" charset="-122"/>
              <a:ea typeface="Noto Serif CJK SC Black" panose="02020900000000000000" charset="-122"/>
              <a:cs typeface="Noto Serif CJK SC Black" panose="020209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通过上述步骤，可实现1024x1024 GEMM的硬件加速版本，利用TF32张量核心和分块策略提升性能。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相比FP16/BF16，TF32在精度损失较小的情况下保持相近性能。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600" spc="100" dirty="0">
                <a:solidFill>
                  <a:schemeClr val="tx1">
                    <a:alpha val="87000"/>
                  </a:schemeClr>
                </a:solidFill>
                <a:uFillTx/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sym typeface="+mn-ea"/>
              </a:rPr>
              <a:t>- 合理的线程配置可最大化GPU核心利用率，减少执行周期。</a:t>
            </a:r>
            <a:endParaRPr lang="en-US" altLang="zh-CN" sz="1600" spc="100" dirty="0">
              <a:solidFill>
                <a:schemeClr val="tx1">
                  <a:alpha val="87000"/>
                </a:schemeClr>
              </a:solidFill>
              <a:uFillTx/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参考资料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5"/>
          <p:cNvSpPr txBox="1"/>
          <p:nvPr/>
        </p:nvSpPr>
        <p:spPr>
          <a:xfrm>
            <a:off x="1148080" y="1169670"/>
            <a:ext cx="9375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GitHub</a:t>
            </a:r>
            <a:r>
              <a:rPr lang="zh-CN" altLang="en-US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项目</a:t>
            </a:r>
            <a:r>
              <a:rPr lang="en-US" altLang="zh-CN" sz="2400">
                <a:latin typeface="Noto Serif CJK SC Light" panose="02020300000000000000" charset="-122"/>
                <a:ea typeface="Noto Serif CJK SC Light" panose="02020300000000000000" charset="-122"/>
                <a:cs typeface="Noto Serif CJK SC Light" panose="02020300000000000000" charset="-122"/>
                <a:hlinkClick r:id="rId9" action="ppaction://hlinkfile"/>
              </a:rPr>
              <a:t> - vortexgpgpu/vortex_tutorials</a:t>
            </a:r>
            <a:endParaRPr lang="en-US" altLang="zh-CN" sz="2400">
              <a:latin typeface="Noto Serif CJK SC Light" panose="02020300000000000000" charset="-122"/>
              <a:ea typeface="Noto Serif CJK SC Light" panose="02020300000000000000" charset="-122"/>
              <a:cs typeface="Noto Serif CJK SC Light" panose="020203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2025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年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10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月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20</a:t>
            </a: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0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1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TABLE_ENDDRAG_ORIGIN_RECT" val="778*169"/>
  <p:tag name="TABLE_ENDDRAG_RECT" val="37*233*778*169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TABLE_ENDDRAG_ORIGIN_RECT" val="778*169"/>
  <p:tag name="TABLE_ENDDRAG_RECT" val="37*233*778*169"/>
</p:tagLst>
</file>

<file path=ppt/tags/tag237.xml><?xml version="1.0" encoding="utf-8"?>
<p:tagLst xmlns:p="http://schemas.openxmlformats.org/presentationml/2006/main">
  <p:tag name="TABLE_ENDDRAG_ORIGIN_RECT" val="778*169"/>
  <p:tag name="TABLE_ENDDRAG_RECT" val="37*233*778*169"/>
</p:tagLst>
</file>

<file path=ppt/tags/tag23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00077],&quot;65&quot;:[20205081]}"/>
</p:tagLst>
</file>

<file path=ppt/tags/tag2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67.xml><?xml version="1.0" encoding="utf-8"?>
<p:tagLst xmlns:p="http://schemas.openxmlformats.org/presentationml/2006/main">
  <p:tag name="TABLE_ENDDRAG_ORIGIN_RECT" val="568*221"/>
  <p:tag name="TABLE_ENDDRAG_RECT" val="121*174*568*221"/>
</p:tagLst>
</file>

<file path=ppt/tags/tag2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7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2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3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TABLE_ENDDRAG_ORIGIN_RECT" val="782*161"/>
  <p:tag name="TABLE_ENDDRAG_RECT" val="113*269*782*161"/>
</p:tagLst>
</file>

<file path=ppt/tags/tag3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90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  <p:tag name="resource_record_key" val="{&quot;29&quot;:[50000077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12495</Words>
  <Application>WPS 演示</Application>
  <PresentationFormat>宽屏</PresentationFormat>
  <Paragraphs>786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宋体</vt:lpstr>
      <vt:lpstr>Wingdings</vt:lpstr>
      <vt:lpstr>Wingdings</vt:lpstr>
      <vt:lpstr>微软雅黑</vt:lpstr>
      <vt:lpstr>Noto Serif CJK SC Black</vt:lpstr>
      <vt:lpstr>思源黑体 CN Heavy</vt:lpstr>
      <vt:lpstr>思源黑体 CN Normal</vt:lpstr>
      <vt:lpstr>Noto Serif CJK SC Light</vt:lpstr>
      <vt:lpstr>Arial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ness233</cp:lastModifiedBy>
  <cp:revision>352</cp:revision>
  <dcterms:created xsi:type="dcterms:W3CDTF">2019-06-19T02:08:00Z</dcterms:created>
  <dcterms:modified xsi:type="dcterms:W3CDTF">2026-01-15T16:47:02Z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F2B3D51F99CC4BF790852F9914527691_13</vt:lpwstr>
  </property>
</Properties>
</file>