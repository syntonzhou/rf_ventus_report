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8" r:id="rId3"/>
    <p:sldId id="377" r:id="rId4"/>
    <p:sldId id="314" r:id="rId5"/>
    <p:sldId id="351" r:id="rId6"/>
    <p:sldId id="382" r:id="rId7"/>
    <p:sldId id="371" r:id="rId8"/>
    <p:sldId id="372" r:id="rId9"/>
    <p:sldId id="373" r:id="rId10"/>
    <p:sldId id="379" r:id="rId11"/>
    <p:sldId id="378" r:id="rId12"/>
    <p:sldId id="376" r:id="rId13"/>
    <p:sldId id="374" r:id="rId14"/>
    <p:sldId id="383" r:id="rId15"/>
    <p:sldId id="380" r:id="rId16"/>
    <p:sldId id="381" r:id="rId17"/>
    <p:sldId id="281" r:id="rId18"/>
  </p:sldIdLst>
  <p:sldSz cx="12192000" cy="6858000"/>
  <p:notesSz cx="6858000" cy="9144000"/>
  <p:embeddedFontLst>
    <p:embeddedFont>
      <p:font typeface="微软雅黑" panose="020B0503020204020204" charset="-122"/>
      <p:regular r:id="rId25"/>
    </p:embeddedFont>
    <p:embeddedFont>
      <p:font typeface="Calibri" panose="020F0502020204030204" charset="0"/>
      <p:regular r:id="rId26"/>
      <p:bold r:id="rId27"/>
      <p:italic r:id="rId28"/>
      <p:boldItalic r:id="rId29"/>
    </p:embeddedFont>
  </p:embeddedFontLst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96E6"/>
    <a:srgbClr val="566798"/>
    <a:srgbClr val="556595"/>
    <a:srgbClr val="4B547B"/>
    <a:srgbClr val="FFFFFF"/>
    <a:srgbClr val="515983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9"/>
        <p:guide pos="384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gs" Target="tags/tag196.xml"/><Relationship Id="rId3" Type="http://schemas.openxmlformats.org/officeDocument/2006/relationships/slide" Target="slides/slide1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Relationship Id="rId3" Type="http://schemas.openxmlformats.org/officeDocument/2006/relationships/tags" Target="../tags/tag3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image" Target="../media/image2.png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image" Target="../media/image7.png"/><Relationship Id="rId2" Type="http://schemas.openxmlformats.org/officeDocument/2006/relationships/tags" Target="../tags/tag4.xml"/><Relationship Id="rId10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底图-1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pic>
        <p:nvPicPr>
          <p:cNvPr id="6" name="图片 5" descr="建筑-14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7" name="图片 6" descr="建筑_画板 1 副本 2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2262505" y="3307080"/>
            <a:ext cx="6789600" cy="3120355"/>
          </a:xfrm>
          <a:prstGeom prst="rect">
            <a:avLst/>
          </a:prstGeom>
        </p:spPr>
      </p:pic>
      <p:pic>
        <p:nvPicPr>
          <p:cNvPr id="8" name="图片 7" descr="建筑_画板 1 副本 6"/>
          <p:cNvPicPr>
            <a:picLocks noChangeAspect="1"/>
          </p:cNvPicPr>
          <p:nvPr userDrawn="1"/>
        </p:nvPicPr>
        <p:blipFill>
          <a:blip r:embed="rId7">
            <a:alphaModFix amt="90000"/>
          </a:blip>
          <a:stretch>
            <a:fillRect/>
          </a:stretch>
        </p:blipFill>
        <p:spPr>
          <a:xfrm>
            <a:off x="4217670" y="3754755"/>
            <a:ext cx="7974000" cy="26725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底图-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pic>
        <p:nvPicPr>
          <p:cNvPr id="6" name="图片 5" descr="建筑-14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9" name="图片 8" descr="建筑_画板 1 副本 1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121015" y="2319655"/>
            <a:ext cx="4525200" cy="4261649"/>
          </a:xfrm>
          <a:prstGeom prst="rect">
            <a:avLst/>
          </a:prstGeom>
        </p:spPr>
      </p:pic>
      <p:pic>
        <p:nvPicPr>
          <p:cNvPr id="10" name="图片 9" descr="建筑_画板 1 副本 10"/>
          <p:cNvPicPr>
            <a:picLocks noChangeAspect="1"/>
          </p:cNvPicPr>
          <p:nvPr userDrawn="1"/>
        </p:nvPicPr>
        <p:blipFill>
          <a:blip r:embed="rId6">
            <a:alphaModFix amt="90000"/>
          </a:blip>
          <a:stretch>
            <a:fillRect/>
          </a:stretch>
        </p:blipFill>
        <p:spPr>
          <a:xfrm>
            <a:off x="-760095" y="3352165"/>
            <a:ext cx="9288000" cy="311298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bg>
      <p:bgPr>
        <a:solidFill>
          <a:srgbClr val="5159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底图-0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2218690"/>
            <a:ext cx="12192000" cy="435229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 descr="建筑-14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>
            <a:alphaModFix amt="10000"/>
          </a:blip>
          <a:stretch>
            <a:fillRect/>
          </a:stretch>
        </p:blipFill>
        <p:spPr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6" name="图片 5" descr="底图-07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-799800" y="5633085"/>
            <a:ext cx="13791600" cy="14114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"/>
          <p:cNvSpPr txBox="1">
            <a:spLocks noGrp="1"/>
          </p:cNvSpPr>
          <p:nvPr>
            <p:ph type="body" idx="5" hasCustomPrompt="1"/>
            <p:custDataLst>
              <p:tags r:id="rId2"/>
            </p:custDataLst>
          </p:nvPr>
        </p:nvSpPr>
        <p:spPr>
          <a:xfrm rot="5400000">
            <a:off x="1526540" y="2623820"/>
            <a:ext cx="5486400" cy="134366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6500" b="1" i="0" u="none" strike="noStrike" kern="1200" cap="none" spc="0" normalizeH="0" baseline="0" noProof="1">
                <a:ln>
                  <a:gradFill>
                    <a:gsLst>
                      <a:gs pos="19000">
                        <a:schemeClr val="accent1">
                          <a:alpha val="0"/>
                        </a:schemeClr>
                      </a:gs>
                      <a:gs pos="74000">
                        <a:schemeClr val="accent1">
                          <a:alpha val="35000"/>
                        </a:schemeClr>
                      </a:gs>
                    </a:gsLst>
                    <a:lin ang="16200000" scaled="0"/>
                  </a:gradFill>
                </a:ln>
                <a:noFill/>
                <a:latin typeface="+mj-ea"/>
                <a:ea typeface="+mj-ea"/>
                <a:cs typeface="微软雅黑" panose="020B0503020204020204" charset="-122"/>
                <a:sym typeface="+mn-ea"/>
              </a:defRPr>
            </a:lvl1pPr>
          </a:lstStyle>
          <a:p>
            <a:pPr lvl="0" algn="l" fontAlgn="ctr">
              <a:buClrTx/>
              <a:buSzTx/>
              <a:buFontTx/>
            </a:pPr>
            <a:r>
              <a:rPr dirty="0" err="1">
                <a:sym typeface="+mn-ea"/>
              </a:rPr>
              <a:t>编辑副标题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4" hasCustomPrompt="1"/>
            <p:custDataLst>
              <p:tags r:id="rId3"/>
            </p:custDataLst>
          </p:nvPr>
        </p:nvSpPr>
        <p:spPr>
          <a:xfrm>
            <a:off x="3275330" y="579755"/>
            <a:ext cx="1428750" cy="4603115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1000" normalizeH="0" baseline="0" noProof="1">
                <a:solidFill>
                  <a:schemeClr val="accent1"/>
                </a:solidFill>
                <a:uFillTx/>
                <a:latin typeface="+mj-ea"/>
                <a:ea typeface="+mj-ea"/>
                <a:cs typeface="微软雅黑" panose="020B0503020204020204" charset="-122"/>
                <a:sym typeface="+mn-ea"/>
              </a:defRPr>
            </a:lvl1pPr>
          </a:lstStyle>
          <a:p>
            <a:pPr lvl="0" algn="l" fontAlgn="ctr">
              <a:buClrTx/>
              <a:buSzTx/>
              <a:buFontTx/>
            </a:pPr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tags" Target="../tags/tag7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70.xml"/><Relationship Id="rId18" Type="http://schemas.openxmlformats.org/officeDocument/2006/relationships/tags" Target="../tags/tag69.xml"/><Relationship Id="rId17" Type="http://schemas.openxmlformats.org/officeDocument/2006/relationships/tags" Target="../tags/tag68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77.xml"/><Relationship Id="rId7" Type="http://schemas.openxmlformats.org/officeDocument/2006/relationships/image" Target="../media/image10.png"/><Relationship Id="rId6" Type="http://schemas.openxmlformats.org/officeDocument/2006/relationships/tags" Target="../tags/tag76.xml"/><Relationship Id="rId5" Type="http://schemas.openxmlformats.org/officeDocument/2006/relationships/image" Target="../media/image9.png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78.xml"/><Relationship Id="rId1" Type="http://schemas.openxmlformats.org/officeDocument/2006/relationships/tags" Target="../tags/tag7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85.xml"/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image" Target="../media/image12.png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86.xml"/><Relationship Id="rId10" Type="http://schemas.openxmlformats.org/officeDocument/2006/relationships/image" Target="../media/image14.png"/><Relationship Id="rId1" Type="http://schemas.openxmlformats.org/officeDocument/2006/relationships/tags" Target="../tags/tag7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image" Target="../media/image13.png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image" Target="../media/image12.png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94.xml"/><Relationship Id="rId1" Type="http://schemas.openxmlformats.org/officeDocument/2006/relationships/tags" Target="../tags/tag8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01.xml"/><Relationship Id="rId7" Type="http://schemas.openxmlformats.org/officeDocument/2006/relationships/tags" Target="../tags/tag100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image" Target="../media/image12.png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3" Type="http://schemas.openxmlformats.org/officeDocument/2006/relationships/slideLayout" Target="../slideLayouts/slideLayout9.xml"/><Relationship Id="rId12" Type="http://schemas.openxmlformats.org/officeDocument/2006/relationships/tags" Target="../tags/tag102.xml"/><Relationship Id="rId11" Type="http://schemas.openxmlformats.org/officeDocument/2006/relationships/image" Target="../media/image16.png"/><Relationship Id="rId10" Type="http://schemas.openxmlformats.org/officeDocument/2006/relationships/image" Target="../media/image15.png"/><Relationship Id="rId1" Type="http://schemas.openxmlformats.org/officeDocument/2006/relationships/tags" Target="../tags/tag9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09.xml"/><Relationship Id="rId7" Type="http://schemas.openxmlformats.org/officeDocument/2006/relationships/tags" Target="../tags/tag108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4" Type="http://schemas.openxmlformats.org/officeDocument/2006/relationships/image" Target="../media/image12.png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110.xml"/><Relationship Id="rId1" Type="http://schemas.openxmlformats.org/officeDocument/2006/relationships/tags" Target="../tags/tag10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image" Target="../media/image12.png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118.xml"/><Relationship Id="rId10" Type="http://schemas.openxmlformats.org/officeDocument/2006/relationships/image" Target="../media/image17.png"/><Relationship Id="rId1" Type="http://schemas.openxmlformats.org/officeDocument/2006/relationships/tags" Target="../tags/tag11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25.xml"/><Relationship Id="rId7" Type="http://schemas.openxmlformats.org/officeDocument/2006/relationships/tags" Target="../tags/tag124.xml"/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image" Target="../media/image12.png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126.xml"/><Relationship Id="rId10" Type="http://schemas.openxmlformats.org/officeDocument/2006/relationships/image" Target="../media/image18.png"/><Relationship Id="rId1" Type="http://schemas.openxmlformats.org/officeDocument/2006/relationships/tags" Target="../tags/tag11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33.xml"/><Relationship Id="rId7" Type="http://schemas.openxmlformats.org/officeDocument/2006/relationships/tags" Target="../tags/tag132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image" Target="../media/image12.png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134.xml"/><Relationship Id="rId10" Type="http://schemas.openxmlformats.org/officeDocument/2006/relationships/image" Target="../media/image19.png"/><Relationship Id="rId1" Type="http://schemas.openxmlformats.org/officeDocument/2006/relationships/tags" Target="../tags/tag12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41.xml"/><Relationship Id="rId7" Type="http://schemas.openxmlformats.org/officeDocument/2006/relationships/tags" Target="../tags/tag140.xml"/><Relationship Id="rId6" Type="http://schemas.openxmlformats.org/officeDocument/2006/relationships/tags" Target="../tags/tag139.xml"/><Relationship Id="rId5" Type="http://schemas.openxmlformats.org/officeDocument/2006/relationships/tags" Target="../tags/tag138.xml"/><Relationship Id="rId4" Type="http://schemas.openxmlformats.org/officeDocument/2006/relationships/image" Target="../media/image12.png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142.xml"/><Relationship Id="rId1" Type="http://schemas.openxmlformats.org/officeDocument/2006/relationships/tags" Target="../tags/tag135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image" Target="../media/image12.png"/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3" Type="http://schemas.openxmlformats.org/officeDocument/2006/relationships/slideLayout" Target="../slideLayouts/slideLayout9.xml"/><Relationship Id="rId12" Type="http://schemas.openxmlformats.org/officeDocument/2006/relationships/tags" Target="../tags/tag150.xml"/><Relationship Id="rId11" Type="http://schemas.openxmlformats.org/officeDocument/2006/relationships/image" Target="../media/image21.png"/><Relationship Id="rId10" Type="http://schemas.openxmlformats.org/officeDocument/2006/relationships/image" Target="../media/image20.png"/><Relationship Id="rId1" Type="http://schemas.openxmlformats.org/officeDocument/2006/relationships/tags" Target="../tags/tag143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57.xml"/><Relationship Id="rId7" Type="http://schemas.openxmlformats.org/officeDocument/2006/relationships/tags" Target="../tags/tag156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image" Target="../media/image12.png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158.xml"/><Relationship Id="rId1" Type="http://schemas.openxmlformats.org/officeDocument/2006/relationships/tags" Target="../tags/tag15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65.xml"/><Relationship Id="rId7" Type="http://schemas.openxmlformats.org/officeDocument/2006/relationships/tags" Target="../tags/tag164.xml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4" Type="http://schemas.openxmlformats.org/officeDocument/2006/relationships/image" Target="../media/image12.png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166.xml"/><Relationship Id="rId1" Type="http://schemas.openxmlformats.org/officeDocument/2006/relationships/tags" Target="../tags/tag159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73.xml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image" Target="../media/image12.png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174.xml"/><Relationship Id="rId1" Type="http://schemas.openxmlformats.org/officeDocument/2006/relationships/tags" Target="../tags/tag167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81.xml"/><Relationship Id="rId7" Type="http://schemas.openxmlformats.org/officeDocument/2006/relationships/tags" Target="../tags/tag180.xml"/><Relationship Id="rId6" Type="http://schemas.openxmlformats.org/officeDocument/2006/relationships/tags" Target="../tags/tag179.xml"/><Relationship Id="rId5" Type="http://schemas.openxmlformats.org/officeDocument/2006/relationships/tags" Target="../tags/tag178.xml"/><Relationship Id="rId4" Type="http://schemas.openxmlformats.org/officeDocument/2006/relationships/image" Target="../media/image12.png"/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183.xml"/><Relationship Id="rId10" Type="http://schemas.openxmlformats.org/officeDocument/2006/relationships/tags" Target="../tags/tag182.xml"/><Relationship Id="rId1" Type="http://schemas.openxmlformats.org/officeDocument/2006/relationships/tags" Target="../tags/tag175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90.xml"/><Relationship Id="rId7" Type="http://schemas.openxmlformats.org/officeDocument/2006/relationships/tags" Target="../tags/tag189.xml"/><Relationship Id="rId6" Type="http://schemas.openxmlformats.org/officeDocument/2006/relationships/tags" Target="../tags/tag188.xml"/><Relationship Id="rId5" Type="http://schemas.openxmlformats.org/officeDocument/2006/relationships/tags" Target="../tags/tag187.xml"/><Relationship Id="rId4" Type="http://schemas.openxmlformats.org/officeDocument/2006/relationships/image" Target="../media/image12.png"/><Relationship Id="rId3" Type="http://schemas.openxmlformats.org/officeDocument/2006/relationships/tags" Target="../tags/tag186.xml"/><Relationship Id="rId2" Type="http://schemas.openxmlformats.org/officeDocument/2006/relationships/tags" Target="../tags/tag185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191.xml"/><Relationship Id="rId10" Type="http://schemas.openxmlformats.org/officeDocument/2006/relationships/image" Target="../media/image22.png"/><Relationship Id="rId1" Type="http://schemas.openxmlformats.org/officeDocument/2006/relationships/tags" Target="../tags/tag18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195.xml"/><Relationship Id="rId5" Type="http://schemas.openxmlformats.org/officeDocument/2006/relationships/image" Target="../media/image9.png"/><Relationship Id="rId4" Type="http://schemas.openxmlformats.org/officeDocument/2006/relationships/tags" Target="../tags/tag194.xml"/><Relationship Id="rId3" Type="http://schemas.openxmlformats.org/officeDocument/2006/relationships/tags" Target="../tags/tag193.xml"/><Relationship Id="rId2" Type="http://schemas.openxmlformats.org/officeDocument/2006/relationships/tags" Target="../tags/tag192.xml"/><Relationship Id="rId1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2511425" y="2259330"/>
            <a:ext cx="72377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VENTUS GPGPU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运行</a:t>
            </a: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GEMM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分析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</a:endParaRPr>
          </a:p>
        </p:txBody>
      </p:sp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2374900" y="2944495"/>
            <a:ext cx="7442835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dist"/>
            <a:r>
              <a:rPr lang="zh-CN" altLang="en-US" sz="2400" b="1" dirty="0">
                <a:solidFill>
                  <a:srgbClr val="F0F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大规模</a:t>
            </a:r>
            <a:r>
              <a:rPr lang="en-US" altLang="zh-CN" sz="2400" b="1" dirty="0">
                <a:solidFill>
                  <a:srgbClr val="F0F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GEMM</a:t>
            </a:r>
            <a:r>
              <a:rPr lang="zh-CN" altLang="en-US" sz="2400" b="1" dirty="0">
                <a:solidFill>
                  <a:srgbClr val="F0F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三爆虚拟机，高性能</a:t>
            </a:r>
            <a:r>
              <a:rPr lang="en-US" altLang="zh-CN" sz="2400" b="1" dirty="0">
                <a:solidFill>
                  <a:srgbClr val="F0F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Ventus</a:t>
            </a:r>
            <a:r>
              <a:rPr lang="zh-CN" altLang="en-US" sz="2400" b="1" dirty="0">
                <a:solidFill>
                  <a:srgbClr val="F0F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长困资源牢</a:t>
            </a:r>
            <a:endParaRPr lang="zh-CN" altLang="en-US" sz="2400" b="1" dirty="0">
              <a:solidFill>
                <a:srgbClr val="F0F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4366260" y="5334635"/>
            <a:ext cx="3458845" cy="614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dist"/>
            <a:r>
              <a:rPr kumimoji="1"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2025-</a:t>
            </a:r>
            <a:r>
              <a:rPr kumimoji="1"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高级模拟及射频集成电路设计</a:t>
            </a:r>
            <a:r>
              <a:rPr kumimoji="1"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南京大学集成电路学院</a:t>
            </a:r>
            <a:endParaRPr kumimoji="1" lang="zh-CN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4" name="图片 13" descr="校标、校名-透空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08610" y="391795"/>
            <a:ext cx="1440000" cy="461303"/>
          </a:xfrm>
          <a:prstGeom prst="rect">
            <a:avLst/>
          </a:prstGeom>
          <a:noFill/>
          <a:effectLst>
            <a:outerShdw blurRad="12700" dist="25400" dir="2700000" sx="99000" sy="99000" algn="tl" rotWithShape="0">
              <a:prstClr val="black">
                <a:alpha val="25000"/>
              </a:prstClr>
            </a:outerShdw>
          </a:effectLst>
        </p:spPr>
      </p:pic>
      <p:pic>
        <p:nvPicPr>
          <p:cNvPr id="15" name="图片 14" descr="底图-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603615" y="229870"/>
            <a:ext cx="1870710" cy="78486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图片 15" descr="未标题-2_画板 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214610" y="363220"/>
            <a:ext cx="1870710" cy="56515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custDataLst>
      <p:tags r:id="rId10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大规模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GEMM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运算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71115" y="1228725"/>
            <a:ext cx="7280910" cy="511492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目录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2" name="图形"/>
          <p:cNvSpPr txBox="1"/>
          <p:nvPr>
            <p:custDataLst>
              <p:tags r:id="rId9"/>
            </p:custDataLst>
          </p:nvPr>
        </p:nvSpPr>
        <p:spPr>
          <a:xfrm>
            <a:off x="1069975" y="1402715"/>
            <a:ext cx="820610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0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1. </a:t>
            </a:r>
            <a:r>
              <a:rPr lang="en-US" altLang="zh-CN" sz="20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Ventus</a:t>
            </a:r>
            <a:r>
              <a:rPr lang="zh-CN" altLang="en-US" sz="20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官方给出的理论性能</a:t>
            </a:r>
            <a:endParaRPr lang="zh-CN" altLang="en-US" sz="20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zh-CN" altLang="en-US" sz="20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0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2. 测试[4096,4096,4096]的KFLOPS</a:t>
            </a:r>
            <a:endParaRPr lang="zh-CN" altLang="en-US" sz="20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理论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性能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37448" t="24228" r="4722" b="10580"/>
          <a:stretch>
            <a:fillRect/>
          </a:stretch>
        </p:blipFill>
        <p:spPr>
          <a:xfrm>
            <a:off x="85725" y="1573530"/>
            <a:ext cx="6499225" cy="41211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15925" y="1149985"/>
            <a:ext cx="12192000" cy="42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20000"/>
              </a:lnSpc>
            </a:pP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论文中对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性能的评估：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6198870" y="1573530"/>
                <a:ext cx="6239510" cy="4600575"/>
              </a:xfrm>
              <a:prstGeom prst="rect">
                <a:avLst/>
              </a:prstGeom>
            </p:spPr>
            <p:txBody>
              <a:bodyPr>
                <a:noAutofit/>
              </a:bodyPr>
              <a:p>
                <a:pPr marL="0" algn="l">
                  <a:lnSpc>
                    <a:spcPct val="120000"/>
                  </a:lnSpc>
                  <a:buClrTx/>
                  <a:buSzTx/>
                  <a:buFontTx/>
                </a:pPr>
                <a:r>
                  <a:rPr lang="zh-CN" altLang="en-US" sz="1600" b="0" i="0">
                    <a:latin typeface="Noto Serif CJK SC Light" panose="02020300000000000000" charset="-122"/>
                    <a:ea typeface="Noto Serif CJK SC Light" panose="02020300000000000000" charset="-122"/>
                    <a:cs typeface="Noto Serif CJK SC Light" panose="02020300000000000000" charset="-122"/>
                  </a:rPr>
                  <a:t>Ventus的理论峰值性能在FP32精度下为10 GFlops</a:t>
                </a:r>
                <a:endParaRPr lang="zh-CN" altLang="en-US" sz="1600" b="0" i="0">
                  <a:latin typeface="Noto Serif CJK SC Light" panose="02020300000000000000" charset="-122"/>
                  <a:ea typeface="Noto Serif CJK SC Light" panose="02020300000000000000" charset="-122"/>
                  <a:cs typeface="Noto Serif CJK SC Light" panose="02020300000000000000" charset="-122"/>
                </a:endParaRPr>
              </a:p>
              <a:p>
                <a:pPr marL="0" algn="l">
                  <a:lnSpc>
                    <a:spcPct val="120000"/>
                  </a:lnSpc>
                  <a:buClrTx/>
                  <a:buSzTx/>
                  <a:buFontTx/>
                </a:pPr>
                <a:r>
                  <a:rPr lang="zh-CN" altLang="en-US" sz="1600" b="0" i="0">
                    <a:latin typeface="Noto Serif CJK SC Light" panose="02020300000000000000" charset="-122"/>
                    <a:ea typeface="Noto Serif CJK SC Light" panose="02020300000000000000" charset="-122"/>
                    <a:cs typeface="Noto Serif CJK SC Light" panose="02020300000000000000" charset="-122"/>
                  </a:rPr>
                  <a:t>正常通道和Tensor Core各贡献5 GFlops</a:t>
                </a:r>
                <a:endParaRPr lang="zh-CN" altLang="en-US" sz="1600" b="0" i="0">
                  <a:latin typeface="Noto Serif CJK SC Light" panose="02020300000000000000" charset="-122"/>
                  <a:ea typeface="Noto Serif CJK SC Light" panose="02020300000000000000" charset="-122"/>
                  <a:cs typeface="Noto Serif CJK SC Light" panose="02020300000000000000" charset="-122"/>
                </a:endParaRPr>
              </a:p>
              <a:p>
                <a:pPr marL="0" algn="l">
                  <a:lnSpc>
                    <a:spcPct val="120000"/>
                  </a:lnSpc>
                  <a:buClrTx/>
                  <a:buSzTx/>
                  <a:buFontTx/>
                </a:pPr>
                <a:endParaRPr lang="zh-CN" altLang="en-US" sz="1600" b="0" i="0">
                  <a:latin typeface="Noto Serif CJK SC Light" panose="02020300000000000000" charset="-122"/>
                  <a:ea typeface="Noto Serif CJK SC Light" panose="02020300000000000000" charset="-122"/>
                  <a:cs typeface="Noto Serif CJK SC Light" panose="02020300000000000000" charset="-122"/>
                </a:endParaRPr>
              </a:p>
              <a:p>
                <a:pPr marL="0" algn="l">
                  <a:lnSpc>
                    <a:spcPct val="120000"/>
                  </a:lnSpc>
                  <a:buClrTx/>
                  <a:buSzTx/>
                  <a:buFontTx/>
                </a:pPr>
                <a:r>
                  <a:rPr lang="zh-CN" altLang="en-US" sz="1600" b="0" i="0">
                    <a:latin typeface="Noto Serif CJK SC Light" panose="02020300000000000000" charset="-122"/>
                    <a:ea typeface="Noto Serif CJK SC Light" panose="02020300000000000000" charset="-122"/>
                    <a:cs typeface="Noto Serif CJK SC Light" panose="02020300000000000000" charset="-122"/>
                  </a:rPr>
                  <a:t>计算[4096, 4096, 4096]规模的GEMM，总FLOPs为：</a:t>
                </a:r>
                <a:endParaRPr lang="zh-CN" altLang="en-US" sz="1600" b="0" i="0">
                  <a:latin typeface="Noto Serif CJK SC Light" panose="02020300000000000000" charset="-122"/>
                  <a:ea typeface="Noto Serif CJK SC Light" panose="02020300000000000000" charset="-122"/>
                  <a:cs typeface="Noto Serif CJK SC Light" panose="02020300000000000000" charset="-122"/>
                </a:endParaRPr>
              </a:p>
              <a:p>
                <a:pPr marL="0" algn="l">
                  <a:lnSpc>
                    <a:spcPct val="120000"/>
                  </a:lnSpc>
                  <a:spcBef>
                    <a:spcPts val="1200"/>
                  </a:spcBef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sz="16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×</m:t>
                      </m:r>
                      <m:r>
                        <a:rPr lang="en-US" altLang="zh-CN" sz="16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4096</m:t>
                      </m:r>
                      <m:r>
                        <a:rPr lang="en-US" altLang="zh-CN" sz="16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×</m:t>
                      </m:r>
                      <m:r>
                        <a:rPr lang="en-US" altLang="zh-CN" sz="16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4096</m:t>
                      </m:r>
                      <m:r>
                        <a:rPr lang="en-US" altLang="zh-CN" sz="16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×</m:t>
                      </m:r>
                      <m:r>
                        <a:rPr lang="en-US" altLang="zh-CN" sz="16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4096</m:t>
                      </m:r>
                      <m:r>
                        <a:rPr lang="en-US" altLang="zh-CN" sz="16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1600"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Light" panose="02020300000000000000" charset="-122"/>
                          <a:sym typeface="+mn-ea"/>
                        </a:rPr>
                        <m:t>137</m:t>
                      </m:r>
                      <m:r>
                        <a:rPr lang="en-US" altLang="zh-CN" sz="1600"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Light" panose="02020300000000000000" charset="-122"/>
                          <a:sym typeface="+mn-ea"/>
                        </a:rPr>
                        <m:t>,</m:t>
                      </m:r>
                      <m:r>
                        <a:rPr lang="en-US" altLang="zh-CN" sz="1600"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Light" panose="02020300000000000000" charset="-122"/>
                          <a:sym typeface="+mn-ea"/>
                        </a:rPr>
                        <m:t>438</m:t>
                      </m:r>
                      <m:r>
                        <a:rPr lang="en-US" altLang="zh-CN" sz="1600"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Light" panose="02020300000000000000" charset="-122"/>
                          <a:sym typeface="+mn-ea"/>
                        </a:rPr>
                        <m:t>,</m:t>
                      </m:r>
                      <m:r>
                        <a:rPr lang="en-US" altLang="zh-CN" sz="1600"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Light" panose="02020300000000000000" charset="-122"/>
                          <a:sym typeface="+mn-ea"/>
                        </a:rPr>
                        <m:t>953</m:t>
                      </m:r>
                      <m:r>
                        <a:rPr lang="en-US" altLang="zh-CN" sz="1600"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Light" panose="02020300000000000000" charset="-122"/>
                          <a:sym typeface="+mn-ea"/>
                        </a:rPr>
                        <m:t>,</m:t>
                      </m:r>
                      <m:r>
                        <a:rPr lang="en-US" altLang="zh-CN" sz="1600"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Light" panose="02020300000000000000" charset="-122"/>
                          <a:sym typeface="+mn-ea"/>
                        </a:rPr>
                        <m:t>472</m:t>
                      </m:r>
                      <m:r>
                        <a:rPr lang="en-US" altLang="zh-CN" sz="16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zh-CN" sz="16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𝐹𝐿𝑂𝑃𝑠</m:t>
                      </m:r>
                    </m:oMath>
                  </m:oMathPara>
                </a14:m>
                <a:endParaRPr lang="en-US" altLang="zh-CN" sz="1600" i="1">
                  <a:latin typeface="Cambria Math" panose="02040503050406030204" charset="0"/>
                  <a:ea typeface="Noto Serif CJK SC Light" panose="02020300000000000000" charset="-122"/>
                  <a:cs typeface="Cambria Math" panose="02040503050406030204" charset="0"/>
                </a:endParaRPr>
              </a:p>
              <a:p>
                <a:pPr marL="0" algn="l">
                  <a:lnSpc>
                    <a:spcPct val="120000"/>
                  </a:lnSpc>
                  <a:spcBef>
                    <a:spcPts val="1200"/>
                  </a:spcBef>
                  <a:buClrTx/>
                  <a:buSzTx/>
                  <a:buFontTx/>
                </a:pPr>
                <a:r>
                  <a:rPr lang="zh-CN" altLang="en-US" sz="1600" b="0" i="0">
                    <a:latin typeface="Noto Serif CJK SC Light" panose="02020300000000000000" charset="-122"/>
                    <a:ea typeface="Noto Serif CJK SC Light" panose="02020300000000000000" charset="-122"/>
                    <a:cs typeface="Noto Serif CJK SC Light" panose="02020300000000000000" charset="-122"/>
                  </a:rPr>
                  <a:t>在理论峰值性能10 GFlops下，理论计算时间为：</a:t>
                </a:r>
                <a:endParaRPr lang="zh-CN" altLang="en-US" sz="1600" b="0" i="0">
                  <a:latin typeface="Noto Serif CJK SC Light" panose="02020300000000000000" charset="-122"/>
                  <a:ea typeface="Noto Serif CJK SC Light" panose="02020300000000000000" charset="-122"/>
                  <a:cs typeface="Noto Serif CJK SC Light" panose="02020300000000000000" charset="-122"/>
                </a:endParaRPr>
              </a:p>
              <a:p>
                <a:pPr marL="0" algn="l">
                  <a:lnSpc>
                    <a:spcPct val="120000"/>
                  </a:lnSpc>
                  <a:spcBef>
                    <a:spcPts val="1000"/>
                  </a:spcBef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600" b="0" i="1">
                              <a:latin typeface="Cambria Math" panose="02040503050406030204" charset="0"/>
                              <a:ea typeface="Noto Serif CJK SC Light" panose="02020300000000000000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1600" b="0" i="1">
                              <a:latin typeface="Cambria Math" panose="02040503050406030204" charset="0"/>
                              <a:ea typeface="Noto Serif CJK SC Light" panose="02020300000000000000" charset="-122"/>
                              <a:cs typeface="Cambria Math" panose="02040503050406030204" charset="0"/>
                            </a:rPr>
                            <m:t>1</m:t>
                          </m:r>
                          <m:r>
                            <a:rPr lang="en-US" altLang="zh-CN" sz="16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  <a:cs typeface="Noto Serif CJK SC Light" panose="02020300000000000000" charset="-122"/>
                            </a:rPr>
                            <m:t>37438953472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1600" b="0" i="1">
                                  <a:latin typeface="Cambria Math" panose="02040503050406030204" charset="0"/>
                                  <a:ea typeface="Noto Serif CJK SC Light" panose="02020300000000000000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0" i="1">
                                  <a:latin typeface="Cambria Math" panose="02040503050406030204" charset="0"/>
                                  <a:ea typeface="Noto Serif CJK SC Light" panose="02020300000000000000" charset="-122"/>
                                  <a:cs typeface="Cambria Math" panose="02040503050406030204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altLang="zh-CN" sz="1600" b="0" i="1">
                                  <a:latin typeface="Cambria Math" panose="02040503050406030204" charset="0"/>
                                  <a:ea typeface="Noto Serif CJK SC Light" panose="02020300000000000000" charset="-122"/>
                                  <a:cs typeface="Cambria Math" panose="02040503050406030204" charset="0"/>
                                </a:rPr>
                                <m:t>9</m:t>
                              </m:r>
                            </m:sup>
                          </m:sSup>
                        </m:den>
                      </m:f>
                      <m:r>
                        <a:rPr lang="en-US" altLang="zh-CN" sz="1600" b="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1600" b="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137</m:t>
                      </m:r>
                      <m:r>
                        <a:rPr lang="en-US" altLang="zh-CN" sz="1600" b="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sz="1600" b="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438953472</m:t>
                      </m:r>
                      <m:r>
                        <a:rPr lang="en-US" altLang="zh-CN" sz="1600" b="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𝑠</m:t>
                      </m:r>
                    </m:oMath>
                  </m:oMathPara>
                </a14:m>
                <a:endParaRPr lang="zh-CN" altLang="en-US" sz="1600" b="0" i="0">
                  <a:latin typeface="Noto Serif CJK SC Light" panose="02020300000000000000" charset="-122"/>
                  <a:ea typeface="Noto Serif CJK SC Light" panose="02020300000000000000" charset="-122"/>
                  <a:cs typeface="Noto Serif CJK SC Light" panose="02020300000000000000" charset="-122"/>
                </a:endParaRPr>
              </a:p>
              <a:p>
                <a:pPr marL="0" algn="l">
                  <a:lnSpc>
                    <a:spcPct val="120000"/>
                  </a:lnSpc>
                  <a:spcBef>
                    <a:spcPts val="1200"/>
                  </a:spcBef>
                  <a:buClrTx/>
                  <a:buSzTx/>
                  <a:buFontTx/>
                </a:pPr>
                <a:r>
                  <a:rPr lang="zh-CN" altLang="en-US" sz="1600" b="0" i="0">
                    <a:latin typeface="Noto Serif CJK SC Light" panose="02020300000000000000" charset="-122"/>
                    <a:ea typeface="Noto Serif CJK SC Light" panose="02020300000000000000" charset="-122"/>
                    <a:cs typeface="Noto Serif CJK SC Light" panose="02020300000000000000" charset="-122"/>
                  </a:rPr>
                  <a:t>（2SM-4warp-8lane）在100MHz时钟下达到3.2 GFlops</a:t>
                </a:r>
                <a:endParaRPr lang="zh-CN" altLang="en-US" sz="1600" b="0" i="0">
                  <a:latin typeface="Noto Serif CJK SC Light" panose="02020300000000000000" charset="-122"/>
                  <a:ea typeface="Noto Serif CJK SC Light" panose="02020300000000000000" charset="-122"/>
                  <a:cs typeface="Noto Serif CJK SC Light" panose="02020300000000000000" charset="-122"/>
                </a:endParaRPr>
              </a:p>
              <a:p>
                <a:pPr marL="0" algn="l">
                  <a:lnSpc>
                    <a:spcPct val="120000"/>
                  </a:lnSpc>
                  <a:spcBef>
                    <a:spcPts val="1200"/>
                  </a:spcBef>
                  <a:buClrTx/>
                  <a:buSzTx/>
                  <a:buFontTx/>
                </a:pPr>
                <a:r>
                  <a:rPr lang="zh-CN" altLang="en-US" sz="1600" b="0" i="0">
                    <a:latin typeface="Noto Serif CJK SC Light" panose="02020300000000000000" charset="-122"/>
                    <a:ea typeface="Noto Serif CJK SC Light" panose="02020300000000000000" charset="-122"/>
                    <a:cs typeface="Noto Serif CJK SC Light" panose="02020300000000000000" charset="-122"/>
                  </a:rPr>
                  <a:t>（16SM-16warp-16lane with Tensor Core）的峰值为10GFlops</a:t>
                </a:r>
                <a:endParaRPr lang="zh-CN" altLang="en-US" sz="1600" b="0" i="0">
                  <a:latin typeface="Noto Serif CJK SC Light" panose="02020300000000000000" charset="-122"/>
                  <a:ea typeface="Noto Serif CJK SC Light" panose="02020300000000000000" charset="-122"/>
                  <a:cs typeface="Noto Serif CJK SC Light" panose="02020300000000000000" charset="-122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8870" y="1573530"/>
                <a:ext cx="6239510" cy="460057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415925" y="3332480"/>
            <a:ext cx="5829300" cy="561975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理论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性能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10" name="文本框 9"/>
          <p:cNvSpPr txBox="1"/>
          <p:nvPr/>
        </p:nvSpPr>
        <p:spPr>
          <a:xfrm>
            <a:off x="2519680" y="2153285"/>
            <a:ext cx="7185660" cy="3109595"/>
          </a:xfrm>
          <a:prstGeom prst="rect">
            <a:avLst/>
          </a:prstGeom>
        </p:spPr>
        <p:txBody>
          <a:bodyPr>
            <a:noAutofit/>
          </a:bodyPr>
          <a:p>
            <a:pPr marL="0" algn="l">
              <a:lnSpc>
                <a:spcPct val="120000"/>
              </a:lnSpc>
              <a:buClrTx/>
              <a:buSzTx/>
              <a:buFontTx/>
            </a:pPr>
            <a:r>
              <a:rPr lang="zh-CN" altLang="en-US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硬件峰值性能</a:t>
            </a:r>
            <a:r>
              <a:rPr lang="zh-CN" altLang="en-US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：峰值性能基准为</a:t>
            </a:r>
            <a:r>
              <a:rPr lang="en-US" altLang="zh-CN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3.2 GFLOPS</a:t>
            </a:r>
            <a:r>
              <a:rPr lang="zh-CN" altLang="en-US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。</a:t>
            </a:r>
            <a:endParaRPr lang="zh-CN" altLang="en-US" b="0" i="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marL="0" algn="l">
              <a:lnSpc>
                <a:spcPct val="120000"/>
              </a:lnSpc>
              <a:buClrTx/>
              <a:buSzTx/>
              <a:buFontTx/>
            </a:pPr>
            <a:r>
              <a:rPr lang="zh-CN" altLang="en-US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性能缩放趋势</a:t>
            </a:r>
            <a:r>
              <a:rPr lang="zh-CN" altLang="en-US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：性能随矩阵大小增加而提升，但提升速率逐渐放缓。对于较大矩阵，当矩阵大小加倍时，性能约增加</a:t>
            </a:r>
            <a:r>
              <a:rPr lang="en-US" altLang="zh-CN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30%</a:t>
            </a:r>
            <a:r>
              <a:rPr lang="zh-CN" altLang="en-US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。</a:t>
            </a:r>
            <a:endParaRPr lang="zh-CN" altLang="en-US" b="0" i="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marL="0" algn="l">
              <a:lnSpc>
                <a:spcPct val="120000"/>
              </a:lnSpc>
              <a:buClrTx/>
              <a:buSzTx/>
              <a:buFontTx/>
            </a:pPr>
            <a:r>
              <a:rPr lang="zh-CN" altLang="en-US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运行时间计算</a:t>
            </a:r>
            <a:r>
              <a:rPr lang="zh-CN" altLang="en-US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：运行时间基于</a:t>
            </a:r>
            <a:r>
              <a:rPr lang="en-US" altLang="zh-CN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GEMM</a:t>
            </a:r>
            <a:r>
              <a:rPr lang="zh-CN" altLang="en-US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操作数量（</a:t>
            </a:r>
            <a:r>
              <a:rPr lang="en-US" altLang="zh-CN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2 </a:t>
            </a:r>
            <a:r>
              <a:rPr lang="en-US" altLang="en-US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×</a:t>
            </a:r>
            <a:r>
              <a:rPr lang="en-US" altLang="zh-CN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M </a:t>
            </a:r>
            <a:r>
              <a:rPr lang="en-US" altLang="en-US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×</a:t>
            </a:r>
            <a:r>
              <a:rPr lang="en-US" altLang="zh-CN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N </a:t>
            </a:r>
            <a:r>
              <a:rPr lang="en-US" altLang="en-US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×</a:t>
            </a:r>
            <a:r>
              <a:rPr lang="en-US" altLang="zh-CN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K</a:t>
            </a:r>
            <a:r>
              <a:rPr lang="zh-CN" altLang="en-US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）除以性能（</a:t>
            </a:r>
            <a:r>
              <a:rPr lang="en-US" altLang="zh-CN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GFLOPS</a:t>
            </a:r>
            <a:r>
              <a:rPr lang="zh-CN" altLang="en-US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）计算。对于</a:t>
            </a:r>
            <a:r>
              <a:rPr lang="en-US" altLang="zh-CN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[4096,4096,4096]</a:t>
            </a:r>
            <a:r>
              <a:rPr lang="zh-CN" altLang="en-US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，操作数量为</a:t>
            </a:r>
            <a:r>
              <a:rPr lang="en-US" altLang="zh-CN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2 </a:t>
            </a:r>
            <a:r>
              <a:rPr lang="en-US" altLang="en-US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×</a:t>
            </a:r>
            <a:r>
              <a:rPr lang="en-US" altLang="zh-CN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4096</a:t>
            </a:r>
            <a:r>
              <a:rPr lang="en-US" altLang="en-US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³</a:t>
            </a:r>
            <a:r>
              <a:rPr lang="en-US" altLang="zh-CN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= 137,438,953,472 FLOP</a:t>
            </a:r>
            <a:r>
              <a:rPr lang="zh-CN" altLang="en-US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。</a:t>
            </a:r>
            <a:endParaRPr lang="en-US" altLang="zh-CN" b="0" i="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marL="0" algn="l">
              <a:lnSpc>
                <a:spcPct val="120000"/>
              </a:lnSpc>
              <a:buClrTx/>
              <a:buSzTx/>
              <a:buFontTx/>
            </a:pPr>
            <a:r>
              <a:rPr lang="zh-CN" altLang="en-US" b="0" i="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因此，</a:t>
            </a:r>
            <a:r>
              <a:rPr lang="en-US" altLang="zh-CN" b="0" i="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[4096,4096,4096]</a:t>
            </a:r>
            <a:r>
              <a:rPr lang="zh-CN" altLang="en-US" b="0" i="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的推理结果如下：</a:t>
            </a:r>
            <a:endParaRPr lang="zh-CN" altLang="en-US" b="0" i="0"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</a:endParaRPr>
          </a:p>
          <a:p>
            <a:pPr marL="0" algn="l">
              <a:lnSpc>
                <a:spcPct val="120000"/>
              </a:lnSpc>
              <a:buClrTx/>
              <a:buSzTx/>
              <a:buFontTx/>
            </a:pPr>
            <a:r>
              <a:rPr lang="zh-CN" altLang="en-US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执行时间</a:t>
            </a:r>
            <a:r>
              <a:rPr lang="zh-CN" altLang="en-US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：约</a:t>
            </a:r>
            <a:r>
              <a:rPr lang="en-US" altLang="zh-CN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33,680</a:t>
            </a:r>
            <a:r>
              <a:rPr lang="zh-CN" altLang="en-US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秒</a:t>
            </a:r>
            <a:endParaRPr lang="zh-CN" altLang="en-US" b="0" i="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marL="0" algn="l">
              <a:lnSpc>
                <a:spcPct val="120000"/>
              </a:lnSpc>
              <a:buClrTx/>
              <a:buSzTx/>
              <a:buFontTx/>
            </a:pPr>
            <a:r>
              <a:rPr lang="zh-CN" altLang="en-US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性能</a:t>
            </a:r>
            <a:r>
              <a:rPr lang="zh-CN" altLang="en-US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：约</a:t>
            </a:r>
            <a:r>
              <a:rPr lang="en-US" altLang="zh-CN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0.00408 GFLOPS</a:t>
            </a:r>
            <a:endParaRPr lang="en-US" altLang="zh-CN" b="0" i="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marL="0" algn="l">
              <a:lnSpc>
                <a:spcPct val="120000"/>
              </a:lnSpc>
              <a:buClrTx/>
              <a:buSzTx/>
              <a:buFontTx/>
            </a:pPr>
            <a:r>
              <a:rPr lang="zh-CN" altLang="en-US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峰值百分比</a:t>
            </a:r>
            <a:r>
              <a:rPr lang="zh-CN" altLang="en-US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：约</a:t>
            </a:r>
            <a:r>
              <a:rPr lang="en-US" altLang="zh-CN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0.12%</a:t>
            </a:r>
            <a:endParaRPr lang="en-US" altLang="zh-CN" b="0" i="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理论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性能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6" name="文本框 5"/>
          <p:cNvSpPr txBox="1"/>
          <p:nvPr/>
        </p:nvSpPr>
        <p:spPr>
          <a:xfrm>
            <a:off x="1148080" y="1725295"/>
            <a:ext cx="12192000" cy="42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2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Spike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仿真：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29455" y="2305050"/>
            <a:ext cx="5509895" cy="395287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理论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性能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6" name="文本框 5"/>
          <p:cNvSpPr txBox="1"/>
          <p:nvPr/>
        </p:nvSpPr>
        <p:spPr>
          <a:xfrm>
            <a:off x="1148080" y="1725295"/>
            <a:ext cx="12192000" cy="42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2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RTLsim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仿真：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84855" y="1795145"/>
            <a:ext cx="6714490" cy="471551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理论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性能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6" name="文本框 5"/>
          <p:cNvSpPr txBox="1"/>
          <p:nvPr/>
        </p:nvSpPr>
        <p:spPr>
          <a:xfrm>
            <a:off x="85725" y="1845945"/>
            <a:ext cx="12192000" cy="37445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20000"/>
              </a:lnSpc>
            </a:pP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仿真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结果：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1. cyclesim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仿真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2.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每周期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flops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FP32 = 4B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yte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2MNK =2M^3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MN+MK+NK=3M^2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CPU:10-100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GPU:100-300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92450" y="1348740"/>
            <a:ext cx="5883910" cy="323469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92450" y="4583430"/>
            <a:ext cx="6239510" cy="1362075"/>
          </a:xfrm>
          <a:prstGeom prst="rect">
            <a:avLst/>
          </a:prstGeom>
        </p:spPr>
        <p:txBody>
          <a:bodyPr>
            <a:no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6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（推算）</a:t>
            </a:r>
            <a:endParaRPr lang="en-US" sz="1600" b="0" i="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sz="16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512*512               146.0                 0.00184              0.05</a:t>
            </a:r>
            <a:r>
              <a:rPr lang="en-US" sz="16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% </a:t>
            </a:r>
            <a:endParaRPr lang="en-US" sz="1600" b="0" i="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sz="16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1024*1024           895.5                 0.00240              0.07</a:t>
            </a:r>
            <a:r>
              <a:rPr 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%</a:t>
            </a:r>
            <a:endParaRPr lang="en-US" sz="1600" b="0" i="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sz="16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2048*2048           5486                  0.00313              0.09</a:t>
            </a:r>
            <a:r>
              <a:rPr 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%</a:t>
            </a:r>
            <a:endParaRPr lang="en-US" sz="1600" b="0" i="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sz="16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4096*4096           33680                0.00408              0.12</a:t>
            </a:r>
            <a:r>
              <a:rPr 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%</a:t>
            </a:r>
            <a:endParaRPr lang="en-US" sz="1600" b="0" i="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大规模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GEMM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运算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12" name="文本框 11"/>
          <p:cNvSpPr txBox="1"/>
          <p:nvPr/>
        </p:nvSpPr>
        <p:spPr>
          <a:xfrm>
            <a:off x="6685915" y="3843020"/>
            <a:ext cx="5080000" cy="1938020"/>
          </a:xfrm>
          <a:prstGeom prst="rect">
            <a:avLst/>
          </a:prstGeom>
        </p:spPr>
        <p:txBody>
          <a:bodyPr>
            <a:spAutoFit/>
          </a:bodyPr>
          <a:p>
            <a:pPr indent="0" fontAlgn="auto" latinLnBrk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>
                <a:solidFill>
                  <a:schemeClr val="tx1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4096×4096×4096 GEMM</a:t>
            </a:r>
            <a:r>
              <a:rPr lang="zh-CN" altLang="en-US" sz="1600" b="0">
                <a:solidFill>
                  <a:schemeClr val="tx1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理论估算：
总运算量</a:t>
            </a:r>
            <a:r>
              <a:rPr lang="en-US" altLang="zh-CN" sz="1600" b="0">
                <a:solidFill>
                  <a:schemeClr val="tx1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: 137,438,953,472 </a:t>
            </a:r>
            <a:r>
              <a:rPr lang="zh-CN" altLang="en-US" sz="1600" b="0">
                <a:solidFill>
                  <a:schemeClr val="tx1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次浮点运算
理论执行时间</a:t>
            </a:r>
            <a:r>
              <a:rPr lang="en-US" altLang="zh-CN" sz="1600" b="0">
                <a:solidFill>
                  <a:schemeClr val="tx1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: ~429</a:t>
            </a:r>
            <a:r>
              <a:rPr lang="zh-CN" altLang="en-US" sz="1600" b="0">
                <a:solidFill>
                  <a:schemeClr val="tx1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秒 </a:t>
            </a:r>
            <a:r>
              <a:rPr lang="en-US" altLang="zh-CN" sz="1600" b="0">
                <a:solidFill>
                  <a:schemeClr val="tx1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(7.15</a:t>
            </a:r>
            <a:r>
              <a:rPr lang="zh-CN" altLang="en-US" sz="1600" b="0">
                <a:solidFill>
                  <a:schemeClr val="tx1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分钟</a:t>
            </a:r>
            <a:r>
              <a:rPr lang="en-US" altLang="zh-CN" sz="1600" b="0">
                <a:solidFill>
                  <a:schemeClr val="tx1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)
</a:t>
            </a:r>
            <a:r>
              <a:rPr lang="zh-CN" altLang="en-US" sz="1600" b="0">
                <a:solidFill>
                  <a:schemeClr val="tx1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预期性能</a:t>
            </a:r>
            <a:r>
              <a:rPr lang="en-US" altLang="zh-CN" sz="1600" b="0">
                <a:solidFill>
                  <a:schemeClr val="tx1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: ~0.32 GFlops (</a:t>
            </a:r>
            <a:r>
              <a:rPr lang="zh-CN" altLang="en-US" sz="1600" b="0">
                <a:solidFill>
                  <a:schemeClr val="tx1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考虑内存带宽限制</a:t>
            </a:r>
            <a:r>
              <a:rPr lang="en-US" altLang="zh-CN" sz="1600" b="0">
                <a:solidFill>
                  <a:schemeClr val="tx1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)
</a:t>
            </a:r>
            <a:r>
              <a:rPr lang="zh-CN" altLang="en-US" sz="1600" b="0">
                <a:solidFill>
                  <a:schemeClr val="tx1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预期效率</a:t>
            </a:r>
            <a:r>
              <a:rPr lang="en-US" altLang="zh-CN" sz="1600" b="0">
                <a:solidFill>
                  <a:schemeClr val="tx1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: ~10%</a:t>
            </a:r>
            <a:endParaRPr lang="en-US" altLang="zh-CN" sz="1600" b="0">
              <a:solidFill>
                <a:schemeClr val="tx1"/>
              </a:solidFill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28280" y="1174115"/>
            <a:ext cx="3937635" cy="230695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 latinLnBrk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>
                <a:solidFill>
                  <a:schemeClr val="tx1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基于</a:t>
            </a:r>
            <a:r>
              <a:rPr lang="en-US" altLang="zh-CN" sz="1600" b="0">
                <a:solidFill>
                  <a:schemeClr val="tx1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Ventus</a:t>
            </a:r>
            <a:r>
              <a:rPr lang="zh-CN" altLang="en-US" sz="1600" b="0">
                <a:solidFill>
                  <a:schemeClr val="tx1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硬件规格：
流多处理器</a:t>
            </a:r>
            <a:r>
              <a:rPr lang="en-US" altLang="zh-CN" sz="1600" b="0">
                <a:solidFill>
                  <a:schemeClr val="tx1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: 2</a:t>
            </a:r>
            <a:r>
              <a:rPr lang="zh-CN" altLang="en-US" sz="1600" b="0">
                <a:solidFill>
                  <a:schemeClr val="tx1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个
每</a:t>
            </a:r>
            <a:r>
              <a:rPr lang="en-US" altLang="zh-CN" sz="1600" b="0">
                <a:solidFill>
                  <a:schemeClr val="tx1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SM warp</a:t>
            </a:r>
            <a:r>
              <a:rPr lang="zh-CN" altLang="en-US" sz="1600" b="0">
                <a:solidFill>
                  <a:schemeClr val="tx1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数</a:t>
            </a:r>
            <a:r>
              <a:rPr lang="en-US" altLang="zh-CN" sz="1600" b="0">
                <a:solidFill>
                  <a:schemeClr val="tx1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: 4</a:t>
            </a:r>
            <a:r>
              <a:rPr lang="zh-CN" altLang="en-US" sz="1600" b="0">
                <a:solidFill>
                  <a:schemeClr val="tx1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个
每</a:t>
            </a:r>
            <a:r>
              <a:rPr lang="en-US" altLang="zh-CN" sz="1600" b="0">
                <a:solidFill>
                  <a:schemeClr val="tx1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warp lane</a:t>
            </a:r>
            <a:r>
              <a:rPr lang="zh-CN" altLang="en-US" sz="1600" b="0">
                <a:solidFill>
                  <a:schemeClr val="tx1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数</a:t>
            </a:r>
            <a:r>
              <a:rPr lang="en-US" altLang="zh-CN" sz="1600" b="0">
                <a:solidFill>
                  <a:schemeClr val="tx1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: 8</a:t>
            </a:r>
            <a:r>
              <a:rPr lang="zh-CN" altLang="en-US" sz="1600" b="0">
                <a:solidFill>
                  <a:schemeClr val="tx1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个  
时钟频率</a:t>
            </a:r>
            <a:r>
              <a:rPr lang="en-US" altLang="zh-CN" sz="1600" b="0">
                <a:solidFill>
                  <a:schemeClr val="tx1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: 100MHz
</a:t>
            </a:r>
            <a:r>
              <a:rPr lang="zh-CN" altLang="en-US" sz="1600" b="0">
                <a:solidFill>
                  <a:schemeClr val="tx1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实测峰值</a:t>
            </a:r>
            <a:r>
              <a:rPr lang="en-US" altLang="zh-CN" sz="1600" b="0">
                <a:solidFill>
                  <a:schemeClr val="tx1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: 3.2 GFlops (25%</a:t>
            </a:r>
            <a:r>
              <a:rPr lang="zh-CN" altLang="en-US" sz="1600" b="0">
                <a:solidFill>
                  <a:schemeClr val="tx1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理论效率</a:t>
            </a:r>
            <a:r>
              <a:rPr lang="en-US" altLang="zh-CN" sz="1600" b="0">
                <a:solidFill>
                  <a:schemeClr val="tx1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)</a:t>
            </a:r>
            <a:endParaRPr lang="en-US" altLang="zh-CN" sz="1600" b="0">
              <a:solidFill>
                <a:schemeClr val="tx1"/>
              </a:solidFill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</a:endParaRPr>
          </a:p>
        </p:txBody>
      </p:sp>
      <p:graphicFrame>
        <p:nvGraphicFramePr>
          <p:cNvPr id="14" name="表格 13"/>
          <p:cNvGraphicFramePr/>
          <p:nvPr/>
        </p:nvGraphicFramePr>
        <p:xfrm>
          <a:off x="476250" y="1576070"/>
          <a:ext cx="715962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3845"/>
                <a:gridCol w="1068070"/>
                <a:gridCol w="1696720"/>
                <a:gridCol w="1106170"/>
                <a:gridCol w="173482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0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  <a:sym typeface="+mn-ea"/>
                        </a:rPr>
                        <a:t>矩阵大小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0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  <a:sym typeface="+mn-ea"/>
                        </a:rPr>
                        <a:t>状态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0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  <a:sym typeface="+mn-ea"/>
                        </a:rPr>
                        <a:t>性能</a:t>
                      </a:r>
                      <a:r>
                        <a:rPr lang="en-US" altLang="zh-CN" sz="1800" b="0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  <a:sym typeface="+mn-ea"/>
                        </a:rPr>
                        <a:t>(GFlops)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0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  <a:sym typeface="+mn-ea"/>
                        </a:rPr>
                        <a:t>效率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0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  <a:sym typeface="+mn-ea"/>
                        </a:rPr>
                        <a:t>执行时间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  <a:sym typeface="+mn-ea"/>
                        </a:rPr>
                        <a:t>64×64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  <a:sym typeface="+mn-ea"/>
                        </a:rPr>
                        <a:t>成功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  <a:sym typeface="+mn-ea"/>
                        </a:rPr>
                        <a:t>0.001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  <a:sym typeface="+mn-ea"/>
                        </a:rPr>
                        <a:t>0.02%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  <a:sym typeface="+mn-ea"/>
                        </a:rPr>
                        <a:t>1.024s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  <a:sym typeface="+mn-ea"/>
                        </a:rPr>
                        <a:t>128×128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  <a:sym typeface="+mn-ea"/>
                        </a:rPr>
                        <a:t>成功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  <a:sym typeface="+mn-ea"/>
                        </a:rPr>
                        <a:t>0.001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  <a:sym typeface="+mn-ea"/>
                        </a:rPr>
                        <a:t>0.03%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  <a:sym typeface="+mn-ea"/>
                        </a:rPr>
                        <a:t>3.860s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  <a:sym typeface="+mn-ea"/>
                        </a:rPr>
                        <a:t>256×256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  <a:sym typeface="+mn-ea"/>
                        </a:rPr>
                        <a:t>成功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  <a:sym typeface="+mn-ea"/>
                        </a:rPr>
                        <a:t>0.001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  <a:sym typeface="+mn-ea"/>
                        </a:rPr>
                        <a:t>0.03%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  <a:sym typeface="+mn-ea"/>
                        </a:rPr>
                        <a:t>35.215s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  <a:sym typeface="+mn-ea"/>
                        </a:rPr>
                        <a:t>512×512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  <a:sym typeface="+mn-ea"/>
                        </a:rPr>
                        <a:t>失败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10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大规模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GEMM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运算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5305" y="2447925"/>
            <a:ext cx="5561330" cy="37147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52210" y="2842260"/>
            <a:ext cx="5719445" cy="3320415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大规模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GEMM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运算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6" name="文本框 5"/>
          <p:cNvSpPr txBox="1"/>
          <p:nvPr/>
        </p:nvSpPr>
        <p:spPr>
          <a:xfrm>
            <a:off x="10160" y="909955"/>
            <a:ext cx="12192000" cy="74650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fontAlgn="auto">
              <a:lnSpc>
                <a:spcPct val="120000"/>
              </a:lnSpc>
              <a:buClrTx/>
              <a:buSzTx/>
              <a:buFontTx/>
            </a:pPr>
            <a:r>
              <a:rPr lang="zh-CN" altLang="en-US" sz="16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平台/设备已找到并初始化</a:t>
            </a:r>
            <a:endParaRPr lang="zh-CN" altLang="en-US" sz="1600"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设备全局内存：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1.00 GB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，最大分配：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0.49 GB </a:t>
            </a:r>
            <a:r>
              <a:rPr lang="en-US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→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足以支持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4096</a:t>
            </a:r>
            <a:r>
              <a:rPr lang="en-US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³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（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A+B+C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总计约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192 MiB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）。</a:t>
            </a:r>
            <a:endParaRPr lang="zh-CN" altLang="en-US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最大工作组大小：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256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以及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最大工作项大小：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[256,256,256] </a:t>
            </a:r>
            <a:r>
              <a:rPr lang="en-US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→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我们的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本地大小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16</a:t>
            </a:r>
            <a:r>
              <a:rPr lang="en-US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×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16=256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是允许的最大值。</a:t>
            </a:r>
            <a:endParaRPr lang="zh-CN" altLang="en-US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编译器标志：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CL2.0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，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-cl-fast-relaxed-math -cl-mad-enable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，目标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riscv32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，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CPU ventus-gpgpu</a:t>
            </a:r>
            <a:endParaRPr lang="zh-CN" altLang="en-US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algn="l" fontAlgn="auto">
              <a:lnSpc>
                <a:spcPct val="120000"/>
              </a:lnSpc>
              <a:buClrTx/>
              <a:buSzTx/>
              <a:buFontTx/>
            </a:pPr>
            <a:r>
              <a:rPr lang="zh-CN" altLang="en-US" sz="16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工作网格与内核匹配</a:t>
            </a:r>
            <a:endParaRPr lang="zh-CN" altLang="en-US" sz="1600"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kernelx:16,kernely:16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和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numwg:256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（对于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256</a:t>
            </a:r>
            <a:r>
              <a:rPr lang="en-US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×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256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且使用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16</a:t>
            </a:r>
            <a:r>
              <a:rPr lang="en-US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×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16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tile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，会得到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16</a:t>
            </a:r>
            <a:r>
              <a:rPr lang="en-US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×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16=256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个工作组）。本地内存：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ldssize:0x1000 =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每个工作组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4 KiB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。我们的tile内核使用两个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16</a:t>
            </a:r>
            <a:r>
              <a:rPr lang="en-US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×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16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tile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= 2</a:t>
            </a:r>
            <a:r>
              <a:rPr lang="en-US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×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256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个浮点数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</a:t>
            </a:r>
            <a:r>
              <a:rPr lang="en-US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×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4B = 2048 B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，远低于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4 KiB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。（这也解释了为什么不能将tile大小提升到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32</a:t>
            </a:r>
            <a:r>
              <a:rPr lang="en-US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×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32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：那样会是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8192 B &gt; 4 KiB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。）</a:t>
            </a:r>
            <a:endParaRPr lang="zh-CN" altLang="en-US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16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为什么</a:t>
            </a:r>
            <a:r>
              <a:rPr lang="en-US" altLang="zh-CN" sz="16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 GFLOPS </a:t>
            </a:r>
            <a:r>
              <a:rPr lang="zh-CN" altLang="en-US" sz="16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数值看起来很小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在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Spike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上运行时启用了提交日志（命令行中的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-l --log-commits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）。这会让模拟器运行极其缓慢。</a:t>
            </a:r>
            <a:endParaRPr lang="zh-CN" altLang="en-US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数值：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256</a:t>
            </a:r>
            <a:r>
              <a:rPr lang="en-US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³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的运算量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=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（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2MNK = 33,554,432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）。基准测试：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30.63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秒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</a:t>
            </a:r>
            <a:r>
              <a:rPr lang="en-US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→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约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0.0011 GFLOPS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。tile化：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16.66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秒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</a:t>
            </a:r>
            <a:r>
              <a:rPr lang="en-US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→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约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0.0020 GFLOPS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，提速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1.84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倍（很好：即使在模拟中，tile化也有帮助）。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16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扩展到 4096×4096×4096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时间随（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O(n</a:t>
            </a:r>
            <a:r>
              <a:rPr lang="en-US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³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)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）扩展。从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256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到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4096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是（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16</a:t>
            </a:r>
            <a:r>
              <a:rPr lang="en-US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³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= 4096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倍）。</a:t>
            </a:r>
            <a:endParaRPr lang="zh-CN" altLang="en-US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你的tile化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256</a:t>
            </a:r>
            <a:r>
              <a:rPr lang="en-US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³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时间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16.66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秒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</a:t>
            </a:r>
            <a:r>
              <a:rPr lang="en-US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×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4096 ≈ 68,300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秒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≈ 19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小时。</a:t>
            </a:r>
            <a:endParaRPr lang="zh-CN" altLang="en-US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因此，以这种方式运行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4096</a:t>
            </a:r>
            <a:r>
              <a:rPr lang="en-US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³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是不切实际的。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algn="l" fontAlgn="auto">
              <a:lnSpc>
                <a:spcPct val="120000"/>
              </a:lnSpc>
              <a:buClrTx/>
              <a:buSzTx/>
              <a:buFontTx/>
            </a:pPr>
            <a:r>
              <a:rPr lang="zh-CN" altLang="en-US" sz="16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下一步操作（使 4096³ 可行）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1.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关闭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Spike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日志和额外输出（可大幅提升速度）：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export VENTUS_DEBUG=0			export VENTUS_SILENT=1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2.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对于大尺寸，仅运行tile化内核，以减少一半的编译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/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启动开销。在切换到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4096</a:t>
            </a:r>
            <a:r>
              <a:rPr lang="en-US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³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时，可在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main.c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中注释掉基准测试调用。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3. 4096</a:t>
            </a:r>
            <a:r>
              <a:rPr lang="en-US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³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的内存检查：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A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：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4096</a:t>
            </a:r>
            <a:r>
              <a:rPr lang="en-US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×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4096</a:t>
            </a:r>
            <a:r>
              <a:rPr lang="en-US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×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4B = 64 MiB		B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：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64 MiB		C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：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64 MiB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总计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≈ 192 MiB &lt;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最大分配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0.49 GB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且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&lt;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全局内存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1 GB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。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algn="l" fontAlgn="auto">
              <a:lnSpc>
                <a:spcPct val="120000"/>
              </a:lnSpc>
              <a:buClrTx/>
              <a:buSzTx/>
              <a:buFontTx/>
            </a:pPr>
            <a:r>
              <a:rPr lang="zh-CN" altLang="en-US" sz="16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禁用日志后的快速合理性目标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256</a:t>
            </a:r>
            <a:r>
              <a:rPr lang="en-US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³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应远快于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16.7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秒。仍应看到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Result: OK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。驱动程序打印的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Spike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命令不应包含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--log-commits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。</a:t>
            </a:r>
            <a:endParaRPr lang="zh-CN" altLang="en-US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大规模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GEMM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运算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6" name="文本框 5"/>
          <p:cNvSpPr txBox="1"/>
          <p:nvPr/>
        </p:nvSpPr>
        <p:spPr>
          <a:xfrm>
            <a:off x="10160" y="1176655"/>
            <a:ext cx="12192000" cy="116011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RTLsim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仿真结果：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vaddr=0x90001000, size=0x40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vaddr=0x90fff000, size=0x1000000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vaddr=0x90000000, size=0x10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vt_copy_from_dev: dev_addr=0x9000b000, size=0x4000, taskID=0, kernelID=0 [ventus.cpp:219]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highlight>
                  <a:srgbClr val="FFFF00"/>
                </a:highlight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Time: 8918.157654 s</a:t>
            </a:r>
            <a:endParaRPr lang="en-US" altLang="zh-CN" sz="1600">
              <a:highlight>
                <a:srgbClr val="FFFF00"/>
              </a:highlight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Performance: 0.000000 GFLOPS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Theoretical peak percentage: 0.0000%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Verification: expected=128.0, actual=128.0, error=0.000000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vaddr=0x90003000, size=0x4000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vaddr=0x90007000, size=0x4000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vaddr=0x9000b000, size=0x4000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=== Testing gemm_tiled_fixed with N=64 ===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### options: -DPOCL_DEVICE_ADDRESS_BITS=32 -D__USE_CLANG_OPENCL_C_H -xcl -Dinline= -I. -cl-kernel-arg-info -D GEMM_TILED -D TILE=16 -D__ENDIAN_LITTLE__=1 -DCL_DEVICE_MAX_GLOBAL_VARIABLE_SIZE=0 -D__OPENCL_VERSION__=200 -cl-std=CL2.0 -D__OPENCL_C_VERSION__=200 -Dcl_khr_fp64=1 -D__opencl_c_generic_address_space=1 -D__opencl_c_named_address_space_builtins=1 -cl-ext=-all,+cl_khr_fp64,+__opencl_c_generic_address_space,+__opencl_c_named_address_space_builtins -fno-builtin -triple=riscv32 -target-cpu ventus-gpgpu user_options: -D GEMM_TILED -D TILE=16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### Triple: riscv32, CPU: ventus-gpgpu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[2025-11-08 17:27:29.062] [info] [pocl_ventus.cc:1509] running compiler "/home/corcoreting/ventus-env/install/bin/clang -cl-std=CL2.0 -target riscv32 -mcpu=ventus-gpgpu object0.cl   -o object0.riscv -nodefaultlibs -Wl,/home/corcoreting/ventus-env/install/lib/crt0.o -Wl,/home/corcoreting/ventus-env/install/lib/riscv32clc.o -Wl,--gc-sections -L/home/corcoreting/ventus-env/install/lib -lworkitem -I/home/corcoreting/ventus-env/installinclude/clc -O1 -Wl,-T,/home/corcoreting/ventus-env/install/lib/ldscripts/ventus/elf32lriscv.ld -Wl,--init=gemm_naive  -w  -D__opencl_c_generic_address_space=1 -D__opencl_c_named_address_space_builtins=1  -D__OPENCL_VERSION__=200 -D GEMM_TILED -D TILE=16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"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vt_buf_alloc: vaddr_recommand=0x7fff6feb9bf8, vaddr_allocated=0x90003000, size=0x4000, taskID=0 [ventus.cpp:137]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vt_copy_to_dev: dev_addr=0x90003000, size=0x4000, taskID=0, kernelID=0 [ventus.cpp:205]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vt_buf_alloc: vaddr_recommand=0x79a2d6982a90, vaddr_allocated=0x90007000, size=0x4000, taskID=0 [ventus.cpp:137]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vt_copy_to_dev: dev_addr=0x90007000, size=0x4000, taskID=0, kernelID=0 [ventus.cpp:205]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Work configuration: global(64,64), local(16,16)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vt_buf_alloc: vaddr_recommand=0x3c3ce889f02e0300, vaddr_allocated=0x9000b000, size=0x4000, taskID=0 [ventus.cpp:137]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vt_buf_alloc: vaddr_recommand=0x0, vaddr_allocated=0x90000000, size=0x10, taskID=0 [ventus.cpp:137]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vt_copy_to_dev: dev_addr=0x90000000, size=0x10, taskID=0, kernelID=0 [ventus.cpp:205]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vt_upload_kernel_file object0.riscv: vaddr=0x80000000, size=0xd58 [ventus.cpp:296]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vt_upload_kernel_file object0.riscv: vaddr=0x80001000, size=0x1000 [ventus.cpp:296]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vt_upload_kernel_file object0.riscv: vaddr=0x80002000, size=0x18 [ventus.cpp:296]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vt_upload_kernel_file object0.riscv: vaddr=0x80003000, size=0x20 [ventus.cpp:296]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vt_buf_alloc: vaddr_recommand=0x7fff00000008, vaddr_allocated=0x90fff000, size=0x1000000, taskID=0 [ventus.cpp:137]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vt_buf_alloc: vaddr_recommand=0x7fff6feb8ee0, vaddr_allocated=0x90001000, size=0x40, taskID=0 [ventus.cpp:137]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vt_copy_to_dev: dev_addr=0x90001000, size=0x40, taskID=0, kernelID=0 [ventus.cpp:205]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kernel metadata: kernel_id=0, kernel_size=[4, 4, 1], wf_size=32, wg_size=8, metaDataBaseAddr=0x90001000, ldsSize=0x1000, pdsSize=0x1000, sgprUsage=64, vgprUsage=64, pdsBaseAddr=0x90fff000 [ventus.cpp:248]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debug]@1000030000 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debug]@1000040000 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debug]@1000050000 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vaddr=0x90001000, size=0x40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vaddr=0x90fff000, size=0x1000000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vaddr=0x90000000, size=0x10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vt_copy_from_dev: dev_addr=0x9000b000, size=0x4000, taskID=0, kernelID=0 [ventus.cpp:219]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Time: 1.040661 s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Performance: 0.000504 GFLOPS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Theoretical peak percentage: 0.0101%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Verification: expected=128.0, actual=128.0, error=0.000000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vaddr=0x90003000, size=0x4000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vaddr=0x90007000, size=0x4000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vaddr=0x9000b000, size=0x4000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=== Testing gemm_vectorized with N=64 ===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### options: -DPOCL_DEVICE_ADDRESS_BITS=32 -D__USE_CLANG_OPENCL_C_H -xcl -Dinline= -I. -cl-kernel-arg-info -D GEMM_TILED -D TILE=16 -D__ENDIAN_LITTLE__=1 -DCL_DEVICE_MAX_GLOBAL_VARIABLE_SIZE=0 -D__OPENCL_VERSION__=200 -cl-std=CL2.0 -D__OPENCL_C_VERSION__=200 -Dcl_khr_fp64=1 -D__opencl_c_generic_address_space=1 -D__opencl_c_named_address_space_builtins=1 -cl-ext=-all,+cl_khr_fp64,+__opencl_c_generic_address_space,+__opencl_c_named_address_space_builtins -fno-builtin -triple=riscv32 -target-cpu ventus-gpgpu user_options: -D GEMM_TILED -D TILE=16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### Triple: riscv32, CPU: ventus-gpgpu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[2025-11-08 17:27:30.263] [info] [pocl_ventus.cc:1509] running compiler "/home/corcoreting/ventus-env/install/bin/clang -cl-std=CL2.0 -target riscv32 -mcpu=ventus-gpgpu object0.cl   -o object0.riscv -nodefaultlibs -Wl,/home/corcoreting/ventus-env/install/lib/crt0.o -Wl,/home/corcoreting/ventus-env/install/lib/riscv32clc.o -Wl,--gc-sections -L/home/corcoreting/ventus-env/install/lib -lworkitem -I/home/corcoreting/ventus-env/installinclude/clc -O1 -Wl,-T,/home/corcoreting/ventus-env/install/lib/ldscripts/ventus/elf32lriscv.ld -Wl,--init=gemm_naive  -w  -D__opencl_c_generic_address_space=1 -D__opencl_c_named_address_space_builtins=1  -D__OPENCL_VERSION__=200 -D GEMM_TILED -D TILE=16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"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vt_buf_alloc: vaddr_recommand=0x7fff6feb9bf8, vaddr_allocated=0x90003000, size=0x4000, taskID=0 [ventus.cpp:137]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vt_copy_to_dev: dev_addr=0x90003000, size=0x4000, taskID=0, kernelID=0 [ventus.cpp:205]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vt_buf_alloc: vaddr_recommand=0x79a2d6982a90, vaddr_allocated=0x90007000, size=0x4000, taskID=0 [ventus.cpp:137]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vt_copy_to_dev: dev_addr=0x90007000, size=0x4000, taskID=0, kernelID=0 [ventus.cpp:205]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Work configuration: global(64,64), local(8,8)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vt_buf_alloc: vaddr_recommand=0x3c3ce889f02e0300, vaddr_allocated=0x9000b000, size=0x4000, taskID=0 [ventus.cpp:137]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vt_buf_alloc: vaddr_recommand=0x0, vaddr_allocated=0x90000000, size=0x10, taskID=0 [ventus.cpp:137]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vt_copy_to_dev: dev_addr=0x90000000, size=0x10, taskID=0, kernelID=0 [ventus.cpp:205]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vt_upload_kernel_file object0.riscv: vaddr=0x80000000, size=0xd58 [ventus.cpp:296]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vt_upload_kernel_file object0.riscv: vaddr=0x80001000, size=0x1000 [ventus.cpp:296]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vt_upload_kernel_file object0.riscv: vaddr=0x80002000, size=0x18 [ventus.cpp:296]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vt_upload_kernel_file object0.riscv: vaddr=0x80003000, size=0x20 [ventus.cpp:296]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vt_buf_alloc: vaddr_recommand=0x7fff00000008, vaddr_allocated=0x90fff000, size=0x1000000, taskID=0 [ventus.cpp:137]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vt_buf_alloc: vaddr_recommand=0x7fff6feb8ee0, vaddr_allocated=0x90001000, size=0x40, taskID=0 [ventus.cpp:137]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vt_copy_to_dev: dev_addr=0x90001000, size=0x40, taskID=0, kernelID=0 [ventus.cpp:205]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kernel metadata: kernel_id=0, kernel_size=[8, 8, 1], wf_size=32, wg_size=2, metaDataBaseAddr=0x90001000, ldsSize=0x1000, pdsSize=0x1000, sgprUsage=64, vgprUsage=64, pdsBaseAddr=0x90fff000 [ventus.cpp:248]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debug]@1000060000 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debug]@1000070000 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vaddr=0x90001000, size=0x40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vaddr=0x90fff000, size=0x1000000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vaddr=0x90000000, size=0x10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vt_copy_from_dev: dev_addr=0x9000b000, size=0x4000, taskID=0, kernelID=0 [ventus.cpp:219]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Time: 1.047683 s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Performance: 0.000500 GFLOPS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Theoretical peak percentage: 0.0100%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Verification: expected=128.0, actual=128.0, error=0.000000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vaddr=0x90003000, size=0x4000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vaddr=0x90007000, size=0x4000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vaddr=0x9000b000, size=0x4000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=== Testing gemm_naive with N=128 ===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### options: -DPOCL_DEVICE_ADDRESS_BITS=32 -D__USE_CLANG_OPENCL_C_H -xcl -Dinline= -I. -cl-kernel-arg-info -D GEMM_TILED -D TILE=16 -D__ENDIAN_LITTLE__=1 -DCL_DEVICE_MAX_GLOBAL_VARIABLE_SIZE=0 -D__OPENCL_VERSION__=200 -cl-std=CL2.0 -D__OPENCL_C_VERSION__=200 -Dcl_khr_fp64=1 -D__opencl_c_generic_address_space=1 -D__opencl_c_named_address_space_builtins=1 -cl-ext=-all,+cl_khr_fp64,+__opencl_c_generic_address_space,+__opencl_c_named_address_space_builtins -fno-builtin -triple=riscv32 -target-cpu ventus-gpgpu user_options: -D GEMM_TILED -D TILE=16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### Triple: riscv32, CPU: ventus-gpgpu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[2025-11-08 17:27:31.474] [info] [pocl_ventus.cc:1509] running compiler "/home/corcoreting/ventus-env/install/bin/clang -cl-std=CL2.0 -target riscv32 -mcpu=ventus-gpgpu object4.cl   -o object4.riscv -nodefaultlibs -Wl,/home/corcoreting/ventus-env/install/lib/crt0.o -Wl,/home/corcoreting/ventus-env/install/lib/riscv32clc.o -Wl,--gc-sections -L/home/corcoreting/ventus-env/install/lib -lworkitem -I/home/corcoreting/ventus-env/installinclude/clc -O1 -Wl,-T,/home/corcoreting/ventus-env/install/lib/ldscripts/ventus/elf32lriscv.ld -Wl,--init=gemm_naive  -w  -D__opencl_c_generic_address_space=1 -D__opencl_c_named_address_space_builtins=1  -D__OPENCL_VERSION__=200 -D GEMM_TILED -D TILE=16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"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vt_buf_alloc: vaddr_recommand=0x7fff6feb9bf8, vaddr_allocated=0x9000f000, size=0x10000, taskID=0 [ventus.cpp:137]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vt_copy_to_dev: dev_addr=0x9000f000, size=0x10000, taskID=0, kernelID=0 [ventus.cpp:205]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vt_buf_alloc: vaddr_recommand=0x79a2d6982a90, vaddr_allocated=0x9001f000, size=0x10000, taskID=0 [ventus.cpp:137]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vt_copy_to_dev: dev_addr=0x9001f000, size=0x10000, taskID=0, kernelID=0 [ventus.cpp:205]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Work configuration: global(128,128), local(8,8)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vt_buf_alloc: vaddr_recommand=0x3c3ce889f02e0300, vaddr_allocated=0x9002f000, size=0x10000, taskID=0 [ventus.cpp:137]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vt_buf_alloc: vaddr_recommand=0x0, vaddr_allocated=0x90000000, size=0x10, taskID=0 [ventus.cpp:137]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vt_copy_to_dev: dev_addr=0x90000000, size=0x10, taskID=0, kernelID=0 [ventus.cpp:205]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vt_upload_kernel_file object4.riscv: vaddr=0x80000000, size=0xd58 [ventus.cpp:296]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vt_upload_kernel_file object4.riscv: vaddr=0x80001000, size=0x1000 [ventus.cpp:296]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vt_upload_kernel_file object4.riscv: vaddr=0x80002000, size=0x18 [ventus.cpp:296]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vt_upload_kernel_file object4.riscv: vaddr=0x80003000, size=0x20 [ventus.cpp:296]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vt_buf_alloc: vaddr_recommand=0x7fff00000008, vaddr_allocated=0x93fff000, size=0x4000000, taskID=0 [ventus.cpp:137]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vt_buf_alloc: vaddr_recommand=0x7fff6feb8ee0, vaddr_allocated=0x90001000, size=0x40, taskID=0 [ventus.cpp:137]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vt_copy_to_dev: dev_addr=0x90001000, size=0x40, taskID=0, kernelID=0 [ventus.cpp:205]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kernel metadata: kernel_id=0, kernel_size=[16, 16, 1], wf_size=32, wg_size=2, metaDataBaseAddr=0x90001000, ldsSize=0x1000, pdsSize=0x1000, sgprUsage=64, vgprUsage=64, pdsBaseAddr=0x93fff000 [ventus.cpp:248]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debug]@1000080000 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debug]@1000090000 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debug]@1000100000 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vaddr=0x90001000, size=0x40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vaddr=0x93fff000, size=0x4000000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vaddr=0x90000000, size=0x10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vt_copy_from_dev: dev_addr=0x9002f000, size=0x10000, taskID=0, kernelID=0 [ventus.cpp:219]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error]@1000100000 PMEM page at 0x9003e000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error]@1000100000 PMEM page at 0x9003d000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error]@1000100000 PMEM page at 0x9003c000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error]@1000100000 PMEM page at 0x9003b000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error]@1000100000 PMEM page at 0x9003a000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error]@1000100000 PMEM page at 0x90039000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error]@1000100000 PMEM page at 0x90038000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error]@1000100000 PMEM page at 0x90037000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error]@1000100000 PMEM page at 0x90036000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error]@1000100000 PMEM page at 0x90035000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error]@1000100000 PMEM page at 0x90034000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error]@1000100000 PMEM page at 0x90033000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error]@1000100000 PMEM page at 0x90032000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error]@1000100000 PMEM page at 0x90031000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error]@1000100000 PMEM page at 0x90030000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error]@1000100000 PMEM page at 0x9002f000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Time: 1.052747 s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Performance: 0.003984 GFLOPS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Theoretical peak percentage: 0.0797%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Verification: expected=256.0, actual=0.0, error=256.000000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vaddr=0x9000f000, size=0x10000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vaddr=0x9001f000, size=0x10000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vaddr=0x9002f000, size=0x10000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=== Testing gemm_tiled with N=128 ===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### options: -DPOCL_DEVICE_ADDRESS_BITS=32 -D__USE_CLANG_OPENCL_C_H -xcl -Dinline= -I. -cl-kernel-arg-info -D GEMM_TILED -D TILE=16 -D__ENDIAN_LITTLE__=1 -DCL_DEVICE_MAX_GLOBAL_VARIABLE_SIZE=0 -D__OPENCL_VERSION__=200 -cl-std=CL2.0 -D__OPENCL_C_VERSION__=200 -Dcl_khr_fp64=1 -D__opencl_c_generic_address_space=1 -D__opencl_c_named_address_space_builtins=1 -cl-ext=-all,+cl_khr_fp64,+__opencl_c_generic_address_space,+__opencl_c_named_address_space_builtins -fno-builtin -triple=riscv32 -target-cpu ventus-gpgpu user_options: -D GEMM_TILED -D TILE=16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### Triple: riscv32, CPU: ventus-gpgpu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[2025-11-08 17:27:32.682] [info] [pocl_ventus.cc:1509] running compiler "/home/corcoreting/ventus-env/install/bin/clang -cl-std=CL2.0 -target riscv32 -mcpu=ventus-gpgpu object5.cl   -o object5.riscv -nodefaultlibs -Wl,/home/corcoreting/ventus-env/install/lib/crt0.o -Wl,/home/corcoreting/ventus-env/install/lib/riscv32clc.o -Wl,--gc-sections -L/home/corcoreting/ventus-env/install/lib -lworkitem -I/home/corcoreting/ventus-env/installinclude/clc -O1 -Wl,-T,/home/corcoreting/ventus-env/install/lib/ldscripts/ventus/elf32lriscv.ld -Wl,--init=gemm_naive  -w  -D__opencl_c_generic_address_space=1 -D__opencl_c_named_address_space_builtins=1  -D__OPENCL_VERSION__=200 -D GEMM_TILED -D TILE=16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"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vt_buf_alloc: vaddr_recommand=0x7fff6feb9bf8, vaddr_allocated=0x9000f000, size=0x10000, taskID=0 [ventus.cpp:137]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vt_copy_to_dev: dev_addr=0x9000f000, size=0x10000, taskID=0, kernelID=0 [ventus.cpp:205]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vt_buf_alloc: vaddr_recommand=0x79a2d6982a90, vaddr_allocated=0x9001f000, size=0x10000, taskID=0 [ventus.cpp:137]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vt_copy_to_dev: dev_addr=0x9001f000, size=0x10000, taskID=0, kernelID=0 [ventus.cpp:205]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Work configuration: global(128,128), local(16,16)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vt_buf_alloc: vaddr_recommand=0x3c3ce889f02e0300, vaddr_allocated=0x9002f000, size=0x10000, taskID=0 [ventus.cpp:137]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vt_buf_alloc: vaddr_recommand=0x0, vaddr_allocated=0x90000000, size=0x10, taskID=0 [ventus.cpp:137]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vt_copy_to_dev: dev_addr=0x90000000, size=0x10, taskID=0, kernelID=0 [ventus.cpp:205]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vt_upload_kernel_file object5.riscv: vaddr=0x80000000, size=0xd58 [ventus.cpp:296]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vt_upload_kernel_file object5.riscv: vaddr=0x80001000, size=0x1000 [ventus.cpp:296]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vt_upload_kernel_file object5.riscv: vaddr=0x80002000, size=0x18 [ventus.cpp:296]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vt_upload_kernel_file object5.riscv: vaddr=0x80003000, size=0x20 [ventus.cpp:296]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vt_buf_alloc: vaddr_recommand=0x7fff00000008, vaddr_allocated=0x93fff000, size=0x4000000, taskID=0 [ventus.cpp:137]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vt_buf_alloc: vaddr_recommand=0x7fff6feb8ee0, vaddr_allocated=0x90001000, size=0x40, taskID=0 [ventus.cpp:137]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vt_copy_to_dev: dev_addr=0x90001000, size=0x40, taskID=0, kernelID=0 [ventus.cpp:205]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kernel metadata: kernel_id=0, kernel_size=[8, 8, 1], wf_size=32, wg_size=8, metaDataBaseAddr=0x90001000, ldsSize=0x1000, pdsSize=0x1000, sgprUsage=64, vgprUsage=64, pdsBaseAddr=0x93fff000 [ventus.cpp:248]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debug]@1000110000 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debug]@1000120000 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vaddr=0x90001000, size=0x40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vaddr=0x93fff000, size=0x4000000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vaddr=0x90000000, size=0x10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vt_copy_from_dev: dev_addr=0x9002f000, size=0x10000, taskID=0, kernelID=0 [ventus.cpp:219]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error]@1000125000 PMEM page at 0x9003e000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error]@1000125000 PMEM page at 0x9003d000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error]@1000125000 PMEM page at 0x9003c000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error]@1000125000 PMEM page at 0x9003b000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error]@1000125000 PMEM page at 0x9003a000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error]@1000125000 PMEM page at 0x90039000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error]@1000125000 PMEM page at 0x90038000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error]@1000125000 PMEM page at 0x90037000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error]@1000125000 PMEM page at 0x90036000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error]@1000125000 PMEM page at 0x90035000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error]@1000125000 PMEM page at 0x90034000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error]@1000125000 PMEM page at 0x90033000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error]@1000125000 PMEM page at 0x90032000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error]@1000125000 PMEM page at 0x90031000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error]@1000125000 PMEM page at 0x90030000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error]@1000125000 PMEM page at 0x9002f000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Time: 1.040861 s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Performance: 0.004030 GFLOPS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Theoretical peak percentage: 0.0806%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Verification: expected=256.0, actual=0.0, error=256.000000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vaddr=0x9000f000, size=0x10000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vaddr=0x9001f000, size=0x10000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vaddr=0x9002f000, size=0x10000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=== Testing gemm_tiled_fixed with N=128 ===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### options: -DPOCL_DEVICE_ADDRESS_BITS=32 -D__USE_CLANG_OPENCL_C_H -xcl -Dinline= -I. -cl-kernel-arg-info -D GEMM_TILED -D TILE=16 -D__ENDIAN_LITTLE__=1 -DCL_DEVICE_MAX_GLOBAL_VARIABLE_SIZE=0 -D__OPENCL_VERSION__=200 -cl-std=CL2.0 -D__OPENCL_C_VERSION__=200 -Dcl_khr_fp64=1 -D__opencl_c_generic_address_space=1 -D__opencl_c_named_address_space_builtins=1 -cl-ext=-all,+cl_khr_fp64,+__opencl_c_generic_address_space,+__opencl_c_named_address_space_builtins -fno-builtin -triple=riscv32 -target-cpu ventus-gpgpu user_options: -D GEMM_TILED -D TILE=16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### Triple: riscv32, CPU: ventus-gpgpu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[2025-11-08 17:27:33.881] [info] [pocl_ventus.cc:1509] running compiler "/home/corcoreting/ventus-env/install/bin/clang -cl-std=CL2.0 -target riscv32 -mcpu=ventus-gpgpu object5.cl   -o object5.riscv -nodefaultlibs -Wl,/home/corcoreting/ventus-env/install/lib/crt0.o -Wl,/home/corcoreting/ventus-env/install/lib/riscv32clc.o -Wl,--gc-sections -L/home/corcoreting/ventus-env/install/lib -lworkitem -I/home/corcoreting/ventus-env/installinclude/clc -O1 -Wl,-T,/home/corcoreting/ventus-env/install/lib/ldscripts/ventus/elf32lriscv.ld -Wl,--init=gemm_naive  -w  -D__opencl_c_generic_address_space=1 -D__opencl_c_named_address_space_builtins=1  -D__OPENCL_VERSION__=200 -D GEMM_TILED -D TILE=16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"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vt_buf_alloc: vaddr_recommand=0x7fff6feb9bf8, vaddr_allocated=0x9000f000, size=0x10000, taskID=0 [ventus.cpp:137]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vt_copy_to_dev: dev_addr=0x9000f000, size=0x10000, taskID=0, kernelID=0 [ventus.cpp:205]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vt_buf_alloc: vaddr_recommand=0x79a2d6982a90, vaddr_allocated=0x9001f000, size=0x10000, taskID=0 [ventus.cpp:137]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vt_copy_to_dev: dev_addr=0x9001f000, size=0x10000, taskID=0, kernelID=0 [ventus.cpp:205]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Work configuration: global(128,128), local(16,16)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vt_buf_alloc: vaddr_recommand=0x3c3ce889f02e0300, vaddr_allocated=0x9002f000, size=0x10000, taskID=0 [ventus.cpp:137]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vt_buf_alloc: vaddr_recommand=0x0, vaddr_allocated=0x90000000, size=0x10, taskID=0 [ventus.cpp:137]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vt_copy_to_dev: dev_addr=0x90000000, size=0x10, taskID=0, kernelID=0 [ventus.cpp:205]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vt_upload_kernel_file object5.riscv: vaddr=0x80000000, size=0xd58 [ventus.cpp:296]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vt_upload_kernel_file object5.riscv: vaddr=0x80001000, size=0x1000 [ventus.cpp:296]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vt_upload_kernel_file object5.riscv: vaddr=0x80002000, size=0x18 [ventus.cpp:296]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vt_upload_kernel_file object5.riscv: vaddr=0x80003000, size=0x20 [ventus.cpp:296]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vt_buf_alloc: vaddr_recommand=0x7fff00000008, vaddr_allocated=0x93fff000, size=0x4000000, taskID=0 [ventus.cpp:137]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vt_buf_alloc: vaddr_recommand=0x7fff6feb8ee0, vaddr_allocated=0x90001000, size=0x40, taskID=0 [ventus.cpp:137]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vt_copy_to_dev: dev_addr=0x90001000, size=0x40, taskID=0, kernelID=0 [ventus.cpp:205]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kernel metadata: kernel_id=0, kernel_size=[8, 8, 1], wf_size=32, wg_size=8, metaDataBaseAddr=0x90001000, ldsSize=0x1000, pdsSize=0x1000, sgprUsage=64, vgprUsage=64, pdsBaseAddr=0x93fff000 [ventus.cpp:248]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debug]@1000130000 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debug]@1000140000 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debug]@1000150000 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vaddr=0x90001000, size=0x40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vaddr=0x93fff000, size=0x4000000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vaddr=0x90000000, size=0x10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vt_copy_from_dev: dev_addr=0x9002f000, size=0x10000, taskID=0, kernelID=0 [ventus.cpp:219]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error]@1000150000 PMEM page at 0x9003e000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error]@1000150000 PMEM page at 0x9003d000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error]@1000150000 PMEM page at 0x9003c000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error]@1000150000 PMEM page at 0x9003b000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error]@1000150000 PMEM page at 0x9003a000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error]@1000150000 PMEM page at 0x90039000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error]@1000150000 PMEM page at 0x90038000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error]@1000150000 PMEM page at 0x90037000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error]@1000150000 PMEM page at 0x90036000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error]@1000150000 PMEM page at 0x90035000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error]@1000150000 PMEM page at 0x90034000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error]@1000150000 PMEM page at 0x90033000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error]@1000150000 PMEM page at 0x90032000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error]@1000150000 PMEM page at 0x90031000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error]@1000150000 PMEM page at 0x90030000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error]@1000150000 PMEM page at 0x9002f000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Time: 1.056359 s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Performance: 0.003971 GFLOPS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Theoretical peak percentage: 0.0794%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Verification: expected=256.0, actual=0.0, error=256.000000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vaddr=0x9000f000, size=0x10000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vaddr=0x9001f000, size=0x10000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vaddr=0x9002f000, size=0x10000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=== Testing gemm_vectorized with N=128 ===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### options: -DPOCL_DEVICE_ADDRESS_BITS=32 -D__USE_CLANG_OPENCL_C_H -xcl -Dinline= -I. -cl-kernel-arg-info -D GEMM_TILED -D TILE=16 -D__ENDIAN_LITTLE__=1 -DCL_DEVICE_MAX_GLOBAL_VARIABLE_SIZE=0 -D__OPENCL_VERSION__=200 -cl-std=CL2.0 -D__OPENCL_C_VERSION__=200 -Dcl_khr_fp64=1 -D__opencl_c_generic_address_space=1 -D__opencl_c_named_address_space_builtins=1 -cl-ext=-all,+cl_khr_fp64,+__opencl_c_generic_address_space,+__opencl_c_named_address_space_builtins -fno-builtin -triple=riscv32 -target-cpu ventus-gpgpu user_options: -D GEMM_TILED -D TILE=16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### Triple: riscv32, CPU: ventus-gpgpu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[2025-11-08 17:27:35.092] [info] [pocl_ventus.cc:1509] running compiler "/home/corcoreting/ventus-env/install/bin/clang -cl-std=CL2.0 -target riscv32 -mcpu=ventus-gpgpu object5.cl   -o object5.riscv -nodefaultlibs -Wl,/home/corcoreting/ventus-env/install/lib/crt0.o -Wl,/home/corcoreting/ventus-env/install/lib/riscv32clc.o -Wl,--gc-sections -L/home/corcoreting/ventus-env/install/lib -lworkitem -I/home/corcoreting/ventus-env/installinclude/clc -O1 -Wl,-T,/home/corcoreting/ventus-env/install/lib/ldscripts/ventus/elf32lriscv.ld -Wl,--init=gemm_naive  -w  -D__opencl_c_generic_address_space=1 -D__opencl_c_named_address_space_builtins=1  -D__OPENCL_VERSION__=200 -D GEMM_TILED -D TILE=16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"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vt_buf_alloc: vaddr_recommand=0x7fff6feb9bf8, vaddr_allocated=0x9000f000, size=0x10000, taskID=0 [ventus.cpp:137]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vt_copy_to_dev: dev_addr=0x9000f000, size=0x10000, taskID=0, kernelID=0 [ventus.cpp:205]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vt_buf_alloc: vaddr_recommand=0x79a2d6982a90, vaddr_allocated=0x9001f000, size=0x10000, taskID=0 [ventus.cpp:137]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vt_copy_to_dev: dev_addr=0x9001f000, size=0x10000, taskID=0, kernelID=0 [ventus.cpp:205]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Work configuration: global(128,128), local(8,8)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vt_buf_alloc: vaddr_recommand=0x3c3ce889f02e0300, vaddr_allocated=0x9002f000, size=0x10000, taskID=0 [ventus.cpp:137]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vt_buf_alloc: vaddr_recommand=0x0, vaddr_allocated=0x90000000, size=0x10, taskID=0 [ventus.cpp:137]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vt_copy_to_dev: dev_addr=0x90000000, size=0x10, taskID=0, kernelID=0 [ventus.cpp:205]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vt_upload_kernel_file object5.riscv: vaddr=0x80000000, size=0xd58 [ventus.cpp:296]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vt_upload_kernel_file object5.riscv: vaddr=0x80001000, size=0x1000 [ventus.cpp:296]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vt_upload_kernel_file object5.riscv: vaddr=0x80002000, size=0x18 [ventus.cpp:296]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vt_upload_kernel_file object5.riscv: vaddr=0x80003000, size=0x20 [ventus.cpp:296]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vt_buf_alloc: vaddr_recommand=0x7fff00000008, vaddr_allocated=0x93fff000, size=0x4000000, taskID=0 [ventus.cpp:137]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vt_buf_alloc: vaddr_recommand=0x7fff6feb8ee0, vaddr_allocated=0x90001000, size=0x40, taskID=0 [ventus.cpp:137]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vt_copy_to_dev: dev_addr=0x90001000, size=0x40, taskID=0, kernelID=0 [ventus.cpp:205]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kernel metadata: kernel_id=0, kernel_size=[16, 16, 1], wf_size=32, wg_size=2, metaDataBaseAddr=0x90001000, ldsSize=0x1000, pdsSize=0x1000, sgprUsage=64, vgprUsage=64, pdsBaseAddr=0x93fff000 [ventus.cpp:248]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debug]@1000160000 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debug]@1000170000 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vaddr=0x90001000, size=0x40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vaddr=0x93fff000, size=0x4000000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vaddr=0x90000000, size=0x10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[debug] vt_copy_from_dev: dev_addr=0x9002f000, size=0x10000, taskID=0, kernelID=0 [ventus.cpp:219]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error]@1000175000 PMEM page at 0x9003e000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error]@1000175000 PMEM page at 0x9003d000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error]@1000175000 PMEM page at 0x9003c000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error]@1000175000 PMEM page at 0x9003b000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error]@1000175000 PMEM page at 0x9003a000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error]@1000175000 PMEM page at 0x90039000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error]@1000175000 PMEM page at 0x90038000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error]@1000175000 PMEM page at 0x90037000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error]@1000175000 PMEM page at 0x90036000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error]@1000175000 PMEM page at 0x90035000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error]@1000175000 PMEM page at 0x90034000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error]@1000175000 PMEM page at 0x90033000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error]@1000175000 PMEM page at 0x90032000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error]@1000175000 PMEM page at 0x90031000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error]@1000175000 PMEM page at 0x90030000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error]@1000175000 PMEM page at 0x9002f000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Time: 1.079404 s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Performance: 0.003886 GFLOPS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Theoretical peak percentage: 0.0777%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Verification: expected=256.0, actual=0.0, error=256.000000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vaddr=0x9000f000, size=0x10000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vaddr=0x9001f000, size=0x10000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[info] vt_buf_free: vaddr=0x9002f000, size=0x10000 [ventus.cpp:156]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大规模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GEMM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运算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6" name="文本框 5"/>
          <p:cNvSpPr txBox="1"/>
          <p:nvPr/>
        </p:nvSpPr>
        <p:spPr>
          <a:xfrm>
            <a:off x="10160" y="1176655"/>
            <a:ext cx="12192000" cy="9530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=== Testing gemm_tiled_fixed with N=64 ===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Time: 1.040661 s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Performance: 0.000504 GFLOPS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Theoretical peak percentage: 0.0101%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Verification: expected=128.0, actual=128.0, error=0.000000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=== Testing gemm_vectorized with N=64 ===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Time: 1.047683 s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Performance: 0.000500 GFLOPS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Theoretical peak percentage: 0.0100%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Verification: expected=128.0, actual=128.0, error=0.000000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=== Testing gemm_naive with N=128 ===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error]@1000100000 PMEM page at 0x90031000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error]@1000100000 PMEM page at 0x90030000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[RTL    error]@1000100000 PMEM page at 0x9002f000 not allocated, read as all zero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Time: 1.052747 s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Performance: 0.003984 GFLOPS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Theoretical peak percentage: 0.0797%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Verification: expected=256.0, actual=0.0, error=256.000000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=== Testing gemm_tiled with N=128 ===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Time: 1.040861 s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Performance: 0.004030 GFLOPS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Theoretical peak percentage: 0.0806%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Time: 1.056359 s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Performance: 0.003971 GFLOPS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Theoretical peak percentage: 0.0794%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Verification: expected=256.0, actual=0.0, error=256.000000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=== Testing gemm_vectorized with N=128 ===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Time: 1.079404 s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Performance: 0.003886 GFLOPS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Theoretical peak percentage: 0.0777%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Verification: expected=256.0, actual=0.0, error=256.000000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大规模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GEMM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运算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graphicFrame>
        <p:nvGraphicFramePr>
          <p:cNvPr id="14" name="表格 13"/>
          <p:cNvGraphicFramePr/>
          <p:nvPr>
            <p:custDataLst>
              <p:tags r:id="rId10"/>
            </p:custDataLst>
          </p:nvPr>
        </p:nvGraphicFramePr>
        <p:xfrm>
          <a:off x="476250" y="1524000"/>
          <a:ext cx="8542020" cy="1888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655"/>
                <a:gridCol w="1506855"/>
                <a:gridCol w="2732405"/>
                <a:gridCol w="2110105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0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  <a:sym typeface="+mn-ea"/>
                        </a:rPr>
                        <a:t>矩阵大小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0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  <a:sym typeface="+mn-ea"/>
                        </a:rPr>
                        <a:t>状态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0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  <a:sym typeface="+mn-ea"/>
                        </a:rPr>
                        <a:t>性能</a:t>
                      </a:r>
                      <a:r>
                        <a:rPr lang="en-US" altLang="zh-CN" sz="1800" b="0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  <a:sym typeface="+mn-ea"/>
                        </a:rPr>
                        <a:t>(GFlops)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0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  <a:sym typeface="+mn-ea"/>
                        </a:rPr>
                        <a:t>执行时间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15621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  <a:sym typeface="+mn-ea"/>
                        </a:rPr>
                        <a:t>64×64</a:t>
                      </a:r>
                      <a:endParaRPr lang="zh-CN" altLang="en-US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  <a:sym typeface="+mn-ea"/>
                        </a:rPr>
                        <a:t>成功</a:t>
                      </a:r>
                      <a:endParaRPr lang="zh-CN" altLang="en-US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0.0005</a:t>
                      </a:r>
                      <a:endParaRPr lang="zh-CN" altLang="en-US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  <a:sym typeface="+mn-ea"/>
                        </a:rPr>
                        <a:t>1.40661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  <a:sym typeface="+mn-ea"/>
                        </a:rPr>
                        <a:t>s</a:t>
                      </a:r>
                      <a:endParaRPr lang="zh-CN" altLang="en-US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60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  <a:sym typeface="+mn-ea"/>
                        </a:rPr>
                        <a:t>128×128</a:t>
                      </a:r>
                      <a:endParaRPr lang="zh-CN" altLang="en-US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失败</a:t>
                      </a:r>
                      <a:endParaRPr lang="zh-CN" altLang="en-US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未分配的内存页访问错误</a:t>
                      </a:r>
                      <a:endParaRPr lang="zh-CN" altLang="en-US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544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  <a:sym typeface="+mn-ea"/>
                        </a:rPr>
                        <a:t>256×256</a:t>
                      </a:r>
                      <a:endParaRPr lang="zh-CN" altLang="en-US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cyclesim</a:t>
                      </a:r>
                      <a:endParaRPr lang="en-US" altLang="zh-CN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544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  <a:sym typeface="+mn-ea"/>
                        </a:rPr>
                        <a:t>512×512</a:t>
                      </a:r>
                      <a:endParaRPr lang="zh-CN" altLang="en-US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1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大规模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GEMM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运算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81225" y="1718945"/>
            <a:ext cx="7829550" cy="341947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李佳昊-仙林-飞艇航拍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9525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12192635" cy="6867525"/>
          </a:xfrm>
          <a:prstGeom prst="rect">
            <a:avLst/>
          </a:prstGeom>
          <a:gradFill>
            <a:gsLst>
              <a:gs pos="89000">
                <a:srgbClr val="BDCBDE">
                  <a:alpha val="36000"/>
                </a:srgbClr>
              </a:gs>
              <a:gs pos="0">
                <a:srgbClr val="5F85C3">
                  <a:alpha val="100000"/>
                </a:srgbClr>
              </a:gs>
              <a:gs pos="100000">
                <a:schemeClr val="bg1">
                  <a:alpha val="0"/>
                </a:schemeClr>
              </a:gs>
            </a:gsLst>
            <a:lin ang="2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560705" y="3035618"/>
            <a:ext cx="6483985" cy="11988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8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谢谢观看！</a:t>
            </a:r>
            <a:endParaRPr lang="en-US" altLang="zh-CN" sz="8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560705" y="4491990"/>
            <a:ext cx="3617595" cy="0"/>
          </a:xfrm>
          <a:prstGeom prst="line">
            <a:avLst/>
          </a:prstGeom>
          <a:ln w="1270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60705" y="4862831"/>
            <a:ext cx="333438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日期：</a:t>
            </a:r>
            <a:r>
              <a:rPr lang="en-US" altLang="zh-CN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2025</a:t>
            </a:r>
            <a:r>
              <a:rPr lang="zh-CN" altLang="en-US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年</a:t>
            </a:r>
            <a:r>
              <a:rPr lang="en-US" altLang="zh-CN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10</a:t>
            </a:r>
            <a:r>
              <a:rPr lang="zh-CN" altLang="en-US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月</a:t>
            </a:r>
            <a:r>
              <a:rPr lang="en-US" altLang="zh-CN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20</a:t>
            </a:r>
            <a:r>
              <a:rPr lang="zh-CN" altLang="en-US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日</a:t>
            </a:r>
            <a:endParaRPr lang="zh-CN" altLang="en-US" sz="2000" b="1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0" y="-11430"/>
            <a:ext cx="12191365" cy="775970"/>
          </a:xfrm>
          <a:prstGeom prst="rect">
            <a:avLst/>
          </a:prstGeom>
          <a:gradFill>
            <a:gsLst>
              <a:gs pos="53000">
                <a:srgbClr val="9AA1BB">
                  <a:alpha val="0"/>
                </a:srgbClr>
              </a:gs>
              <a:gs pos="0">
                <a:srgbClr val="515983"/>
              </a:gs>
              <a:gs pos="100000">
                <a:schemeClr val="tx2">
                  <a:lumMod val="10000"/>
                  <a:lumOff val="9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pic>
        <p:nvPicPr>
          <p:cNvPr id="6" name="图片 5" descr="校标、校名-透空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86080" y="186055"/>
            <a:ext cx="1260000" cy="403701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  <p:tag name="KSO_WM_UNIT_PLACING_PICTURE_USER_VIEWPORT" val="{&quot;height&quot;:4535.433070866142,&quot;width&quot;:4634.511811023622}"/>
</p:tagLst>
</file>

<file path=ppt/tags/tag3.xml><?xml version="1.0" encoding="utf-8"?>
<p:tagLst xmlns:p="http://schemas.openxmlformats.org/presentationml/2006/main">
  <p:tag name="KSO_WM_BEAUTIFY_FLAG" val=""/>
  <p:tag name="KSO_WM_UNIT_PLACING_PICTURE_USER_VIEWPORT" val="{&quot;height&quot;:4535.433070866142,&quot;width&quot;:4634.511811023622}"/>
</p:tagLst>
</file>

<file path=ppt/tags/tag4.xml><?xml version="1.0" encoding="utf-8"?>
<p:tagLst xmlns:p="http://schemas.openxmlformats.org/presentationml/2006/main">
  <p:tag name="KSO_WM_UNIT_PLACING_PICTURE_USER_VIEWPORT" val="{&quot;height&quot;:6854,&quot;width&quot;:19200}"/>
  <p:tag name="KSO_WM_BEAUTIFY_FLAG" val="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BEAUTIFY_FLAG" val=""/>
  <p:tag name="KSO_WM_UNIT_PLACING_PICTURE_USER_VIEWPORT" val="{&quot;height&quot;:4535.433070866142,&quot;width&quot;:4634.511811023622}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3*b*1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TABLE_ENDDRAG_ORIGIN_RECT" val="672*346"/>
  <p:tag name="TABLE_ENDDRAG_RECT" val="37*120*672*346"/>
</p:tagLst>
</file>

<file path=ppt/tags/tag1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6.xml><?xml version="1.0" encoding="utf-8"?>
<p:tagLst xmlns:p="http://schemas.openxmlformats.org/presentationml/2006/main">
  <p:tag name="COMMONDATA" val="eyJoZGlkIjoiODQ1N2I4NTdiMjE5NzcxZjdkNzUxMDFmYzZiMjFjN2UifQ=="/>
  <p:tag name="commondata" val="eyJoZGlkIjoiMTU2ZDc0ZjNmMzdmMDBlNmUzZGQ5ODRkNDBiMjE1YzkifQ=="/>
  <p:tag name="KSO_WPP_MARK_KEY" val="3af471a3-1903-4892-9bf8-0083f46c5faa"/>
  <p:tag name="resource_record_key" val="{&quot;29&quot;:[50000077],&quot;65&quot;:[20205081]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32112</Words>
  <Application>WPS 演示</Application>
  <PresentationFormat>宽屏</PresentationFormat>
  <Paragraphs>540</Paragraphs>
  <Slides>16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宋体</vt:lpstr>
      <vt:lpstr>Wingdings</vt:lpstr>
      <vt:lpstr>Wingdings</vt:lpstr>
      <vt:lpstr>微软雅黑</vt:lpstr>
      <vt:lpstr>Noto Serif CJK SC Black</vt:lpstr>
      <vt:lpstr>思源黑体 CN Heavy</vt:lpstr>
      <vt:lpstr>思源黑体 CN Normal</vt:lpstr>
      <vt:lpstr>Noto Serif CJK SC Light</vt:lpstr>
      <vt:lpstr>Cambria Math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ness233</cp:lastModifiedBy>
  <cp:revision>408</cp:revision>
  <dcterms:created xsi:type="dcterms:W3CDTF">2019-06-19T02:08:00Z</dcterms:created>
  <dcterms:modified xsi:type="dcterms:W3CDTF">2026-01-15T16:47:16Z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F2B3D51F99CC4BF790852F9914527691_13</vt:lpwstr>
  </property>
</Properties>
</file>