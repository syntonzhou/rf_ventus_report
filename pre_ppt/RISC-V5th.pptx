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3"/>
    <p:sldId id="392" r:id="rId4"/>
    <p:sldId id="314" r:id="rId5"/>
    <p:sldId id="351" r:id="rId6"/>
    <p:sldId id="385" r:id="rId7"/>
    <p:sldId id="382" r:id="rId8"/>
    <p:sldId id="371" r:id="rId9"/>
    <p:sldId id="386" r:id="rId10"/>
    <p:sldId id="387" r:id="rId11"/>
    <p:sldId id="388" r:id="rId12"/>
    <p:sldId id="389" r:id="rId13"/>
    <p:sldId id="393" r:id="rId14"/>
    <p:sldId id="394" r:id="rId15"/>
    <p:sldId id="390" r:id="rId16"/>
    <p:sldId id="281" r:id="rId17"/>
  </p:sldIdLst>
  <p:sldSz cx="12192000" cy="6858000"/>
  <p:notesSz cx="6858000" cy="9144000"/>
  <p:embeddedFontLst>
    <p:embeddedFont>
      <p:font typeface="微软雅黑" panose="020B0503020204020204" charset="-122"/>
      <p:regular r:id="rId24"/>
    </p:embeddedFont>
    <p:embeddedFont>
      <p:font typeface="Cambria Math" panose="02040503050406030204" charset="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66798"/>
    <a:srgbClr val="556595"/>
    <a:srgbClr val="4B547B"/>
    <a:srgbClr val="FFFFFF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8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91.xml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86.xml"/><Relationship Id="rId10" Type="http://schemas.openxmlformats.org/officeDocument/2006/relationships/image" Target="../media/image14.png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13.pn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1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94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image" Target="../media/image1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02.xml"/><Relationship Id="rId10" Type="http://schemas.openxmlformats.org/officeDocument/2006/relationships/image" Target="../media/image15.png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12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10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tags" Target="../tags/tag10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image" Target="../media/image12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image" Target="../media/image12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27.xml"/><Relationship Id="rId10" Type="http://schemas.openxmlformats.org/officeDocument/2006/relationships/image" Target="../media/image18.png"/><Relationship Id="rId1" Type="http://schemas.openxmlformats.org/officeDocument/2006/relationships/tags" Target="../tags/tag12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image" Target="../media/image12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image" Target="../media/image12.png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4.xml"/><Relationship Id="rId1" Type="http://schemas.openxmlformats.org/officeDocument/2006/relationships/tags" Target="../tags/tag13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image" Target="../media/image12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52.xml"/><Relationship Id="rId10" Type="http://schemas.openxmlformats.org/officeDocument/2006/relationships/image" Target="../media/image19.png"/><Relationship Id="rId1" Type="http://schemas.openxmlformats.org/officeDocument/2006/relationships/tags" Target="../tags/tag14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image" Target="../media/image12.png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60.xml"/><Relationship Id="rId10" Type="http://schemas.openxmlformats.org/officeDocument/2006/relationships/image" Target="../media/image20.png"/><Relationship Id="rId1" Type="http://schemas.openxmlformats.org/officeDocument/2006/relationships/tags" Target="../tags/tag15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image" Target="../media/image12.png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68.xml"/><Relationship Id="rId10" Type="http://schemas.openxmlformats.org/officeDocument/2006/relationships/image" Target="../media/image21.png"/><Relationship Id="rId1" Type="http://schemas.openxmlformats.org/officeDocument/2006/relationships/tags" Target="../tags/tag16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image" Target="../media/image12.png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76.xml"/><Relationship Id="rId1" Type="http://schemas.openxmlformats.org/officeDocument/2006/relationships/tags" Target="../tags/tag1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image" Target="../media/image12.png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86.xml"/><Relationship Id="rId12" Type="http://schemas.openxmlformats.org/officeDocument/2006/relationships/image" Target="../media/image22.png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90.xml"/><Relationship Id="rId5" Type="http://schemas.openxmlformats.org/officeDocument/2006/relationships/image" Target="../media/image9.png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VENTUS GPGPU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GEMM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分析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374900" y="2944495"/>
            <a:ext cx="744283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rPr>
              <a:t>在运行大模型时的性能分析与优化方案</a:t>
            </a:r>
            <a:endParaRPr lang="en-US" altLang="zh-CN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Roofline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模型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1025" y="1190625"/>
            <a:ext cx="11029950" cy="534352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目录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9"/>
            </p:custDataLst>
          </p:nvPr>
        </p:nvSpPr>
        <p:spPr>
          <a:xfrm>
            <a:off x="1069975" y="1402715"/>
            <a:ext cx="1019619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概述</a:t>
            </a:r>
            <a:r>
              <a:rPr lang="en-US" altLang="zh-CN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Roofline</a:t>
            </a: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模型</a:t>
            </a:r>
            <a:endParaRPr lang="zh-CN" altLang="en-US" sz="3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</a:t>
            </a: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针对本题的</a:t>
            </a: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理论计算</a:t>
            </a:r>
            <a:endParaRPr lang="zh-CN" altLang="en-US" sz="3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</a:t>
            </a: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 实验配置与代码修改</a:t>
            </a:r>
            <a:endParaRPr lang="zh-CN" altLang="en-US" sz="3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4. </a:t>
            </a:r>
            <a:r>
              <a:rPr lang="zh-CN" altLang="en-US" sz="3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结果分析</a:t>
            </a:r>
            <a:endParaRPr lang="zh-CN" altLang="en-US" sz="3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Roofline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模型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02260" y="1017905"/>
                <a:ext cx="11621135" cy="217424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计算瓶颈</a:t>
                </a:r>
                <a:r>
                  <a:rPr lang="en-US" altLang="zh-CN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 vs. </a:t>
                </a: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存储瓶颈</a:t>
                </a:r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计算瓶颈：程序的性能主要受限于</a:t>
                </a:r>
                <a:r>
                  <a:rPr lang="en-US" altLang="zh-CN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CPU/GPU</a:t>
                </a: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的计算单元能多快地执行算术运算。</a:t>
                </a:r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存储瓶颈：程序的性能主要受限于内存系统的带宽。</a:t>
                </a:r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Light" panose="02020300000000000000" charset="-122"/>
                  </a:rPr>
                  <a:t>运算强度：</a:t>
                </a: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每个字节的内存流量所能支持的浮点运算次数（</a:t>
                </a:r>
                <a:r>
                  <a:rPr lang="en-US" altLang="zh-CN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FLOPs/Byte</a:t>
                </a: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）</a:t>
                </a:r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Light" panose="02020300000000000000" charset="-122"/>
                  </a:rPr>
                  <a:t>总浮点运算次数：</a:t>
                </a:r>
                <a:endParaRPr lang="zh-CN" altLang="en-US" sz="2000" b="0" i="0">
                  <a:latin typeface="Noto Serif CJK SC Black" panose="02020900000000000000" charset="-122"/>
                  <a:ea typeface="Noto Serif CJK SC Black" panose="020209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𝐹𝐿𝑂𝑃𝑠</m:t>
                      </m:r>
                      <m:r>
                        <a:rPr lang="en-US" altLang="zh-CN" sz="20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𝐾</m:t>
                      </m:r>
                    </m:oMath>
                  </m:oMathPara>
                </a14:m>
                <a:endParaRPr lang="zh-CN" altLang="en-US" sz="2000" b="0" i="0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  <a:p>
                <a:pPr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Light" panose="02020300000000000000" charset="-122"/>
                  </a:rPr>
                  <a:t>总内存访问量：</a:t>
                </a:r>
                <a:endParaRPr lang="zh-CN" altLang="en-US" sz="2000" b="0" i="0">
                  <a:latin typeface="Noto Serif CJK SC Black" panose="02020900000000000000" charset="-122"/>
                  <a:ea typeface="Noto Serif CJK SC Black" panose="02020900000000000000" charset="-122"/>
                  <a:cs typeface="Noto Serif CJK SC Light" panose="020203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𝑀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( 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𝑒𝑎𝑑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&amp; 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𝑤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𝑟𝑖𝑡𝑒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Noto Serif CJK SC Light" panose="02020300000000000000" charset="-122"/>
                  <a:cs typeface="Cambria Math" panose="02040503050406030204" charset="0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2000" i="1">
                  <a:latin typeface="Cambria Math" panose="02040503050406030204" charset="0"/>
                  <a:ea typeface="Noto Serif CJK SC Light" panose="02020300000000000000" charset="-122"/>
                  <a:cs typeface="Cambria Math" panose="02040503050406030204" charset="0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Y</a:t>
                </a:r>
                <a:r>
                  <a:rPr lang="zh-CN" altLang="en-US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轴：</a:t>
                </a: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可达到的性能（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𝐺𝐹𝐿𝑂𝑃</m:t>
                    </m:r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/</m:t>
                    </m:r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）</a:t>
                </a:r>
                <a:r>
                  <a:rPr lang="en-US" altLang="zh-CN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	</a:t>
                </a:r>
                <a:r>
                  <a:rPr lang="en-US" altLang="zh-CN" sz="2000" b="0" i="0">
                    <a:latin typeface="Noto Serif CJK SC Black" panose="02020900000000000000" charset="-122"/>
                    <a:ea typeface="Noto Serif CJK SC Black" panose="02020900000000000000" charset="-122"/>
                    <a:cs typeface="Noto Serif CJK SC Black" panose="02020900000000000000" charset="-122"/>
                  </a:rPr>
                  <a:t>X轴：</a:t>
                </a:r>
                <a:r>
                  <a:rPr lang="zh-CN" altLang="en-US" sz="2000" b="0" i="0">
                    <a:latin typeface="Noto Serif CJK SC Light" panose="02020300000000000000" charset="-122"/>
                    <a:ea typeface="Noto Serif CJK SC Light" panose="02020300000000000000" charset="-122"/>
                    <a:cs typeface="Noto Serif CJK SC Light" panose="02020300000000000000" charset="-122"/>
                  </a:rPr>
                  <a:t>运算强度（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𝐹𝐿𝑂𝑃𝑠</m:t>
                    </m:r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/</m:t>
                    </m:r>
                    <m:r>
                      <a:rPr lang="en-US" altLang="zh-CN" sz="2000" b="0" i="1">
                        <a:latin typeface="Cambria Math" panose="02040503050406030204" charset="0"/>
                        <a:ea typeface="Noto Serif CJK SC Light" panose="02020300000000000000" charset="-122"/>
                        <a:cs typeface="Cambria Math" panose="02040503050406030204" charset="0"/>
                      </a:rPr>
                      <m:t>𝐵𝑦𝑡𝑒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ea typeface="Noto Serif CJK SC Light" panose="02020300000000000000" charset="-122"/>
                    <a:cs typeface="Cambria Math" panose="02040503050406030204" charset="0"/>
                  </a:rPr>
                  <a:t>）</a:t>
                </a:r>
                <a:endParaRPr lang="zh-CN" altLang="en-US" sz="2000">
                  <a:latin typeface="Cambria Math" panose="02040503050406030204" charset="0"/>
                  <a:ea typeface="Noto Serif CJK SC Light" panose="020203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" y="1017905"/>
                <a:ext cx="11621135" cy="2174240"/>
              </a:xfrm>
              <a:prstGeom prst="rect">
                <a:avLst/>
              </a:prstGeom>
              <a:blipFill rotWithShape="1">
                <a:blip r:embed="rId10"/>
                <a:stretch>
                  <a:fillRect b="-133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Roofline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模型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302260" y="1017905"/>
            <a:ext cx="11621135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为了做性能分析，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Roofline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模型论文引入了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操作强度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operational intensity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）这个概念，表示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每字节 DRAM 数据传输（traffic）所对应的操作次数（每字节 flops）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，这里的字节数是指那些经过缓存层过滤后进入主内存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 DRAM 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的字节，即我们关注的是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缓存与内存之间的数据传输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，而不是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处理器与缓存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之间的数据传输。因此，操作强度可以用来评估特定计算机上</a:t>
            </a: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某个内核所需的 DRAM/HBM 带宽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en-US" altLang="zh-CN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操作强度公式定义如下：</a:t>
            </a:r>
            <a:endParaRPr lang="zh-CN" altLang="en-US" sz="2000" b="0" i="0">
              <a:latin typeface="Noto Serif CJK SC Black" panose="02020900000000000000" charset="-122"/>
              <a:ea typeface="Noto Serif CJK SC Black" panose="02020900000000000000" charset="-122"/>
              <a:cs typeface="Noto Serif CJK SC Light" panose="020203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5970" y="4029710"/>
            <a:ext cx="4203700" cy="11442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4014" t="10547" r="10092" b="13920"/>
          <a:stretch>
            <a:fillRect/>
          </a:stretch>
        </p:blipFill>
        <p:spPr>
          <a:xfrm>
            <a:off x="4838700" y="2873375"/>
            <a:ext cx="6440805" cy="395097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理论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性能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3826510" y="1907540"/>
          <a:ext cx="530479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785"/>
                <a:gridCol w="2961005"/>
              </a:tblGrid>
              <a:tr h="356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矩阵尺寸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运算强度（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FLOP/Byte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）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[16,16,16]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[32,32,32]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[64,64,64]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[128,128,128]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[256,256,256]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[512,512,512]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[1024,1024,1024]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[2048,2048,2048]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341.33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[4096,4096,4096]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682.67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485765" y="1524000"/>
                <a:ext cx="6716395" cy="7740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𝐹𝐿𝑂𝑃𝑆</m:t>
                      </m:r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𝑝𝑒𝑟</m:t>
                      </m:r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𝑐𝑦𝑐𝑙𝑒</m:t>
                      </m:r>
                      <m:r>
                        <a:rPr lang="en-US" i="1">
                          <a:latin typeface="Cambria Math" panose="02040503050406030204" charset="0"/>
                          <a:ea typeface="Noto Serif CJK SC Light" panose="02020300000000000000" charset="-122"/>
                          <a:cs typeface="Cambria Math" panose="02040503050406030204" charset="0"/>
                        </a:rPr>
                        <m:t> = 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𝑇𝑜𝑡𝑎𝑙</m:t>
                          </m:r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𝐹𝐿𝑂𝑃𝑆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𝑇𝑜𝑡𝑎𝑙</m:t>
                          </m:r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i="1">
                              <a:latin typeface="Cambria Math" panose="02040503050406030204" charset="0"/>
                              <a:ea typeface="Noto Serif CJK SC Light" panose="02020300000000000000" charset="-122"/>
                              <a:cs typeface="Cambria Math" panose="02040503050406030204" charset="0"/>
                            </a:rPr>
                            <m:t>𝑐𝑦𝑐𝑙𝑒𝑠</m:t>
                          </m:r>
                        </m:den>
                      </m:f>
                    </m:oMath>
                  </m:oMathPara>
                </a14:m>
                <a:endParaRPr lang="en-US">
                  <a:latin typeface="Noto Serif CJK SC Light" panose="02020300000000000000" charset="-122"/>
                  <a:ea typeface="Noto Serif CJK SC Light" panose="02020300000000000000" charset="-122"/>
                  <a:cs typeface="Noto Serif CJK SC Light" panose="02020300000000000000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765" y="1524000"/>
                <a:ext cx="6716395" cy="7740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530350" y="1173480"/>
            <a:ext cx="7061835" cy="2174240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解决方法：</a:t>
            </a:r>
            <a:r>
              <a:rPr lang="zh-CN" altLang="en-US" sz="20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周期数校准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</a:rPr>
              <a:t>难点：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如何获取周期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数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向量加法（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1024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次操作）需要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0.254s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，性能仅</a:t>
            </a:r>
            <a:r>
              <a:rPr lang="en-US" altLang="zh-CN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4025FLOPS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。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（模拟器运行速度比真实硬件慢</a:t>
            </a:r>
            <a:r>
              <a:rPr lang="zh-CN" altLang="en-US" sz="2000" b="0" i="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</a:rPr>
              <a:t>数百万倍）</a:t>
            </a:r>
            <a:endParaRPr lang="zh-CN" altLang="en-US" sz="2000" b="0" i="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2" name="表格 1"/>
          <p:cNvGraphicFramePr/>
          <p:nvPr>
            <p:custDataLst>
              <p:tags r:id="rId10"/>
            </p:custDataLst>
          </p:nvPr>
        </p:nvGraphicFramePr>
        <p:xfrm>
          <a:off x="339090" y="1524000"/>
          <a:ext cx="116668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910"/>
                <a:gridCol w="1764030"/>
                <a:gridCol w="1786255"/>
                <a:gridCol w="1640205"/>
                <a:gridCol w="2564765"/>
                <a:gridCol w="1710690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矩阵尺寸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运算强度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（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FLOP/Byte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）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每周期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FLOP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GFlops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时间</a:t>
                      </a:r>
                      <a:r>
                        <a:rPr lang="en-US" altLang="zh-CN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(s)</a:t>
                      </a:r>
                      <a:endParaRPr lang="en-US" altLang="zh-CN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相对</a:t>
                      </a:r>
                      <a:r>
                        <a:rPr lang="zh-CN" altLang="en-US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性能</a:t>
                      </a:r>
                      <a:endParaRPr lang="zh-CN" altLang="en-US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[16,16,16]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[32,32,32]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[64,64,64]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0.000771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0.000771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0.675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erif CJK SC Light" panose="02020300000000000000" charset="-122"/>
                          <a:ea typeface="Noto Serif CJK SC Light" panose="02020300000000000000" charset="-122"/>
                          <a:sym typeface="+mn-ea"/>
                        </a:rPr>
                        <a:t>1.0x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[128,128,128]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0.001506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0.001506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2.772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1.95x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[256,256,256]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0.001900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0.001900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17.012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2.54x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[512,512,512]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85.33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[1024,1024,1024]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170.67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[2048,2048,2048]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341.33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[4096,4096,4096]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682.67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0.001972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69679.3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10160" y="1181100"/>
            <a:ext cx="1219200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 16     16     16  elapsed_s=1.179532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 32     32     32  elapsed_s=3.918459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 64     64     64  elapsed_s=32.502170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128    128    128  elapsed_s=140.653838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256    256    256  elapsed_s=1387.472251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 512    512    512  elapsed_s=</a:t>
            </a: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7597.951505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1024   1024   1024  elapsed_s=</a:t>
            </a: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7280.618517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2048   2048   2048  elapsed_s=</a:t>
            </a: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8017.031034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GFLOPs=0.002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rtlsim     4096   4096   4096  elapsed_s=</a:t>
            </a:r>
            <a:r>
              <a:rPr lang="en-US" altLang="zh-CN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7266.196811</a:t>
            </a:r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  GFLOPs=0.019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 16     16     16  elapsed_s=1.797045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 32     32     32  elapsed_s=18.173886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 64     64     64  elapsed_s=36.199642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128    128    128  elapsed_s=234.646734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256    256    256  elapsed_s=1650.859310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 512    512    512  elapsed_s=1147.428134  GFLOPs=0.000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1024   1024   1024  elapsed_s=1167.933100  GFLOPs=0.002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2048   2048   2048  elapsed_s=1156.802687  GFLOPs=0.015</a:t>
            </a:r>
            <a:endParaRPr lang="en-US" altLang="zh-CN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>
                <a:latin typeface="Noto Serif CJK SC Light" panose="02020300000000000000" charset="-122"/>
                <a:ea typeface="Noto Serif CJK SC Light" panose="02020300000000000000" charset="-122"/>
              </a:rPr>
              <a:t>cyclesim   4096   4096   4096  elapsed_s=1367.157299  GFLOPs=0.101</a:t>
            </a:r>
            <a:endParaRPr lang="zh-CN" altLang="en-US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rcRect t="50473"/>
          <a:stretch>
            <a:fillRect/>
          </a:stretch>
        </p:blipFill>
        <p:spPr>
          <a:xfrm>
            <a:off x="200025" y="2645410"/>
            <a:ext cx="11465560" cy="311404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发现光明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6550" y="1422400"/>
            <a:ext cx="9236710" cy="503618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6355" y="1964055"/>
            <a:ext cx="9665335" cy="317754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实验配置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10160" y="927100"/>
            <a:ext cx="11684635" cy="5931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2:[gemm]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M=16 N=16 K=16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5153:[gemm] C[0]=13611295640251994711989329434765164544.000000  (ref=13611295640251994711989329434765164544.000000)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5154:[gemm]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elapsed_ms=1248.599  FLOPs=8.192e+03  GFLOPs=0.000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5146:[kernel_summary] sm=1 name=gemm_basic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start_cycle=1 end_cycle=64104 total_cycles=64103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5147:[kernel_summary] name=gemm_basic start_cycle=1 end_cycle=64104 total_cycles=64103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endParaRPr lang="en-US" altLang="zh-CN" sz="9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2:[gemm]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M=32 N=32 K=32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30220:[gemm] C[0]=27222591280503989423978658869530329088.000000  (ref=27222591280503989423978658869530329088.000000)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30221:[gemm]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elapsed_ms=17762.378  FLOPs=6.554e+04  GFLOPs=0.000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30213:[kernel_summary] sm=0 name=gemm_basic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start_cycle=1 end_cycle=1653651 total_cycles=1653650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30214:[kernel_summary] name=gemm_basic start_cycle=1 end_cycle=1653651 total_cycles=1653650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endParaRPr lang="en-US" altLang="zh-CN" sz="9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2:[gemm]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M=64 N=64 K=64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794666:[gemm] C[0]=51042357066381729884673233509490360320.000000  (ref=51042357066381729884673233509490360320.000000)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794667:[gemm]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elapsed_ms=27462.763  FLOPs=5.243e+05  GFLOPs=0.000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794659:[kernel_summary] sm=0 name=gemm_basic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start_cycle=1 end_cycle=2258754 total_cycles=2258753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794660:[kernel_summary] name=gemm_basic start_cycle=1 end_cycle=2258754 total_cycles=2258753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endParaRPr lang="en-US" altLang="zh-CN" sz="9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2:[gemm]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M=128 N=128 K=128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1417262:[gemm] C[0]=102084714132763459769346467018980720640.000000  (ref=102084714132763459769346467018980720640.000000)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1417263:[gemm]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elapsed_ms=219255.709  FLOPs=4.194e+06  GFLOPs=0.000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1417255:[kernel_summary] sm=0 name=gemm_basic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start_cycle=1 end_cycle=19492344 total_cycles=19492343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1417256:[kernel_summary] name=gemm_basic start_cycle=1 end_cycle=19492344 total_cycles=19492343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endParaRPr lang="en-US" altLang="zh-CN" sz="9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2:[gemm]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M=256 N=256 K=256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10648109:[gemm] C[0]=197363686005431205179607857816190058496.000000  (ref=197363787417479223437959977552446488576.000000)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10648110:[gemm]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elapsed_ms=3228377.458  FLOPs=3.355e+07  GFLOPs=0.000</a:t>
            </a:r>
            <a:endParaRPr lang="en-US" altLang="zh-CN" sz="1400">
              <a:highlight>
                <a:srgbClr val="FFFF00"/>
              </a:highlight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10648102:[kernel_summary] sm=1 name=gemm_basic </a:t>
            </a:r>
            <a:r>
              <a:rPr lang="en-US" altLang="zh-CN" sz="1400">
                <a:highlight>
                  <a:srgbClr val="FFFF00"/>
                </a:highlight>
                <a:latin typeface="Noto Serif CJK SC Light" panose="02020300000000000000" charset="-122"/>
                <a:ea typeface="Noto Serif CJK SC Light" panose="02020300000000000000" charset="-122"/>
              </a:rPr>
              <a:t>start_cycle=1 end_cycle=273273657 total_cycles=273273656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  <a:p>
            <a:r>
              <a:rPr lang="en-US" altLang="zh-CN" sz="1400">
                <a:latin typeface="Noto Serif CJK SC Light" panose="02020300000000000000" charset="-122"/>
                <a:ea typeface="Noto Serif CJK SC Light" panose="02020300000000000000" charset="-122"/>
              </a:rPr>
              <a:t>10648103:[kernel_summary] name=gemm_basic start_cycle=1 end_cycle=273273657 total_cycles=273273656</a:t>
            </a:r>
            <a:endParaRPr lang="en-US" altLang="zh-CN" sz="1400">
              <a:latin typeface="Noto Serif CJK SC Light" panose="02020300000000000000" charset="-122"/>
              <a:ea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发现光明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10"/>
                </p:custDataLst>
              </p:nvPr>
            </p:nvGraphicFramePr>
            <p:xfrm>
              <a:off x="85090" y="1295400"/>
              <a:ext cx="12085320" cy="3746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4285"/>
                    <a:gridCol w="1122680"/>
                    <a:gridCol w="1597660"/>
                    <a:gridCol w="1750695"/>
                    <a:gridCol w="1972310"/>
                    <a:gridCol w="2252980"/>
                    <a:gridCol w="2124710"/>
                  </a:tblGrid>
                  <a:tr h="4546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B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ackend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  <a:sym typeface="+mn-ea"/>
                            </a:rPr>
                            <a:t>FLOPs(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>
                                  <a:latin typeface="Cambria Math" panose="02040503050406030204" charset="0"/>
                                  <a:ea typeface="Noto Serif CJK SC Black" panose="02020900000000000000" charset="-122"/>
                                  <a:cs typeface="Cambria Math" panose="02040503050406030204" charset="0"/>
                                  <a:sym typeface="+mn-ea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charset="0"/>
                                      <a:ea typeface="Noto Serif CJK SC Black" panose="02020900000000000000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charset="0"/>
                                      <a:ea typeface="Noto Serif CJK SC Black" panose="02020900000000000000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𝑵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charset="0"/>
                                      <a:ea typeface="Noto Serif CJK SC Black" panose="02020900000000000000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800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  <a:sym typeface="+mn-ea"/>
                            </a:rPr>
                            <a:t>)</a:t>
                          </a:r>
                          <a:endParaRPr lang="en-US" altLang="zh-CN" sz="1800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  <a:sym typeface="+mn-ea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FLOP/Byte</a:t>
                          </a:r>
                          <a:endParaRPr lang="zh-CN" altLang="en-US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total_cycles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sym typeface="+mn-ea"/>
                            </a:rPr>
                            <a:t>FLOPs_per_cycle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sym typeface="+mn-ea"/>
                            </a:rPr>
                            <a:t>cycles_per_FLOP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64103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0.1277943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7.825073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1653650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0.03963112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highlight>
                                <a:srgbClr val="FFFF00"/>
                              </a:highlight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25.23270</a:t>
                          </a:r>
                          <a:endParaRPr lang="en-US" altLang="zh-CN">
                            <a:highlight>
                              <a:srgbClr val="FFFF00"/>
                            </a:highlight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2258753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0.2321139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4.308229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530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19492343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0.2151770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4.647337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273273656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0.1227869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8.1441896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11"/>
                </p:custDataLst>
              </p:nvPr>
            </p:nvGraphicFramePr>
            <p:xfrm>
              <a:off x="85090" y="1295400"/>
              <a:ext cx="12085320" cy="3746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64285"/>
                    <a:gridCol w="1122680"/>
                    <a:gridCol w="1597660"/>
                    <a:gridCol w="1750695"/>
                    <a:gridCol w="1972310"/>
                    <a:gridCol w="2252980"/>
                    <a:gridCol w="2124710"/>
                  </a:tblGrid>
                  <a:tr h="4546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B</a:t>
                          </a: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</a:rPr>
                            <a:t>ackend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M,N,K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0"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FLOP/Byte</a:t>
                          </a:r>
                          <a:endParaRPr lang="zh-CN" altLang="en-US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Black" panose="02020900000000000000" charset="-122"/>
                              <a:ea typeface="Noto Serif CJK SC Black" panose="02020900000000000000" charset="-122"/>
                              <a:cs typeface="Noto Serif CJK SC Black" panose="02020900000000000000" charset="-122"/>
                            </a:rPr>
                            <a:t>total_cycles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sym typeface="+mn-ea"/>
                            </a:rPr>
                            <a:t>FLOPs_per_cycle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sym typeface="+mn-ea"/>
                            </a:rPr>
                            <a:t>cycles_per_FLOP</a:t>
                          </a:r>
                          <a:endParaRPr lang="en-US" altLang="zh-CN">
                            <a:latin typeface="Noto Serif CJK SC Black" panose="02020900000000000000" charset="-122"/>
                            <a:ea typeface="Noto Serif CJK SC Black" panose="02020900000000000000" charset="-122"/>
                            <a:cs typeface="Noto Serif CJK SC Black" panose="020209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8192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64103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0.1277943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7.825073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65536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1653650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0.03963112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highlight>
                                <a:srgbClr val="FFFF00"/>
                              </a:highlight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25.23270</a:t>
                          </a:r>
                          <a:endParaRPr lang="en-US" altLang="zh-CN">
                            <a:highlight>
                              <a:srgbClr val="FFFF00"/>
                            </a:highlight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524288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2258753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0.2321139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4.308229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530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128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4194304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19492343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0.2151770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4.647337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33554432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273273656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0.1227869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8.1441896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512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85.33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1024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170.67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2048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341.33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  <a:tr h="36576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800">
                              <a:latin typeface="Noto Serif CJK SC Light" panose="02020300000000000000" charset="-122"/>
                              <a:ea typeface="Noto Serif CJK SC Light" panose="02020300000000000000" charset="-122"/>
                              <a:sym typeface="+mn-ea"/>
                            </a:rPr>
                            <a:t>cyclesim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4096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>
                              <a:latin typeface="Noto Serif CJK SC Light" panose="02020300000000000000" charset="-122"/>
                              <a:ea typeface="Noto Serif CJK SC Light" panose="02020300000000000000" charset="-122"/>
                            </a:rPr>
                            <a:t>682.67</a:t>
                          </a: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endParaRPr lang="en-US" altLang="zh-CN">
                            <a:latin typeface="Noto Serif CJK SC Light" panose="02020300000000000000" charset="-122"/>
                            <a:ea typeface="Noto Serif CJK SC Light" panose="02020300000000000000" charset="-122"/>
                          </a:endParaRPr>
                        </a:p>
                      </a:txBody>
                      <a:tcPr anchor="ctr" anchorCtr="0"/>
                    </a:tc>
                  </a:tr>
                </a:tbl>
              </a:graphicData>
            </a:graphic>
          </p:graphicFrame>
        </mc:Fallback>
      </mc:AlternateContent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11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17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TABLE_ENDDRAG_ORIGIN_RECT" val="417*302"/>
  <p:tag name="TABLE_ENDDRAG_RECT" val="144*120*417*302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TABLE_ENDDRAG_ORIGIN_RECT" val="918*200"/>
  <p:tag name="TABLE_ENDDRAG_RECT" val="26*87*918*200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TABLE_ENDDRAG_ORIGIN_RECT" val="951*92"/>
  <p:tag name="TABLE_ENDDRAG_RECT" val="6*102*951*92"/>
</p:tagLst>
</file>

<file path=ppt/tags/tag185.xml><?xml version="1.0" encoding="utf-8"?>
<p:tagLst xmlns:p="http://schemas.openxmlformats.org/presentationml/2006/main">
  <p:tag name="TABLE_ENDDRAG_ORIGIN_RECT" val="951*92"/>
  <p:tag name="TABLE_ENDDRAG_RECT" val="6*102*951*92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4864</Words>
  <Application>WPS 演示</Application>
  <PresentationFormat>宽屏</PresentationFormat>
  <Paragraphs>364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Cambria Math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456</cp:revision>
  <dcterms:created xsi:type="dcterms:W3CDTF">2019-06-19T02:08:00Z</dcterms:created>
  <dcterms:modified xsi:type="dcterms:W3CDTF">2026-01-15T16:47:24Z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